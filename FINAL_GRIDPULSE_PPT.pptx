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Supporting detail</a:t>
            </a:r>
          </a:p>
          <a:p>
            <a:r>
              <a:t>Physics-Informed Condition Monitoring and Evidence-Driven Maintenance Decision Support</a:t>
            </a:r>
          </a:p>
          <a:p>
            <a:r>
              <a:t>Track 2: Digital Twin for Intelligent Health Monitoring and Predictive Maintenance of Distribution Transformers</a:t>
            </a:r>
          </a:p>
          <a:p>
            <a:r>
              <a:t>A distribution transformer steps medium voltage (11 kV in the studied assets) down to the</a:t>
            </a:r>
          </a:p>
          <a:p>
            <a:r>
              <a:t>433 V / 250 V supply consumers use.</a:t>
            </a:r>
          </a:p>
          <a:p>
            <a:r>
              <a:t>WHY OPERATING CONTEXT MATTERS</a:t>
            </a:r>
          </a:p>
          <a:p>
            <a:r>
              <a:t>• Load: resistive loss grows with current squared, so heating rises faster than load.</a:t>
            </a:r>
          </a:p>
          <a:p>
            <a:r>
              <a:t>• Temperature: oil temperature lags load by hours; fitted time constants are about 2–3 h in</a:t>
            </a:r>
          </a:p>
          <a:p>
            <a:r>
              <a:t>our synthetic benchmarks; loading guides model insulation ageing as</a:t>
            </a:r>
          </a:p>
          <a:p>
            <a:r>
              <a:t>temperature-dependent [R1][R2].</a:t>
            </a:r>
          </a:p>
          <a:p>
            <a:r>
              <a:t>• Electrical imbalance: unequal phase currents and neutral current heat the unit unevenly.</a:t>
            </a:r>
          </a:p>
          <a:p>
            <a:r>
              <a:t>• History: today's temperature depends on recent loading.</a:t>
            </a:r>
          </a:p>
          <a:p>
            <a:r>
              <a:t>The challenge: isolated readings and periodic inspections cannot show whether a reading is</a:t>
            </a:r>
          </a:p>
          <a:p>
            <a:r>
              <a:t>normal for the present load and recent history. Fixed-interval maintenance can lead to</a:t>
            </a:r>
          </a:p>
          <a:p>
            <a:r>
              <a:t>unexpected transformer failures, increased maintenance costs, power interruptions and</a:t>
            </a:r>
          </a:p>
          <a:p>
            <a:r>
              <a:t>reduced asset life [R23].</a:t>
            </a:r>
          </a:p>
          <a:p>
            <a:r>
              <a:t>Scale: condition monitoring must work across many assets in India's expanding distribution</a:t>
            </a:r>
          </a:p>
          <a:p>
            <a:r>
              <a:t>network.</a:t>
            </a:r>
          </a:p>
          <a:p>
            <a:r>
              <a:t>[INSERT REAL DISTRIBUTION TRANSFORMER PHOTOGRAPH]</a:t>
            </a:r>
          </a:p>
          <a:p>
            <a:r>
              <a:t>[INSERT OFFICIALLY SOURCED INDIA</a:t>
            </a:r>
          </a:p>
          <a:p>
            <a:r>
              <a:t>DISTRIBUTION-INFRASTRUCTURE GROWTH GRAPH WITH UNITS,</a:t>
            </a:r>
          </a:p>
          <a:p>
            <a:r>
              <a:t>YEARS AND CITATION]</a:t>
            </a:r>
          </a:p>
          <a:p>
            <a:r>
              <a:t>[INSERT VERIFIED GLOBAL AND INDIA FAILURE STATISTICS — ONLY</a:t>
            </a:r>
          </a:p>
          <a:p>
            <a:r>
              <a:t>IF ORIGINAL SOURCES AND DEFINITIONS ARE VERIFIED]</a:t>
            </a:r>
          </a:p>
          <a:p>
            <a:r>
              <a:t>The challenge is not merely to collect transformer data; it is to interpret it in the context of electrical and thermal</a:t>
            </a:r>
          </a:p>
          <a:p>
            <a:r>
              <a:t>behaviour.</a:t>
            </a:r>
          </a:p>
          <a:p>
            <a:r>
              <a:t>[TEAM NAME] · [MEMBER 1] ... [MEMBER N] · Manipal Institute of Technology, Bengaluru · POWERNext-AI 2026 · Citations: [R1][R2][R23]</a:t>
            </a:r>
          </a:p>
          <a:p>
            <a:r>
              <a:t>10–11 Oct 2026 · 24-hour hackathon by CPRI (R&amp;D Management Dept, Bengaluru)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Plain language: a raw top-oil reading means little without the load and the recent history behind it. GridPulse keeps a chronological state for each asset, validates every input, derives electrical features, compares behaviour with engineering checks and, only for qualified models, with expected thermal behaviour. Persistent evidence is then turned into a maintenance advisory with a priority and an action window. / Assumptions: the prototype replays datasets through the same canonical path that REST ingestion uses; it is not a live sensor deployment. Thresholds and action windows are configured defaults awaiting utility approval. / Limitation: the official statement lists fault prediction and remaining useful life as typical analytics modules. We deliberately offer neither as a number, because no supplied dataset has degradation history or dissolved-gas data. We give a conditional 2-hour projection for promoted models, observed thermal exposure and evidence-linked advisories instead. / Likely judge question: Why no remaining useful life? Answer: no supplied dataset has longitudinal degradation or dissolved-gas data, so any RUL number would be unsupported.</a:t>
            </a:r>
          </a:p>
          <a:p>
            <a:endParaRPr/>
          </a:p>
          <a:p>
            <a:r>
              <a:t>Supporting detail</a:t>
            </a:r>
          </a:p>
          <a:p>
            <a:r>
              <a:t>Official problem statement: “Digital Twin of a Distribution Transformer for Condition Monitoring and Predictive Maintenance” [R23]</a:t>
            </a:r>
          </a:p>
          <a:p>
            <a:r>
              <a:t>1 Raw measurements alone cannot say</a:t>
            </a:r>
          </a:p>
          <a:p>
            <a:r>
              <a:t>whether the transformer behaves as</a:t>
            </a:r>
          </a:p>
          <a:p>
            <a:r>
              <a:t>expected.</a:t>
            </a:r>
          </a:p>
          <a:p>
            <a:r>
              <a:t>2 The twin keeps a chronological, stateful</a:t>
            </a:r>
          </a:p>
          <a:p>
            <a:r>
              <a:t>picture of operating condition.</a:t>
            </a:r>
          </a:p>
          <a:p>
            <a:r>
              <a:t>3 Inputs are validated for timestamps,</a:t>
            </a:r>
          </a:p>
          <a:p>
            <a:r>
              <a:t>units, quality and provenance.</a:t>
            </a:r>
          </a:p>
          <a:p>
            <a:r>
              <a:t>4 Electrical features are derived.</a:t>
            </a:r>
          </a:p>
          <a:p>
            <a:r>
              <a:t>5 Behaviour is compared with engineering</a:t>
            </a:r>
          </a:p>
          <a:p>
            <a:r>
              <a:t>checks and, where qualified, with expected</a:t>
            </a:r>
          </a:p>
          <a:p>
            <a:r>
              <a:t>thermal behaviour.</a:t>
            </a:r>
          </a:p>
          <a:p>
            <a:r>
              <a:t>6 Persistent abnormal evidence is tracked.</a:t>
            </a:r>
          </a:p>
          <a:p>
            <a:r>
              <a:t>7 A gated OTHI and a deterministic</a:t>
            </a:r>
          </a:p>
          <a:p>
            <a:r>
              <a:t>maintenance policy turn evidence into</a:t>
            </a:r>
          </a:p>
          <a:p>
            <a:r>
              <a:t>traceable advice.</a:t>
            </a:r>
          </a:p>
          <a:p>
            <a:r>
              <a:t>8 The dashboard and reports keep</a:t>
            </a:r>
          </a:p>
          <a:p>
            <a:r>
              <a:t>measurements, derived features, model</a:t>
            </a:r>
          </a:p>
          <a:p>
            <a:r>
              <a:t>estimates and recommendations visibly</a:t>
            </a:r>
          </a:p>
          <a:p>
            <a:r>
              <a:t>distinct.</a:t>
            </a:r>
          </a:p>
          <a:p>
            <a:r>
              <a:t>[INSERT ACTUAL MAIN DASHBOARD</a:t>
            </a:r>
          </a:p>
          <a:p>
            <a:r>
              <a:t>SCREENSHOT]</a:t>
            </a:r>
          </a:p>
          <a:p>
            <a:r>
              <a:t>1 Simulate behaviour from operational data — ● IMPLEMENTED · VERIFIED</a:t>
            </a:r>
          </a:p>
          <a:p>
            <a:r>
              <a:t>— Fitted grey-box thermal model; what-if only for PROMOTED models (C3)</a:t>
            </a:r>
          </a:p>
          <a:p>
            <a:r>
              <a:t>2 Monitor electrical and thermal parameters — ● IMPLEMENTED · VERIFIED</a:t>
            </a:r>
          </a:p>
          <a:p>
            <a:r>
              <a:t>— Phase V and I, neutral I, P, Q, PF, frequency, top-oil, ambient, load index</a:t>
            </a:r>
          </a:p>
          <a:p>
            <a:r>
              <a:t>3 Estimate health conditions — ● IMPLEMENTED · VERIFIED — OTHI_V2:</a:t>
            </a:r>
          </a:p>
          <a:p>
            <a:r>
              <a:t>five domains with evidence grade A/B/C/U (operational index)</a:t>
            </a:r>
          </a:p>
          <a:p>
            <a:r>
              <a:t>4 Detect abnormal operating conditions — ● IMPLEMENTED · VERIFIED —</a:t>
            </a:r>
          </a:p>
          <a:p>
            <a:r>
              <a:t>Deterministic detectors; episodes for electrical, power-quality, protection</a:t>
            </a:r>
          </a:p>
          <a:p>
            <a:r>
              <a:t>5 Statistical drift and leak trends — ● GATED · DESCRIPTIVE ONLY — Thermal</a:t>
            </a:r>
          </a:p>
          <a:p>
            <a:r>
              <a:t>CUSUM drift and oil-leak trend: visible evidence, zero weight in OTHI</a:t>
            </a:r>
          </a:p>
          <a:p>
            <a:r>
              <a:t>6 Predictive maintenance recommendations — ● IMPLEMENTED · VERIFIED</a:t>
            </a:r>
          </a:p>
          <a:p>
            <a:r>
              <a:t>— Versioned advisories P0–P4 with action windows; no numeric RUL</a:t>
            </a:r>
          </a:p>
          <a:p>
            <a:r>
              <a:t>7 Interactive dashboard and reports — ● IMPLEMENTED — screenshots to be supplied —</a:t>
            </a:r>
          </a:p>
          <a:p>
            <a:r>
              <a:t>React dashboard; JSON, CSV, PDF exports returned HTTP 200 on the running build</a:t>
            </a:r>
          </a:p>
          <a:p>
            <a:r>
              <a:t>WHAT IT IS</a:t>
            </a:r>
          </a:p>
          <a:p>
            <a:r>
              <a:t>A stateful, chronological replay of datasets through the same canonical path</a:t>
            </a:r>
          </a:p>
          <a:p>
            <a:r>
              <a:t>that REST ingestion uses; not a live sensor deployment.</a:t>
            </a:r>
          </a:p>
          <a:p>
            <a:r>
              <a:t>WHAT IT DOES NOT DO</a:t>
            </a:r>
          </a:p>
          <a:p>
            <a:r>
              <a:t>Numeric RUL or failure probability; autonomous control or relay replacement; claims</a:t>
            </a:r>
          </a:p>
          <a:p>
            <a:r>
              <a:t>of field validation. No supplied dataset has degradation history or dissolved-gas data.</a:t>
            </a:r>
          </a:p>
          <a:p>
            <a:r>
              <a:t>[R8][R15][R23]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Plain language: telemetry enters through source adapters into one canonical contract with UCUM units, UTC time and a quality flag modelled on OPC UA status semantics. Electrical quantities are derived, then a chronological TwinState with a state hash is updated; late events never rewind it. The grey-box thermal model feeds residuals and detectors, OTHI_V2 aggregates the evidence, and a deterministic, versioned policy produces advisories. One FactBundle feeds both the dashboard and the reports, so the screens and the PDF cannot disagree. / Assumptions: thresholds, detector severities and action windows are configured engineering defaults, not standards limits. / Limitation: only the CSV and canonical REST paths are implemented; MQTT, OPC UA and Modbus are planned. / Four rules to say aloud: missing data never silently becomes a healthy value; an unqualified model cannot produce an authoritative prediction; gated detectors cannot change the health score; a verified trip overrides everything. / Likely judge question: How is OTHI built and where do its numbers come from? Answer: max-plus-compounding of five domain severities; the severities, thresholds and the 0.25 coefficient are configured product-policy defaults that need equipment-specific limits.</a:t>
            </a:r>
          </a:p>
          <a:p>
            <a:endParaRPr/>
          </a:p>
          <a:p>
            <a:r>
              <a:t>Supporting detail</a:t>
            </a:r>
          </a:p>
          <a:p>
            <a:r>
              <a:t>1 Raw telemetry — CSV</a:t>
            </a:r>
          </a:p>
          <a:p>
            <a:r>
              <a:t>exports; canonical REST</a:t>
            </a:r>
          </a:p>
          <a:p>
            <a:r>
              <a:t>ingestion — ●</a:t>
            </a:r>
          </a:p>
          <a:p>
            <a:r>
              <a:t>IMPLEMENTED ·</a:t>
            </a:r>
          </a:p>
          <a:p>
            <a:r>
              <a:t>MEASURED</a:t>
            </a:r>
          </a:p>
          <a:p>
            <a:r>
              <a:t>→</a:t>
            </a:r>
          </a:p>
          <a:p>
            <a:r>
              <a:t>2 Source adapter —</a:t>
            </a:r>
          </a:p>
          <a:p>
            <a:r>
              <a:t>Tripura CSV,</a:t>
            </a:r>
          </a:p>
          <a:p>
            <a:r>
              <a:t>CPRI-schema, GridPulse</a:t>
            </a:r>
          </a:p>
          <a:p>
            <a:r>
              <a:t>synthetic — ●</a:t>
            </a:r>
          </a:p>
          <a:p>
            <a:r>
              <a:t>IMPLEMENTED · VERIFIED</a:t>
            </a:r>
          </a:p>
          <a:p>
            <a:r>
              <a:t>→</a:t>
            </a:r>
          </a:p>
          <a:p>
            <a:r>
              <a:t>3 Canonical data and quality</a:t>
            </a:r>
          </a:p>
          <a:p>
            <a:r>
              <a:t>— UCUM units [R21]; UTC</a:t>
            </a:r>
          </a:p>
          <a:p>
            <a:r>
              <a:t>time; phase mapping; GOOD</a:t>
            </a:r>
          </a:p>
          <a:p>
            <a:r>
              <a:t>/ UNCERTAIN / BAD quality</a:t>
            </a:r>
          </a:p>
          <a:p>
            <a:r>
              <a:t>modelled on OPC UA status</a:t>
            </a:r>
          </a:p>
          <a:p>
            <a:r>
              <a:t>[R18]; duplicate and gap</a:t>
            </a:r>
          </a:p>
          <a:p>
            <a:r>
              <a:t>handling — ● IMPLEMENTED</a:t>
            </a:r>
          </a:p>
          <a:p>
            <a:r>
              <a:t>· VERIFIED</a:t>
            </a:r>
          </a:p>
          <a:p>
            <a:r>
              <a:t>→</a:t>
            </a:r>
          </a:p>
          <a:p>
            <a:r>
              <a:t>4 Derived electrical</a:t>
            </a:r>
          </a:p>
          <a:p>
            <a:r>
              <a:t>features — S, PF, I_eq,</a:t>
            </a:r>
          </a:p>
          <a:p>
            <a:r>
              <a:t>unbalance, neutral ratio,</a:t>
            </a:r>
          </a:p>
          <a:p>
            <a:r>
              <a:t>relative load u — ●</a:t>
            </a:r>
          </a:p>
          <a:p>
            <a:r>
              <a:t>IMPLEMENTED · DERIVED</a:t>
            </a:r>
          </a:p>
          <a:p>
            <a:r>
              <a:t>→</a:t>
            </a:r>
          </a:p>
          <a:p>
            <a:r>
              <a:t>5 Chronological TwinState</a:t>
            </a:r>
          </a:p>
          <a:p>
            <a:r>
              <a:t>— State hash; late events</a:t>
            </a:r>
          </a:p>
          <a:p>
            <a:r>
              <a:t>never rewind the state —</a:t>
            </a:r>
          </a:p>
          <a:p>
            <a:r>
              <a:t>● IMPLEMENTED ·</a:t>
            </a:r>
          </a:p>
          <a:p>
            <a:r>
              <a:t>VERIFIED</a:t>
            </a:r>
          </a:p>
          <a:p>
            <a:r>
              <a:t>→</a:t>
            </a:r>
          </a:p>
          <a:p>
            <a:r>
              <a:t>6 Grey-box thermal</a:t>
            </a:r>
          </a:p>
          <a:p>
            <a:r>
              <a:t>model — Documented</a:t>
            </a:r>
          </a:p>
          <a:p>
            <a:r>
              <a:t>fallback; predictive use</a:t>
            </a:r>
          </a:p>
          <a:p>
            <a:r>
              <a:t>only when PROMOTED</a:t>
            </a:r>
          </a:p>
          <a:p>
            <a:r>
              <a:t>(est.) — ● IMPLEMENTED</a:t>
            </a:r>
          </a:p>
          <a:p>
            <a:r>
              <a:t>· MODEL est.</a:t>
            </a:r>
          </a:p>
          <a:p>
            <a:r>
              <a:t>7 Residuals and anomaly</a:t>
            </a:r>
          </a:p>
          <a:p>
            <a:r>
              <a:t>evidence — Deterministic</a:t>
            </a:r>
          </a:p>
          <a:p>
            <a:r>
              <a:t>detectors; the CUSUM and</a:t>
            </a:r>
          </a:p>
          <a:p>
            <a:r>
              <a:t>oil-trend branches carry no</a:t>
            </a:r>
          </a:p>
          <a:p>
            <a:r>
              <a:t>score weight — ●</a:t>
            </a:r>
          </a:p>
          <a:p>
            <a:r>
              <a:t>IMPLEMENTED · VERIFIED</a:t>
            </a:r>
          </a:p>
          <a:p>
            <a:r>
              <a:t>and ● GATED ·</a:t>
            </a:r>
          </a:p>
          <a:p>
            <a:r>
              <a:t>DESCRIPTIVE ONLY</a:t>
            </a:r>
          </a:p>
          <a:p>
            <a:r>
              <a:t>→</a:t>
            </a:r>
          </a:p>
          <a:p>
            <a:r>
              <a:t>8 OTHI_V2 — Five</a:t>
            </a:r>
          </a:p>
          <a:p>
            <a:r>
              <a:t>domains, freshness</a:t>
            </a:r>
          </a:p>
          <a:p>
            <a:r>
              <a:t>gates, anti-uplift,</a:t>
            </a:r>
          </a:p>
          <a:p>
            <a:r>
              <a:t>protection override — ●</a:t>
            </a:r>
          </a:p>
          <a:p>
            <a:r>
              <a:t>IMPLEMENTED · VERIFIED</a:t>
            </a:r>
          </a:p>
          <a:p>
            <a:r>
              <a:t>→</a:t>
            </a:r>
          </a:p>
          <a:p>
            <a:r>
              <a:t>9 Deterministic</a:t>
            </a:r>
          </a:p>
          <a:p>
            <a:r>
              <a:t>maintenance policy —</a:t>
            </a:r>
          </a:p>
          <a:p>
            <a:r>
              <a:t>Versioned rules P0–P4</a:t>
            </a:r>
          </a:p>
          <a:p>
            <a:r>
              <a:t>with action windows — ●</a:t>
            </a:r>
          </a:p>
          <a:p>
            <a:r>
              <a:t>IMPLEMENTED ·</a:t>
            </a:r>
          </a:p>
          <a:p>
            <a:r>
              <a:t>ADVISORY</a:t>
            </a:r>
          </a:p>
          <a:p>
            <a:r>
              <a:t>→</a:t>
            </a:r>
          </a:p>
          <a:p>
            <a:r>
              <a:t>10 Authoritative</a:t>
            </a:r>
          </a:p>
          <a:p>
            <a:r>
              <a:t>FactBundle — One</a:t>
            </a:r>
          </a:p>
          <a:p>
            <a:r>
              <a:t>structured source for</a:t>
            </a:r>
          </a:p>
          <a:p>
            <a:r>
              <a:t>both the UI and the</a:t>
            </a:r>
          </a:p>
          <a:p>
            <a:r>
              <a:t>reports — ●</a:t>
            </a:r>
          </a:p>
          <a:p>
            <a:r>
              <a:t>IMPLEMENTED · VERIFIED</a:t>
            </a:r>
          </a:p>
          <a:p>
            <a:r>
              <a:t>→</a:t>
            </a:r>
          </a:p>
          <a:p>
            <a:r>
              <a:t>11 Dashboard and</a:t>
            </a:r>
          </a:p>
          <a:p>
            <a:r>
              <a:t>reports — React</a:t>
            </a:r>
          </a:p>
          <a:p>
            <a:r>
              <a:t>dashboard; JSON, CSV,</a:t>
            </a:r>
          </a:p>
          <a:p>
            <a:r>
              <a:t>PDF exports — ●</a:t>
            </a:r>
          </a:p>
          <a:p>
            <a:r>
              <a:t>IMPLEMENTED</a:t>
            </a:r>
          </a:p>
          <a:p>
            <a:r>
              <a:t>Data classes: MEASURED ·</a:t>
            </a:r>
          </a:p>
          <a:p>
            <a:r>
              <a:t>DERIVED · MODEL ESTIMATE</a:t>
            </a:r>
          </a:p>
          <a:p>
            <a:r>
              <a:t>(cyan fill, est.) · ADVISORY</a:t>
            </a:r>
          </a:p>
          <a:p>
            <a:r>
              <a:t>Provenance and configuration — Source</a:t>
            </a:r>
          </a:p>
          <a:p>
            <a:r>
              <a:t>hash, mapping version, model version, state</a:t>
            </a:r>
          </a:p>
          <a:p>
            <a:r>
              <a:t>hash</a:t>
            </a:r>
          </a:p>
          <a:p>
            <a:r>
              <a:t>Capability gating C0–C4 — Integrity,</a:t>
            </a:r>
          </a:p>
          <a:p>
            <a:r>
              <a:t>electrical, thermal descriptive, predictive,</a:t>
            </a:r>
          </a:p>
          <a:p>
            <a:r>
              <a:t>exposure</a:t>
            </a:r>
          </a:p>
          <a:p>
            <a:r>
              <a:t>Protection precedence — A verified</a:t>
            </a:r>
          </a:p>
          <a:p>
            <a:r>
              <a:t>direct trip outranks all other evidence</a:t>
            </a:r>
          </a:p>
          <a:p>
            <a:r>
              <a:t>Append-only operator ledger — Actor,</a:t>
            </a:r>
          </a:p>
          <a:p>
            <a:r>
              <a:t>reason and event time; evidence is never</a:t>
            </a:r>
          </a:p>
          <a:p>
            <a:r>
              <a:t>rewritten</a:t>
            </a:r>
          </a:p>
          <a:p>
            <a:r>
              <a:t>• Normalise units, timestamps, phases and quality; derive S, PF, I_eq and imbalance only when</a:t>
            </a:r>
          </a:p>
          <a:p>
            <a:r>
              <a:t>compatible signals exist.</a:t>
            </a:r>
          </a:p>
          <a:p>
            <a:r>
              <a:t>• Process data deterministically and chronologically.</a:t>
            </a:r>
          </a:p>
          <a:p>
            <a:r>
              <a:t>• Use the thermal model predictively only when its evidence and calibration gates pass.</a:t>
            </a:r>
          </a:p>
          <a:p>
            <a:r>
              <a:t>• Apply residual analysis and CUSUM only where configured and qualified.</a:t>
            </a:r>
          </a:p>
          <a:p>
            <a:r>
              <a:t>• Issue versioned, auditable recommendations.</a:t>
            </a:r>
          </a:p>
          <a:p>
            <a:r>
              <a:t>• Missing data never silently becomes a healthy value.</a:t>
            </a:r>
          </a:p>
          <a:p>
            <a:r>
              <a:t>• An unqualified model cannot produce an authoritative</a:t>
            </a:r>
          </a:p>
          <a:p>
            <a:r>
              <a:t>prediction.</a:t>
            </a:r>
          </a:p>
          <a:p>
            <a:r>
              <a:t>• Gated detectors cannot change the health score.</a:t>
            </a:r>
          </a:p>
          <a:p>
            <a:r>
              <a:t>• A verified trip overrides everything.</a:t>
            </a:r>
          </a:p>
          <a:p>
            <a:r>
              <a:t>[R7][R10][R18][R21]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Plain language: this slide shows the four ideas that make the twin physical rather than a dashboard of thresholds. / Derivation of the thermal update. (1) At steady load the top-oil rise over ambient settles at beta0 + beta1 u squared; the u squared appears because resistive loss scales with current squared. (2) The oil responds as a first-order lag: d theta_o / dt = (1/tau)(beta0 + beta1 u^2 - theta_o). (3) Over a step of length dt with constant ambient and load the exact solution is theta_o(t+dt) = theta* + (theta_o(t) - theta*) exp(-dt/tau). (4) With alpha = 1 - exp(-dt/tau) this becomes T_new = T_old + alpha (theta* - T_old), which handles irregular sampling because dt only enters through alpha. (5) The residual is observed minus expected. / Huber loss is quadratic for small residuals and linear for large ones, so a stuck or spiking sensor cannot drag the fit; delta = 1.345 sigma with a 0.5 C floor for sensor resolution. Bias matters because a positive bias means the model runs cooler than the transformer. / Assumptions: first-order lag; ambient and load held at the forecast origin during evaluation; OTHI severities and the 0.25 coefficient are configured defaults. / Limitation: this is not the IEC equation; the IEC structure is shown for context only. / Likely judge question: why a first-order model rather than the full IEC or a hot-spot model? Answer: it is identifiable from top-oil, load and ambient only; hot-spot and ageing need winding temperature and a verified insulation class, so C4 is gated.</a:t>
            </a:r>
          </a:p>
          <a:p>
            <a:endParaRPr/>
          </a:p>
          <a:p>
            <a:r>
              <a:t>Supporting detail</a:t>
            </a:r>
          </a:p>
          <a:p>
            <a:r>
              <a:t>4A Electrical derivations — ● IMPLEMENTED · DERIVED</a:t>
            </a:r>
          </a:p>
          <a:p>
            <a:r>
              <a:t>S = √(P² + Q²) [kVA] PF = P / S</a:t>
            </a:r>
          </a:p>
          <a:p>
            <a:r>
              <a:t>|Q| = √(max(0, S² − P²)) when only P and S exist</a:t>
            </a:r>
          </a:p>
          <a:p>
            <a:r>
              <a:t>I_eq = √((I_L1² + I_L2² + I_L3²) / 3) [A]</a:t>
            </a:r>
          </a:p>
          <a:p>
            <a:r>
              <a:t>Unbalance % = 100 · max_k |X_k − X̄| / X̄</a:t>
            </a:r>
          </a:p>
          <a:p>
            <a:r>
              <a:t>Neutral ratio = |I_N| / max(I_eq, 0.1 A)</a:t>
            </a:r>
          </a:p>
          <a:p>
            <a:r>
              <a:t>u = S / S_base (relative load index)</a:t>
            </a:r>
          </a:p>
          <a:p>
            <a:r>
              <a:t>P kW, Q kvar, S kVA, I A, V V. |Q| is a magnitude only; the sign is never fabricated. I_eq</a:t>
            </a:r>
          </a:p>
          <a:p>
            <a:r>
              <a:t>is a load proxy, not a rating or a percentage of nameplate. X = the three phase</a:t>
            </a:r>
          </a:p>
          <a:p>
            <a:r>
              <a:t>currents or voltages, X̄ their mean (NEMA-style; 0.1 A floor). S_base = rated kVA when</a:t>
            </a:r>
          </a:p>
          <a:p>
            <a:r>
              <a:t>the profile is verified. Reference: P = √3 · V_L · I_L · PF for a balanced, sinusoidal load.</a:t>
            </a:r>
          </a:p>
          <a:p>
            <a:r>
              <a:t>P–Q–S inconsistency ≥ 0.10 is data-quality evidence, not a fault.</a:t>
            </a:r>
          </a:p>
          <a:p>
            <a:r>
              <a:t>4B First-order grey-box thermal model — ● IMPLEMENTED · MODEL ESTIMATE (est.)</a:t>
            </a:r>
          </a:p>
          <a:p>
            <a:r>
              <a:t>θ*_k = T_a,k + β₀ + β₁ · u_k²</a:t>
            </a:r>
          </a:p>
          <a:p>
            <a:r>
              <a:t>α_k = 1 − exp(−Δt_k / τ)</a:t>
            </a:r>
          </a:p>
          <a:p>
            <a:r>
              <a:t>T̂_o,k = T̂_o,k−1 + α_k · (θ*_k − T̂_o,k−1)</a:t>
            </a:r>
          </a:p>
          <a:p>
            <a:r>
              <a:t>r_k = T_obs,k − T̂_o,k</a:t>
            </a:r>
          </a:p>
          <a:p>
            <a:r>
              <a:t>dθ_o/dt = (1/τ) · (β₀ + β₁u² − θ_o)</a:t>
            </a:r>
          </a:p>
          <a:p>
            <a:r>
              <a:t>θ_o ≡ T_o − T_a is the top-oil RISE over ambient. The code carries absolute T̂_o with T_a inside θ*; the two forms</a:t>
            </a:r>
          </a:p>
          <a:p>
            <a:r>
              <a:t>agree over a step with ambient held constant. u dimensionless relative load; τ [h]; β₀ ≥ 0 [°C] load-independent</a:t>
            </a:r>
          </a:p>
          <a:p>
            <a:r>
              <a:t>rise; β₁ ≥ 0 [°C] load-related rise at u = 1; Δt irregular (Δt = 0 leaves the state unchanged). u² because resistive</a:t>
            </a:r>
          </a:p>
          <a:p>
            <a:r>
              <a:t>loss scales with I²: a reduced-order approximation, not a multiphysics model.</a:t>
            </a:r>
          </a:p>
          <a:p>
            <a:r>
              <a:t>[INSERT REAL UI SCREENSHOT OF THERMAL EQUATION, TEMPERATURE TRAJECTORY AND CONDITIONAL</a:t>
            </a:r>
          </a:p>
          <a:p>
            <a:r>
              <a:t>PROJECTION]</a:t>
            </a:r>
          </a:p>
          <a:p>
            <a:r>
              <a:t>IEC 60076-7 structure, context only [R3][R6]: τ_o · dθ_o/dt = Δθ_or · [(1 + R·K²)/(1 + R)]^x − θ_o. Not</a:t>
            </a:r>
          </a:p>
          <a:p>
            <a:r>
              <a:t>implemented; not identical to the fitted form.</a:t>
            </a:r>
          </a:p>
          <a:p>
            <a:r>
              <a:t>4C Robust fitting and qualification — ● IMPLEMENTED · VERIFIED</a:t>
            </a:r>
          </a:p>
          <a:p>
            <a:r>
              <a:t>Huber: L_δ(r) = ½r² if |r| ≤ δ; δ(|r| − ½δ) otherwise</a:t>
            </a:r>
          </a:p>
          <a:p>
            <a:r>
              <a:t>δ = 1.345 · σ_fit; σ_fit = max(0.5 °C, 1.4826 · MAD)</a:t>
            </a:r>
          </a:p>
          <a:p>
            <a:r>
              <a:t>MAE = (1/N) Σ |y_i − ŷ_i| Bias = (1/N) Σ (y_i − ŷ_i)</a:t>
            </a:r>
          </a:p>
          <a:p>
            <a:r>
              <a:t>Bias &gt; 0: the model UNDER-predicts (transformer warmer)</a:t>
            </a:r>
          </a:p>
          <a:p>
            <a:r>
              <a:t>Baseline: persistence T̂(t+h) = T(t), 2 h open-loop rollout</a:t>
            </a:r>
          </a:p>
          <a:p>
            <a:r>
              <a:t>LOCKED PROMOTION GATES (project policy, not a standard)</a:t>
            </a:r>
          </a:p>
          <a:p>
            <a:r>
              <a:t>1 MAE ≤ 0.95 × persistence MAE, or ≥ 5%</a:t>
            </a:r>
          </a:p>
          <a:p>
            <a:r>
              <a:t>better</a:t>
            </a:r>
          </a:p>
          <a:p>
            <a:r>
              <a:t>2 |bias| ≤ |persistence bias| + 0.10 °C</a:t>
            </a:r>
          </a:p>
          <a:p>
            <a:r>
              <a:t>3 Marginal 90% band coverage from 80% to</a:t>
            </a:r>
          </a:p>
          <a:p>
            <a:r>
              <a:t>98%</a:t>
            </a:r>
          </a:p>
          <a:p>
            <a:r>
              <a:t>4 Identifiable: no parameter on its bound</a:t>
            </a:r>
          </a:p>
          <a:p>
            <a:r>
              <a:t>All four must pass for PROMOTED. MAE alone never promotes a model; a model that is not</a:t>
            </a:r>
          </a:p>
          <a:p>
            <a:r>
              <a:t>promoted stays descriptive (no 2-hour projection, no what-if). Worked result: Slide 5.</a:t>
            </a:r>
          </a:p>
          <a:p>
            <a:r>
              <a:t>4D OTHI_V2 and CUSUM</a:t>
            </a:r>
          </a:p>
          <a:p>
            <a:r>
              <a:t>● IMPLEMENTED · VERIFIED — OTHI_V2</a:t>
            </a:r>
          </a:p>
          <a:p>
            <a:r>
              <a:t>base = max_d s_d compound = 1 − Π_(d≠base) (1 − s_d)</a:t>
            </a:r>
          </a:p>
          <a:p>
            <a:r>
              <a:t>secondary = 0.25 · (1 − base) · compound</a:t>
            </a:r>
          </a:p>
          <a:p>
            <a:r>
              <a:t>OTHI = round(100 · (1 − min(1, base + secondary)))</a:t>
            </a:r>
          </a:p>
          <a:p>
            <a:r>
              <a:t>Worked example: s_thermal = 0.40, s_loading = 0.20 → base 0.40, compound 0.20, secondary 0.25 × 0.60 ×</a:t>
            </a:r>
          </a:p>
          <a:p>
            <a:r>
              <a:t>0.20 = 0.030, OTHI = 57 (one 0.40 domain alone gives 60). Invariants (500-case property test): score within</a:t>
            </a:r>
          </a:p>
          <a:p>
            <a:r>
              <a:t>0–100; raising a severity never raises the score; a latched trip gives 0; deterministic tie-breaking. An operational</a:t>
            </a:r>
          </a:p>
          <a:p>
            <a:r>
              <a:t>index: not insulation health, failure probability or RUL.</a:t>
            </a:r>
          </a:p>
          <a:p>
            <a:r>
              <a:t>● GATED · DESCRIPTIVE ONLY — CUSUM</a:t>
            </a:r>
          </a:p>
          <a:p>
            <a:r>
              <a:t>z_k = (r_k − m_cal) / max(s_cal, 0.5 °C)</a:t>
            </a:r>
          </a:p>
          <a:p>
            <a:r>
              <a:t>C⁺_k = max(0, C⁺_k−1 + z_k − k) C⁻_k = max(0, C⁻_k−1 − z_k − k)</a:t>
            </a:r>
          </a:p>
          <a:p>
            <a:r>
              <a:t>alarm when C⁺ or C⁻ ≥ h; k = 0.5, h = 4.5</a:t>
            </a:r>
          </a:p>
          <a:p>
            <a:r>
              <a:t>Why gated: residual lag-1 autocorrelation 0.95–0.97 breaks the standardised-data assumption; it alarmed on</a:t>
            </a:r>
          </a:p>
          <a:p>
            <a:r>
              <a:t>about 88–93% of normal frames, so it carries zero weight in OTHI. The code stores the lower sum as a</a:t>
            </a:r>
          </a:p>
          <a:p>
            <a:r>
              <a:t>non-positive value (mirror image).</a:t>
            </a:r>
          </a:p>
          <a:p>
            <a:r>
              <a:t>[R3][R4][R6] why fit per asset · [R5] model lineage · [R8][R9] index to action · [R11][R12] CUSUM · [R13][R14] intervals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Plain language: we use data to calibrate and test a physically interpretable model, not to replace physical reasoning. Parameters and the load driver are chosen on FIT, uncertainty and thresholds on CAL, then the candidate and policy are frozen and bound to their test reports by SHA-256 before TEST is evaluated once. / Results, all synthetic. TX_250_MIX: grey-box MAE 1.035 C against persistence 1.355 C, a 23.58% improvement, yet NOT PROMOTED because its signed bias of +0.260 C exceeds the bias gate. TX_1000_COMM passes all four gates. Across the eight CPRI-schema candidates, MAE beats persistence for every asset (8.6% to 59.9%) but seven fail the bias gate with +0.12 to +0.28 C; only TX_1000_COMM is promoted. On GridPulse synthetic v1, MAE is 46.6% to 61.8% below persistence; DT-01 is promoted, and DT-02, DT-03 and DT-04 miss only because their interval coverage is above 98% (98.11%, 98.49%, 98.10%). Gating stopped unqualified models from producing authoritative projections. / Assumptions: evaluation holds ambient and load at their forecast-origin values over a 2-hour open-loop rollout. / Limitation: Tripura TEST is a development set, not an untouched lockbox; none of this is field validation. / Likely judge question: why did only 1 of 8 pass? Answer: seven show a positive bias of +0.12 to +0.28 C, meaning the model runs cooler than observed; the gate exists to stop a biased model from issuing projections even though its MAE beats persistence.</a:t>
            </a:r>
          </a:p>
          <a:p>
            <a:endParaRPr/>
          </a:p>
          <a:p>
            <a:r>
              <a:t>Supporting detail</a:t>
            </a:r>
          </a:p>
          <a:p>
            <a:r>
              <a:t>We use data to calibrate and test a physically interpretable model; we do not use data as a substitute for physical reasoning.</a:t>
            </a:r>
          </a:p>
          <a:p>
            <a:r>
              <a:t>Tripura development telemetry (real): Five raw CSV exports;</a:t>
            </a:r>
          </a:p>
          <a:p>
            <a:r>
              <a:t>18,324 common timestamps, 2019-06-25 to 2020-04-14;</a:t>
            </a:r>
          </a:p>
          <a:p>
            <a:r>
              <a:t>nominal 15 min (about 81%), irregular intervals, 102</a:t>
            </a:r>
          </a:p>
          <a:p>
            <a:r>
              <a:t>segments, conflicting duplicate timestamps; top-oil quantised</a:t>
            </a:r>
          </a:p>
          <a:p>
            <a:r>
              <a:t>near 1 °C. Chronological 60/20/20 FIT/CAL/TEST with a 2 h</a:t>
            </a:r>
          </a:p>
          <a:p>
            <a:r>
              <a:t>embargo. Role: development and calibration. TEST is a</a:t>
            </a:r>
          </a:p>
          <a:p>
            <a:r>
              <a:t>development set, not an untouched lockbox.</a:t>
            </a:r>
          </a:p>
          <a:p>
            <a:r>
              <a:t>CPRI-schema synthetic benchmark v3.0.2: Its own</a:t>
            </a:r>
          </a:p>
          <a:p>
            <a:r>
              <a:t>methodology: not Tripura, CPRI, utility or field data. 8 assets</a:t>
            </a:r>
          </a:p>
          <a:p>
            <a:r>
              <a:t>(100–1000 kVA), 30 min, 280,182 rows; FIT 2024, CAL</a:t>
            </a:r>
          </a:p>
          <a:p>
            <a:r>
              <a:t>2025-01-01 to 07-02, TEST 2025-07-03 to 12-31; 12 fault</a:t>
            </a:r>
          </a:p>
          <a:p>
            <a:r>
              <a:t>classes, 360 injected events. The twin replays CAL; TEST is</a:t>
            </a:r>
          </a:p>
          <a:p>
            <a:r>
              <a:t>reserved; oracle labels are stripped.</a:t>
            </a:r>
          </a:p>
          <a:p>
            <a:r>
              <a:t>GridPulse synthetic v1: Physics generator v1.0.0: 4 assets</a:t>
            </a:r>
          </a:p>
          <a:p>
            <a:r>
              <a:t>(160–500 kVA; conservator and sealed), 11 kV / 433 V, ONAN;</a:t>
            </a:r>
          </a:p>
          <a:p>
            <a:r>
              <a:t>30 min, 2025-01-01 to 06-29; FIT days 0–107, CAL 108–143,</a:t>
            </a:r>
          </a:p>
          <a:p>
            <a:r>
              <a:t>TEST 144–179; 37 scenarios and 5 protection events;</a:t>
            </a:r>
          </a:p>
          <a:p>
            <a:r>
              <a:t>parameters labelled SOURCE_DERIVED,</a:t>
            </a:r>
          </a:p>
          <a:p>
            <a:r>
              <a:t>ENGINEERING_ASSUMPTION or SCENARIO_SETTING; labels</a:t>
            </a:r>
          </a:p>
          <a:p>
            <a:r>
              <a:t>stay offline.</a:t>
            </a:r>
          </a:p>
          <a:p>
            <a:r>
              <a:t>Backup story set (demo only): 2 assets, 500 frames each, 30</a:t>
            </a:r>
          </a:p>
          <a:p>
            <a:r>
              <a:t>min, 2025-01-01 to 01-11; DEMO_ONLY with no FIT/CAL/TEST;</a:t>
            </a:r>
          </a:p>
          <a:p>
            <a:r>
              <a:t>its own validator passes 119 of 119 checks. Isolated offline</a:t>
            </a:r>
          </a:p>
          <a:p>
            <a:r>
              <a:t>candidate that needs a small adapter.</a:t>
            </a:r>
          </a:p>
          <a:p>
            <a:r>
              <a:t>Datasets stay separate: statistics are never merged. Tripura is</a:t>
            </a:r>
          </a:p>
          <a:p>
            <a:r>
              <a:t>real development telemetry; the other three are synthetic.</a:t>
            </a:r>
          </a:p>
          <a:p>
            <a:r>
              <a:t>RESEARCH BASIS: [R3][R6] generic parameters err ·</a:t>
            </a:r>
          </a:p>
          <a:p>
            <a:r>
              <a:t>[R13][R14] conformal intervals · [R22] synthetic oil and</a:t>
            </a:r>
          </a:p>
          <a:p>
            <a:r>
              <a:t>pressure envelope</a:t>
            </a:r>
          </a:p>
          <a:p>
            <a:r>
              <a:t>1 DATA AUDIT — Inspect cadence,</a:t>
            </a:r>
          </a:p>
          <a:p>
            <a:r>
              <a:t>gaps, duplicates and units</a:t>
            </a:r>
          </a:p>
          <a:p>
            <a:r>
              <a:t>↓</a:t>
            </a:r>
          </a:p>
          <a:p>
            <a:r>
              <a:t>2 CANONICALIZATION — Adapters map</a:t>
            </a:r>
          </a:p>
          <a:p>
            <a:r>
              <a:t>each source to one canonical contract</a:t>
            </a:r>
          </a:p>
          <a:p>
            <a:r>
              <a:t>↓</a:t>
            </a:r>
          </a:p>
          <a:p>
            <a:r>
              <a:t>3 FIT — Parameters and load driver</a:t>
            </a:r>
          </a:p>
          <a:p>
            <a:r>
              <a:t>chosen on FIT only</a:t>
            </a:r>
          </a:p>
          <a:p>
            <a:r>
              <a:t>↓</a:t>
            </a:r>
          </a:p>
          <a:p>
            <a:r>
              <a:t>4 CALIBRATION — Uncertainty and</a:t>
            </a:r>
          </a:p>
          <a:p>
            <a:r>
              <a:t>thresholds calibrated on CAL</a:t>
            </a:r>
          </a:p>
          <a:p>
            <a:r>
              <a:t>↓</a:t>
            </a:r>
          </a:p>
          <a:p>
            <a:r>
              <a:t>5 FREEZE — Candidate and policy frozen;</a:t>
            </a:r>
          </a:p>
          <a:p>
            <a:r>
              <a:t>bound to test reports by SHA-256</a:t>
            </a:r>
          </a:p>
          <a:p>
            <a:r>
              <a:t>↓</a:t>
            </a:r>
          </a:p>
          <a:p>
            <a:r>
              <a:t>6 TEST — MAE, signed bias, coverage,</a:t>
            </a:r>
          </a:p>
          <a:p>
            <a:r>
              <a:t>identifiability: evaluated once</a:t>
            </a:r>
          </a:p>
          <a:p>
            <a:r>
              <a:t>↓</a:t>
            </a:r>
          </a:p>
          <a:p>
            <a:r>
              <a:t>7 PROMOTION DECISION — A failed</a:t>
            </a:r>
          </a:p>
          <a:p>
            <a:r>
              <a:t>gate keeps predictive capability off</a:t>
            </a:r>
          </a:p>
          <a:p>
            <a:r>
              <a:t>Oracle labels and fault ledgers never</a:t>
            </a:r>
          </a:p>
          <a:p>
            <a:r>
              <a:t>enter the runtime; the twin replays CAL</a:t>
            </a:r>
          </a:p>
          <a:p>
            <a:r>
              <a:t>only. Controlled scenario injection tests</a:t>
            </a:r>
          </a:p>
          <a:p>
            <a:r>
              <a:t>software behaviour, not real-world</a:t>
            </a:r>
          </a:p>
          <a:p>
            <a:r>
              <a:t>detection accuracy.</a:t>
            </a:r>
          </a:p>
          <a:p>
            <a:r>
              <a:t>TX_250_MIX · CPRI-schema synthetic · TEST partition</a:t>
            </a:r>
          </a:p>
          <a:p>
            <a:r>
              <a:t>Grey-box MAE 1.035 °C vs persistence MAE 1.355 °C</a:t>
            </a:r>
          </a:p>
          <a:p>
            <a:r>
              <a:t>Relative MAE improvement 23.58%</a:t>
            </a:r>
          </a:p>
          <a:p>
            <a:r>
              <a:t>Model signed bias +0.260 °C (persistence −0.0047 °C)</a:t>
            </a:r>
          </a:p>
          <a:p>
            <a:r>
              <a:t>NOT PROMOTED — signed-bias gate failed</a:t>
            </a:r>
          </a:p>
          <a:p>
            <a:r>
              <a:t>Report values 1.0351 vs 1.3545 °C; 2 h trajectory; coverage 96.17%</a:t>
            </a:r>
          </a:p>
          <a:p>
            <a:r>
              <a:t>TX_1000_COMM — PROMOTED (all four gates) / MAE 1.2015 vs</a:t>
            </a:r>
          </a:p>
          <a:p>
            <a:r>
              <a:t>2.9984 °C (59.93% better); signed bias +0.0974 °C</a:t>
            </a:r>
          </a:p>
          <a:p>
            <a:r>
              <a:t>TX_250_MIX: 2 h trajectory MAE by horizon (°C)</a:t>
            </a:r>
          </a:p>
          <a:p>
            <a:r>
              <a:t>Grey-box (cyan) / Persistence (grey)</a:t>
            </a:r>
          </a:p>
          <a:p>
            <a:r>
              <a:t>0</a:t>
            </a:r>
          </a:p>
          <a:p>
            <a:r>
              <a:t>1</a:t>
            </a:r>
          </a:p>
          <a:p>
            <a:r>
              <a:t>2</a:t>
            </a:r>
          </a:p>
          <a:p>
            <a:r>
              <a:t>0.5217</a:t>
            </a:r>
          </a:p>
          <a:p>
            <a:r>
              <a:t>0.6284</a:t>
            </a:r>
          </a:p>
          <a:p>
            <a:r>
              <a:t>30 min</a:t>
            </a:r>
          </a:p>
          <a:p>
            <a:r>
              <a:t>0.8249</a:t>
            </a:r>
          </a:p>
          <a:p>
            <a:r>
              <a:t>1.1085</a:t>
            </a:r>
          </a:p>
          <a:p>
            <a:r>
              <a:t>60 min</a:t>
            </a:r>
          </a:p>
          <a:p>
            <a:r>
              <a:t>1.1937</a:t>
            </a:r>
          </a:p>
          <a:p>
            <a:r>
              <a:t>1.5992</a:t>
            </a:r>
          </a:p>
          <a:p>
            <a:r>
              <a:t>90 min</a:t>
            </a:r>
          </a:p>
          <a:p>
            <a:r>
              <a:t>1.5999</a:t>
            </a:r>
          </a:p>
          <a:p>
            <a:r>
              <a:t>2.0818</a:t>
            </a:r>
          </a:p>
          <a:p>
            <a:r>
              <a:t>120 min</a:t>
            </a:r>
          </a:p>
          <a:p>
            <a:r>
              <a:t>All eight CPRI-schema candidates: grey-box MAE beats persistence (8.6%</a:t>
            </a:r>
          </a:p>
          <a:p>
            <a:r>
              <a:t>to 59.9%), yet only 1 of 8 is PROMOTED; 7 fail the signed-bias gate (+0.12</a:t>
            </a:r>
          </a:p>
          <a:p>
            <a:r>
              <a:t>to +0.28 °C). GridPulse v1: MAE 46.6–61.8% below persistence; 1 of 4</a:t>
            </a:r>
          </a:p>
          <a:p>
            <a:r>
              <a:t>promoted; 3 held back only by over-wide intervals.</a:t>
            </a:r>
          </a:p>
          <a:p>
            <a:r>
              <a:t>Performance on supplied or synthetic data is not equivalent to independent field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Supporting detail</a:t>
            </a:r>
          </a:p>
          <a:p>
            <a:r>
              <a:t>What-if scenario generator — ●</a:t>
            </a:r>
          </a:p>
          <a:p>
            <a:r>
              <a:t>IMPLEMENTED · promoted models only</a:t>
            </a:r>
          </a:p>
          <a:p>
            <a:r>
              <a:t>[INSERT ACTUAL WHAT-IF SCREENSHOT]</a:t>
            </a:r>
          </a:p>
          <a:p>
            <a:r>
              <a:t>• Controlled load changes, spikes, stuck signals,</a:t>
            </a:r>
          </a:p>
          <a:p>
            <a:r>
              <a:t>bias or drift, phase imbalance.</a:t>
            </a:r>
          </a:p>
          <a:p>
            <a:r>
              <a:t>• Compares hypothetical outcomes with the</a:t>
            </a:r>
          </a:p>
          <a:p>
            <a:r>
              <a:t>current state.</a:t>
            </a:r>
          </a:p>
          <a:p>
            <a:r>
              <a:t>• Enabled only for PROMOTED models;</a:t>
            </a:r>
          </a:p>
          <a:p>
            <a:r>
              <a:t>otherwise shown as Gated.</a:t>
            </a:r>
          </a:p>
          <a:p>
            <a:r>
              <a:t>• Hypothetical runs must not change the live</a:t>
            </a:r>
          </a:p>
          <a:p>
            <a:r>
              <a:t>state. [VERIFY in demo: run a what-if and</a:t>
            </a:r>
          </a:p>
          <a:p>
            <a:r>
              <a:t>confirm the live OTHI and state hash are</a:t>
            </a:r>
          </a:p>
          <a:p>
            <a:r>
              <a:t>unchanged]</a:t>
            </a:r>
          </a:p>
          <a:p>
            <a:r>
              <a:t>Maintenance advisory — ● IMPLEMENTED ·</a:t>
            </a:r>
          </a:p>
          <a:p>
            <a:r>
              <a:t>VERIFIED (API)</a:t>
            </a:r>
          </a:p>
          <a:p>
            <a:r>
              <a:t>[INSERT ACTUAL MAINTENANCE ADVISORY</a:t>
            </a:r>
          </a:p>
          <a:p>
            <a:r>
              <a:t>SCREENSHOT]</a:t>
            </a:r>
          </a:p>
          <a:p>
            <a:r>
              <a:t>P0 SAFETY /</a:t>
            </a:r>
          </a:p>
          <a:p>
            <a:r>
              <a:t>Immediate</a:t>
            </a:r>
          </a:p>
          <a:p>
            <a:r>
              <a:t>P1 URGENT /</a:t>
            </a:r>
          </a:p>
          <a:p>
            <a:r>
              <a:t>Within 24 h</a:t>
            </a:r>
          </a:p>
          <a:p>
            <a:r>
              <a:t>P2 PLANNED / Next</a:t>
            </a:r>
          </a:p>
          <a:p>
            <a:r>
              <a:t>window</a:t>
            </a:r>
          </a:p>
          <a:p>
            <a:r>
              <a:t>P3 MONITOR /</a:t>
            </a:r>
          </a:p>
          <a:p>
            <a:r>
              <a:t>Watch trend</a:t>
            </a:r>
          </a:p>
          <a:p>
            <a:r>
              <a:t>P4 REVIEW /</a:t>
            </a:r>
          </a:p>
          <a:p>
            <a:r>
              <a:t>Data/model</a:t>
            </a:r>
          </a:p>
          <a:p>
            <a:r>
              <a:t>• Versioned deterministic rules with</a:t>
            </a:r>
          </a:p>
          <a:p>
            <a:r>
              <a:t>evidence-linked reasoning.</a:t>
            </a:r>
          </a:p>
          <a:p>
            <a:r>
              <a:t>• Priorities P0–P4 with action windows</a:t>
            </a:r>
          </a:p>
          <a:p>
            <a:r>
              <a:t>(configured policy defaults awaiting utility</a:t>
            </a:r>
          </a:p>
          <a:p>
            <a:r>
              <a:t>approval).</a:t>
            </a:r>
          </a:p>
          <a:p>
            <a:r>
              <a:t>• Active, Acknowledged and Resolved differ:</a:t>
            </a:r>
          </a:p>
          <a:p>
            <a:r>
              <a:t>acknowledgement is a workflow event, not proof</a:t>
            </a:r>
          </a:p>
          <a:p>
            <a:r>
              <a:t>of repair.</a:t>
            </a:r>
          </a:p>
          <a:p>
            <a:r>
              <a:t>• Advisory only: no switching or control.</a:t>
            </a:r>
          </a:p>
          <a:p>
            <a:r>
              <a:t>History and audit log — ● IMPLEMENTED ·</a:t>
            </a:r>
          </a:p>
          <a:p>
            <a:r>
              <a:t>VERIFIED (API)</a:t>
            </a:r>
          </a:p>
          <a:p>
            <a:r>
              <a:t>[INSERT ACTUAL HISTORY AND AUDIT LOG</a:t>
            </a:r>
          </a:p>
          <a:p>
            <a:r>
              <a:t>SCREENSHOT]</a:t>
            </a:r>
          </a:p>
          <a:p>
            <a:r>
              <a:t>• Stable incident identities; a timeline of state</a:t>
            </a:r>
          </a:p>
          <a:p>
            <a:r>
              <a:t>and evidence changes.</a:t>
            </a:r>
          </a:p>
          <a:p>
            <a:r>
              <a:t>• Episode duration, severity and supporting</a:t>
            </a:r>
          </a:p>
          <a:p>
            <a:r>
              <a:t>observations.</a:t>
            </a:r>
          </a:p>
          <a:p>
            <a:r>
              <a:t>• Operator actions with actor, reason and event</a:t>
            </a:r>
          </a:p>
          <a:p>
            <a:r>
              <a:t>time in an append-only ledger.</a:t>
            </a:r>
          </a:p>
          <a:p>
            <a:r>
              <a:t>• Review cards show supporting evidence as a</a:t>
            </a:r>
          </a:p>
          <a:p>
            <a:r>
              <a:t>collapsible count.</a:t>
            </a:r>
          </a:p>
          <a:p>
            <a:r>
              <a:t>• Traceable to configuration, model and rule</a:t>
            </a:r>
          </a:p>
          <a:p>
            <a:r>
              <a:t>version and source data.</a:t>
            </a:r>
          </a:p>
          <a:p>
            <a:r>
              <a:t>If a screenshot shows an advisory “Ref:” line, caption it “illustrative policy reference — not a cited utility document” or crop it. Citation: [R8]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Plain language: anomaly episodes separate a transient spike from a persistent condition and keep one stable identity while evidence evolves, using persistence, corroboration, hysteresis and recovery. Today they cover current and voltage imbalance, neutral ratio, low power factor, P-Q-S inconsistency and protection trips; thermal, oil and pressure conditions raise evidence and advisories but not yet episodes. Reports are generated from the same FactBundle as the dashboard, so JSON, CSV and PDF cannot disagree with the screens; the exports returned HTTP 200 on the running build. / Protection semantics: a latched direct trip sets the protection domain to full severity, so OTHI is 0 and the status is CRITICAL. Acknowledging, resumed healthy telemetry, or resolving an unrelated advisory does not clear it. Only an authorised RESOLVE or DISMISS of MNT-PROT-001 with a documented reason code, recorded after the trip, clears it; health then recovers on the next processed frame. / Assumption and limitation: this is a recorded offline replay on synthetic data with a scripted resolution; injected test events are labelled OPERATOR_INJECTED; no physical trip command is issued and this does not replace protection relays. / Likely judge question: how does a trip clear? Answer: only an authorised resolution with a documented reason code; acknowledgement and resumed telemetry do not.</a:t>
            </a:r>
          </a:p>
          <a:p>
            <a:endParaRPr/>
          </a:p>
          <a:p>
            <a:r>
              <a:t>Supporting detail</a:t>
            </a:r>
          </a:p>
          <a:p>
            <a:r>
              <a:t>1 Stateful anomaly episodes — ● IMPLEMENTED</a:t>
            </a:r>
          </a:p>
          <a:p>
            <a:r>
              <a:t>· VERIFIED</a:t>
            </a:r>
          </a:p>
          <a:p>
            <a:r>
              <a:t>• Separates transient spikes from persistent</a:t>
            </a:r>
          </a:p>
          <a:p>
            <a:r>
              <a:t>conditions.</a:t>
            </a:r>
          </a:p>
          <a:p>
            <a:r>
              <a:t>• Stable identity as evidence evolves; no new</a:t>
            </a:r>
          </a:p>
          <a:p>
            <a:r>
              <a:t>episode per frame.</a:t>
            </a:r>
          </a:p>
          <a:p>
            <a:r>
              <a:t>• Persistence, corroboration, hysteresis and</a:t>
            </a:r>
          </a:p>
          <a:p>
            <a:r>
              <a:t>recovery; explicit missing and stale data</a:t>
            </a:r>
          </a:p>
          <a:p>
            <a:r>
              <a:t>handling.</a:t>
            </a:r>
          </a:p>
          <a:p>
            <a:r>
              <a:t>• Covers current and voltage imbalance, neutral</a:t>
            </a:r>
          </a:p>
          <a:p>
            <a:r>
              <a:t>ratio, low PF, P–Q–S inconsistency and</a:t>
            </a:r>
          </a:p>
          <a:p>
            <a:r>
              <a:t>protection trips.</a:t>
            </a:r>
          </a:p>
          <a:p>
            <a:r>
              <a:t>• Thermal, oil and pressure raise evidence and</a:t>
            </a:r>
          </a:p>
          <a:p>
            <a:r>
              <a:t>advisories only (episodes planned).</a:t>
            </a:r>
          </a:p>
          <a:p>
            <a:r>
              <a:t>[INSERT ACTUAL ANOMALY</a:t>
            </a:r>
          </a:p>
          <a:p>
            <a:r>
              <a:t>TIMELINE SCREENSHOT]</a:t>
            </a:r>
          </a:p>
          <a:p>
            <a:r>
              <a:t>[INSERT PHYSICAL-DOMAIN</a:t>
            </a:r>
          </a:p>
          <a:p>
            <a:r>
              <a:t>PANEL SCREENSHOT]</a:t>
            </a:r>
          </a:p>
          <a:p>
            <a:r>
              <a:t>2 Historical performance and reporting — ●</a:t>
            </a:r>
          </a:p>
          <a:p>
            <a:r>
              <a:t>IMPLEMENTED · VERIFIED (exports returned</a:t>
            </a:r>
          </a:p>
          <a:p>
            <a:r>
              <a:t>HTTP 200)</a:t>
            </a:r>
          </a:p>
          <a:p>
            <a:r>
              <a:t>• Electrical and thermal trends; time in</a:t>
            </a:r>
          </a:p>
          <a:p>
            <a:r>
              <a:t>temperature bands and observed thermal</a:t>
            </a:r>
          </a:p>
          <a:p>
            <a:r>
              <a:t>exposure.</a:t>
            </a:r>
          </a:p>
          <a:p>
            <a:r>
              <a:t>• Qualified expected-behaviour comparison</a:t>
            </a:r>
          </a:p>
          <a:p>
            <a:r>
              <a:t>where available.</a:t>
            </a:r>
          </a:p>
          <a:p>
            <a:r>
              <a:t>• JSON, CSV and PDF exports from the same</a:t>
            </a:r>
          </a:p>
          <a:p>
            <a:r>
              <a:t>FactBundle as the dashboard.</a:t>
            </a:r>
          </a:p>
          <a:p>
            <a:r>
              <a:t>• Telemetry log shows Sensor Quality separate</a:t>
            </a:r>
          </a:p>
          <a:p>
            <a:r>
              <a:t>from Dataset Partition.</a:t>
            </a:r>
          </a:p>
          <a:p>
            <a:r>
              <a:t>• Unsupported sensors read “Unavailable / Not</a:t>
            </a:r>
          </a:p>
          <a:p>
            <a:r>
              <a:t>Supported” and are never scored.</a:t>
            </a:r>
          </a:p>
          <a:p>
            <a:r>
              <a:t>[INSERT ACTUAL HISTORICAL</a:t>
            </a:r>
          </a:p>
          <a:p>
            <a:r>
              <a:t>PERFORMANCE OR GENERATED</a:t>
            </a:r>
          </a:p>
          <a:p>
            <a:r>
              <a:t>REPORT SCREENSHOT]</a:t>
            </a:r>
          </a:p>
          <a:p>
            <a:r>
              <a:t>[INSERT TELEMETRY LOG</a:t>
            </a:r>
          </a:p>
          <a:p>
            <a:r>
              <a:t>SCREENSHOT: SENSOR QUALITY</a:t>
            </a:r>
          </a:p>
          <a:p>
            <a:r>
              <a:t>vs DATASET PARTITION]</a:t>
            </a:r>
          </a:p>
          <a:p>
            <a:r>
              <a:t>3 Protection-trip demonstration — ● IMPLEMENTED · VERIFIED (recorded offline replay)</a:t>
            </a:r>
          </a:p>
          <a:p>
            <a:r>
              <a:t>07:30</a:t>
            </a:r>
          </a:p>
          <a:p>
            <a:r>
              <a:t>OTHI 19</a:t>
            </a:r>
          </a:p>
          <a:p>
            <a:r>
              <a:t>Overload evidence</a:t>
            </a:r>
          </a:p>
          <a:p>
            <a:r>
              <a:t>→</a:t>
            </a:r>
          </a:p>
          <a:p>
            <a:r>
              <a:t>08:00 · TRIP</a:t>
            </a:r>
          </a:p>
          <a:p>
            <a:r>
              <a:t>OTHI 0 CRITICAL</a:t>
            </a:r>
          </a:p>
          <a:p>
            <a:r>
              <a:t>OTI trip, breaker open,</a:t>
            </a:r>
          </a:p>
          <a:p>
            <a:r>
              <a:t>phase current exactly 0 A;</a:t>
            </a:r>
          </a:p>
          <a:p>
            <a:r>
              <a:t>P0 advisory</a:t>
            </a:r>
          </a:p>
          <a:p>
            <a:r>
              <a:t>→</a:t>
            </a:r>
          </a:p>
          <a:p>
            <a:r>
              <a:t>Operator ACK</a:t>
            </a:r>
          </a:p>
          <a:p>
            <a:r>
              <a:t>OTHI stays 0</a:t>
            </a:r>
          </a:p>
          <a:p>
            <a:r>
              <a:t>Acknowledgement does not</a:t>
            </a:r>
          </a:p>
          <a:p>
            <a:r>
              <a:t>clear the latch</a:t>
            </a:r>
          </a:p>
          <a:p>
            <a:r>
              <a:t>→</a:t>
            </a:r>
          </a:p>
          <a:p>
            <a:r>
              <a:t>10:30 · Reclose</a:t>
            </a:r>
          </a:p>
          <a:p>
            <a:r>
              <a:t>OTHI stays 0</a:t>
            </a:r>
          </a:p>
          <a:p>
            <a:r>
              <a:t>Breaker recloses and load</a:t>
            </a:r>
          </a:p>
          <a:p>
            <a:r>
              <a:t>returns; still latched</a:t>
            </a:r>
          </a:p>
          <a:p>
            <a:r>
              <a:t>→</a:t>
            </a:r>
          </a:p>
          <a:p>
            <a:r>
              <a:t>Authorised resolution</a:t>
            </a:r>
          </a:p>
          <a:p>
            <a:r>
              <a:t>RESOLVE</a:t>
            </a:r>
          </a:p>
          <a:p>
            <a:r>
              <a:t>Documented reason code,</a:t>
            </a:r>
          </a:p>
          <a:p>
            <a:r>
              <a:t>recorded after the trip</a:t>
            </a:r>
          </a:p>
          <a:p>
            <a:r>
              <a:t>→</a:t>
            </a:r>
          </a:p>
          <a:p>
            <a:r>
              <a:t>Next frame</a:t>
            </a:r>
          </a:p>
          <a:p>
            <a:r>
              <a:t>OTHI 100 NORMAL</a:t>
            </a:r>
          </a:p>
          <a:p>
            <a:r>
              <a:t>Health recovers on the next</a:t>
            </a:r>
          </a:p>
          <a:p>
            <a:r>
              <a:t>processed frame</a:t>
            </a:r>
          </a:p>
          <a:p>
            <a:r>
              <a:t>Recorded offline replay of DT-02, GridPulse synthetic v1, CAL partition, with a scripted authorised resolution. Synthetic data. Injected test events are</a:t>
            </a:r>
          </a:p>
          <a:p>
            <a:r>
              <a:t>labelled.</a:t>
            </a:r>
          </a:p>
          <a:p>
            <a:r>
              <a:t>• A verified direct trip outranks accumulated anomaly evidence.</a:t>
            </a:r>
          </a:p>
          <a:p>
            <a:r>
              <a:t>• Only RESOLVE or DISMISS of the protection advisory MNT-PROT-001 with a documented reason code clears the latch; acknowledgement and resumed telemetry do not.</a:t>
            </a:r>
          </a:p>
          <a:p>
            <a:r>
              <a:t>• No physical trip commands are issued; this does not replace protection relays.</a:t>
            </a:r>
          </a:p>
          <a:p>
            <a:r>
              <a:t>[INSERT ACTUAL PROTECTION-TRIP TEST</a:t>
            </a:r>
          </a:p>
          <a:p>
            <a:r>
              <a:t>SCREENSHOT]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Plain language: everything on this slide is a plan except CSV and canonical REST ingestion. Industrial protocols (MQTT, OPC UA, Modbus) and SCADA or edge gateways would feed the existing canonical telemetry contract through source adapters, so the analytics do not change when the transport does. A MATLAB/Simulink model would be an independent first-order reference: identical ambient and load profiles, then a comparison of time constants, transients and steady-state rise, including load steps and changing ambient, with documented sensitivity. It is a verification plan, not a result. / Requalification: CUSUM on prewhitened or one-step residuals; a bulk-oil-temperature-corrected multi-day leak estimator; episodes for thermal, oil and pressure conditions; thermal ageing only with a credible hot-spot temperature and a verified insulation class; an adapter for the backup story dataset. / Considered and deferred: Kalman state estimation on physical states and a machine-learning shadow comparator, because instability came from detector design and state handling rather than noise, and synthetic noise cannot validate the filter parameters. This needs explicit team sign-off before any work. / Likely judge question: what is the path to real deployment? Answer: adapters into the existing canonical contract, equipment-specific limits, a Simulink cross-check of the thermal model, and validation on real telemetry.</a:t>
            </a:r>
          </a:p>
          <a:p>
            <a:endParaRPr/>
          </a:p>
          <a:p>
            <a:r>
              <a:t>Supporting detail</a:t>
            </a:r>
          </a:p>
          <a:p>
            <a:r>
              <a:t>IoT and industrial</a:t>
            </a:r>
          </a:p>
          <a:p>
            <a:r>
              <a:t>communications — ┄ PROPOSED /</a:t>
            </a:r>
          </a:p>
          <a:p>
            <a:r>
              <a:t>FUTURE</a:t>
            </a:r>
          </a:p>
          <a:p>
            <a:r>
              <a:t>MQTT [R19]</a:t>
            </a:r>
          </a:p>
          <a:p>
            <a:r>
              <a:t>OPC UA [R18]</a:t>
            </a:r>
          </a:p>
          <a:p>
            <a:r>
              <a:t>Modbus [R20]</a:t>
            </a:r>
          </a:p>
          <a:p>
            <a:r>
              <a:t>SCADA / edge</a:t>
            </a:r>
          </a:p>
          <a:p>
            <a:r>
              <a:t>↓</a:t>
            </a:r>
          </a:p>
          <a:p>
            <a:r>
              <a:t>Source adapters feed the canonical</a:t>
            </a:r>
          </a:p>
          <a:p>
            <a:r>
              <a:t>telemetry contract</a:t>
            </a:r>
          </a:p>
          <a:p>
            <a:r>
              <a:t>● IMPLEMENTED today: CSV and REST only</a:t>
            </a:r>
          </a:p>
          <a:p>
            <a:r>
              <a:t>• MQTT, OPC UA, Modbus, SCADA</a:t>
            </a:r>
          </a:p>
          <a:p>
            <a:r>
              <a:t>and edge gateways as upstream</a:t>
            </a:r>
          </a:p>
          <a:p>
            <a:r>
              <a:t>sources.</a:t>
            </a:r>
          </a:p>
          <a:p>
            <a:r>
              <a:t>• All feed the canonical telemetry</a:t>
            </a:r>
          </a:p>
          <a:p>
            <a:r>
              <a:t>contract through source adapters, so</a:t>
            </a:r>
          </a:p>
          <a:p>
            <a:r>
              <a:t>the analytics stay</a:t>
            </a:r>
          </a:p>
          <a:p>
            <a:r>
              <a:t>transport-independent.</a:t>
            </a:r>
          </a:p>
          <a:p>
            <a:r>
              <a:t>• Precedent: IEEE C57.91 thermal</a:t>
            </a:r>
          </a:p>
          <a:p>
            <a:r>
              <a:t>monitoring on an automation</a:t>
            </a:r>
          </a:p>
          <a:p>
            <a:r>
              <a:t>controller [R17].</a:t>
            </a:r>
          </a:p>
          <a:p>
            <a:r>
              <a:t>MATLAB / Simulink verification —</a:t>
            </a:r>
          </a:p>
          <a:p>
            <a:r>
              <a:t>┄ PROPOSED / FUTURE — a plan,</a:t>
            </a:r>
          </a:p>
          <a:p>
            <a:r>
              <a:t>not a result</a:t>
            </a:r>
          </a:p>
          <a:p>
            <a:r>
              <a:t>[INSERT MATLAB/SIMULINK BLOCK</a:t>
            </a:r>
          </a:p>
          <a:p>
            <a:r>
              <a:t>DIAGRAM OR REFERENCE-MODEL</a:t>
            </a:r>
          </a:p>
          <a:p>
            <a:r>
              <a:t>COMPARISON]</a:t>
            </a:r>
          </a:p>
          <a:p>
            <a:r>
              <a:t>• Build an independent first-order</a:t>
            </a:r>
          </a:p>
          <a:p>
            <a:r>
              <a:t>reference model.</a:t>
            </a:r>
          </a:p>
          <a:p>
            <a:r>
              <a:t>• Feed identical ambient and load</a:t>
            </a:r>
          </a:p>
          <a:p>
            <a:r>
              <a:t>profiles.</a:t>
            </a:r>
          </a:p>
          <a:p>
            <a:r>
              <a:t>• Compare time constants, transients</a:t>
            </a:r>
          </a:p>
          <a:p>
            <a:r>
              <a:t>and steady-state rise.</a:t>
            </a:r>
          </a:p>
          <a:p>
            <a:r>
              <a:t>• Test load steps and changing</a:t>
            </a:r>
          </a:p>
          <a:p>
            <a:r>
              <a:t>ambient; document sensitivity.</a:t>
            </a:r>
          </a:p>
          <a:p>
            <a:r>
              <a:t>Requalification roadmap — ┄</a:t>
            </a:r>
          </a:p>
          <a:p>
            <a:r>
              <a:t>PROPOSED / FUTURE</a:t>
            </a:r>
          </a:p>
          <a:p>
            <a:r>
              <a:t>TODAY — Thermal CUSUM,</a:t>
            </a:r>
          </a:p>
          <a:p>
            <a:r>
              <a:t>oil-leak trend and C4 ageing are</a:t>
            </a:r>
          </a:p>
          <a:p>
            <a:r>
              <a:t>GATED · DESCRIPTIVE ONLY:</a:t>
            </a:r>
          </a:p>
          <a:p>
            <a:r>
              <a:t>visible evidence, zero weight in</a:t>
            </a:r>
          </a:p>
          <a:p>
            <a:r>
              <a:t>OTHI.</a:t>
            </a:r>
          </a:p>
          <a:p>
            <a:r>
              <a:t>• CUSUM on prewhitened or one-step</a:t>
            </a:r>
          </a:p>
          <a:p>
            <a:r>
              <a:t>residuals.</a:t>
            </a:r>
          </a:p>
          <a:p>
            <a:r>
              <a:t>• Bulk-oil-corrected multi-day leak</a:t>
            </a:r>
          </a:p>
          <a:p>
            <a:r>
              <a:t>estimator.</a:t>
            </a:r>
          </a:p>
          <a:p>
            <a:r>
              <a:t>• Episodes for thermal, oil and pressure</a:t>
            </a:r>
          </a:p>
          <a:p>
            <a:r>
              <a:t>conditions.</a:t>
            </a:r>
          </a:p>
          <a:p>
            <a:r>
              <a:t>• C4 only with a credible hot-spot</a:t>
            </a:r>
          </a:p>
          <a:p>
            <a:r>
              <a:t>temperature and a verified insulation</a:t>
            </a:r>
          </a:p>
          <a:p>
            <a:r>
              <a:t>class.</a:t>
            </a:r>
          </a:p>
          <a:p>
            <a:r>
              <a:t>• Adapter for the backup story dataset.</a:t>
            </a:r>
          </a:p>
          <a:p>
            <a:r>
              <a:t>Considered and deferred — ○</a:t>
            </a:r>
          </a:p>
          <a:p>
            <a:r>
              <a:t>EVALUATED, NOT BUILT</a:t>
            </a:r>
          </a:p>
          <a:p>
            <a:r>
              <a:t>CONSIDERED, NOT BUILT —</a:t>
            </a:r>
          </a:p>
          <a:p>
            <a:r>
              <a:t>Kalman state estimation on</a:t>
            </a:r>
          </a:p>
          <a:p>
            <a:r>
              <a:t>physical states / Machine-learning</a:t>
            </a:r>
          </a:p>
          <a:p>
            <a:r>
              <a:t>shadow comparator</a:t>
            </a:r>
          </a:p>
          <a:p>
            <a:r>
              <a:t>• Instability came from detector design and</a:t>
            </a:r>
          </a:p>
          <a:p>
            <a:r>
              <a:t>state handling, not sensor noise.</a:t>
            </a:r>
          </a:p>
          <a:p>
            <a:r>
              <a:t>• Filtering OTHI would delay alarms and</a:t>
            </a:r>
          </a:p>
          <a:p>
            <a:r>
              <a:t>recovery and could hide evidence bugs;</a:t>
            </a:r>
          </a:p>
          <a:p>
            <a:r>
              <a:t>missing data would drift a filter toward a</a:t>
            </a:r>
          </a:p>
          <a:p>
            <a:r>
              <a:t>healthy prior.</a:t>
            </a:r>
          </a:p>
          <a:p>
            <a:r>
              <a:t>• Synthetic noise cannot validate the filter</a:t>
            </a:r>
          </a:p>
          <a:p>
            <a:r>
              <a:t>parameters. Needs explicit team sign-off.</a:t>
            </a:r>
          </a:p>
          <a:p>
            <a:r>
              <a:t>• GridPulse keeps physics-residual evidence</a:t>
            </a:r>
          </a:p>
          <a:p>
            <a:r>
              <a:t>as the authority, unlike black-box detectors</a:t>
            </a:r>
          </a:p>
          <a:p>
            <a:r>
              <a:t>[R16]; no RUL without data prerequisites</a:t>
            </a:r>
          </a:p>
          <a:p>
            <a:r>
              <a:t>[R15].</a:t>
            </a:r>
          </a:p>
          <a:p>
            <a:r>
              <a:t>Implemented today: CSV and canonical REST ingestion only. MQTT, OPC UA and Modbus are planned. Citations: [R15][R16][R17][R18][R19][R20]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reference list with identifiers (bibliographic data checked 2026-10-11).</a:t>
            </a:r>
          </a:p>
          <a:p>
            <a:r>
              <a:t>R1 https://webstore.iec.ch/en/publication/34351 (text not inspected)</a:t>
            </a:r>
          </a:p>
          <a:p>
            <a:r>
              <a:t>R2 https://standards.ieee.org/ieee/C57.91/7163/ (approved 2025-09-10; supersedes C57.91-2011; text not inspected)</a:t>
            </a:r>
          </a:p>
          <a:p>
            <a:r>
              <a:t>R6 https://arxiv.org/abs/2501.16831</a:t>
            </a:r>
          </a:p>
          <a:p>
            <a:r>
              <a:t>R7 https://electra.cigre.org/347-august-2026/technical-brochures/digital-twins-for-power-transformers-concept-and-future-perspectives.html</a:t>
            </a:r>
          </a:p>
          <a:p>
            <a:r>
              <a:t>R8 https://www.e-cigre.org/publications/detail/761-condition-assessment-of-power-transformers.html</a:t>
            </a:r>
          </a:p>
          <a:p>
            <a:r>
              <a:t>R11 https://www.itl.nist.gov/div898/handbook/pmc/section3/pmc323.htm</a:t>
            </a:r>
          </a:p>
          <a:p>
            <a:r>
              <a:t>R13 https://proceedings.mlr.press/v75/chernozhukov18a.html</a:t>
            </a:r>
          </a:p>
          <a:p>
            <a:r>
              <a:t>R15 https://www.iso.org/standard/88029.html (public scope only)</a:t>
            </a:r>
          </a:p>
          <a:p>
            <a:r>
              <a:t>R18 https://reference.opcfoundation.org/specs/OPC-10000-1/full</a:t>
            </a:r>
          </a:p>
          <a:p>
            <a:r>
              <a:t>R19 https://docs.oasis-open.org/mqtt/mqtt/v5.0/mqtt-v5.0.html</a:t>
            </a:r>
          </a:p>
          <a:p>
            <a:r>
              <a:t>R20 https://modbus.org/modbus-specifications</a:t>
            </a:r>
          </a:p>
          <a:p>
            <a:r>
              <a:t>R21 https://ucum.org/ucum</a:t>
            </a:r>
          </a:p>
          <a:p>
            <a:r>
              <a:t>R23 https://cpri.res.in/en/content/powernext-ai-2026-24-hour-hackathon-undergraduate-engineering-students-karnataka-manipal-0</a:t>
            </a:r>
          </a:p>
          <a:p>
            <a:r>
              <a:t>(R3, R4, R5, R9, R10, R16, R17 are identified by the DOIs shown on the slide.) [R16] is not claimed as the source of the project datasets.</a:t>
            </a:r>
          </a:p>
          <a:p>
            <a:endParaRPr/>
          </a:p>
          <a:p>
            <a:r>
              <a:t>Supporting detail</a:t>
            </a:r>
          </a:p>
          <a:p>
            <a:r>
              <a:t>THERMAL PHYSICS AND LOADING (R1–R6)</a:t>
            </a:r>
          </a:p>
          <a:p>
            <a:r>
              <a:t>[R1] IEC 60076-7:2018, “Power transformers – Part 7: Loading</a:t>
            </a:r>
          </a:p>
          <a:p>
            <a:r>
              <a:t>guide for mineral-oil-immersed power transformers,” Ed. 2.0,</a:t>
            </a:r>
          </a:p>
          <a:p>
            <a:r>
              <a:t>IEC, 2018.</a:t>
            </a:r>
          </a:p>
          <a:p>
            <a:r>
              <a:t>[R2] IEEE Std C57.91-2025, “IEEE Guide for Loading</a:t>
            </a:r>
          </a:p>
          <a:p>
            <a:r>
              <a:t>Mineral-Oil-Immersed Transformers and Step-Voltage</a:t>
            </a:r>
          </a:p>
          <a:p>
            <a:r>
              <a:t>Regulators,” 2025 (supersedes C57.91-2011).</a:t>
            </a:r>
          </a:p>
          <a:p>
            <a:r>
              <a:t>[R3] S. Najar, J.-F. Tissier, S. Cauet and E. Etien, “Improving</a:t>
            </a:r>
          </a:p>
          <a:p>
            <a:r>
              <a:t>thermal model for oil temperature estimation in power</a:t>
            </a:r>
          </a:p>
          <a:p>
            <a:r>
              <a:t>distribution transformers,” Applied Thermal Engineering, vol.</a:t>
            </a:r>
          </a:p>
          <a:p>
            <a:r>
              <a:t>119, pp. 73–78, 2017.</a:t>
            </a:r>
          </a:p>
          <a:p>
            <a:r>
              <a:t>doi:10.1016/j.applthermaleng.2017.03.061</a:t>
            </a:r>
          </a:p>
          <a:p>
            <a:r>
              <a:t>[R4] L. Wang, X. Zhang, R. Villarroel, Q. Liu, Z. Wang and L.</a:t>
            </a:r>
          </a:p>
          <a:p>
            <a:r>
              <a:t>Zhou, “Top-oil temperature modelling by calibrating oil time</a:t>
            </a:r>
          </a:p>
          <a:p>
            <a:r>
              <a:t>constant for an oil natural air natural distribution transformer,”</a:t>
            </a:r>
          </a:p>
          <a:p>
            <a:r>
              <a:t>IET Gener. Transm. Distrib., vol. 14, no. 20, pp. 4452–4458,</a:t>
            </a:r>
          </a:p>
          <a:p>
            <a:r>
              <a:t>2020. doi:10.1049/iet-gtd.2020.0155</a:t>
            </a:r>
          </a:p>
          <a:p>
            <a:r>
              <a:t>[R5] M. Djamali and S. Tenbohlen, “Hundred years of</a:t>
            </a:r>
          </a:p>
          <a:p>
            <a:r>
              <a:t>experience in the dynamic thermal modelling of power</a:t>
            </a:r>
          </a:p>
          <a:p>
            <a:r>
              <a:t>transformers,” IET Gener. Transm. Distrib., vol. 11, no. 11, pp.</a:t>
            </a:r>
          </a:p>
          <a:p>
            <a:r>
              <a:t>2731–2739, 2017. doi:10.1049/iet-gtd.2016.1321</a:t>
            </a:r>
          </a:p>
          <a:p>
            <a:r>
              <a:t>[R6] F. Tembo, F. Bragone, T. Laneryd, M. Barreau and K.</a:t>
            </a:r>
          </a:p>
          <a:p>
            <a:r>
              <a:t>Morozovska, “Data-Driven vs Traditional Approaches to Power</a:t>
            </a:r>
          </a:p>
          <a:p>
            <a:r>
              <a:t>Transformer’s Top-Oil Temperature Estimation,”</a:t>
            </a:r>
          </a:p>
          <a:p>
            <a:r>
              <a:t>arXiv:2501.16831, Jan. 2025 (preprint).</a:t>
            </a:r>
          </a:p>
          <a:p>
            <a:r>
              <a:t>CONDITION ASSESSMENT, TWINS, STATISTICS (R7–R15)</a:t>
            </a:r>
          </a:p>
          <a:p>
            <a:r>
              <a:t>[R7] CIGRE JWG A2/D2.65, “Digital twins for power transformers –</a:t>
            </a:r>
          </a:p>
          <a:p>
            <a:r>
              <a:t>Concept and future perspectives,” Technical Brochure 995, Electra</a:t>
            </a:r>
          </a:p>
          <a:p>
            <a:r>
              <a:t>no. 347, Aug. 2026.</a:t>
            </a:r>
          </a:p>
          <a:p>
            <a:r>
              <a:t>[R8] CIGRE WG A2.49, “Condition assessment of power</a:t>
            </a:r>
          </a:p>
          <a:p>
            <a:r>
              <a:t>transformers,” Technical Brochure 761, 2019.</a:t>
            </a:r>
          </a:p>
          <a:p>
            <a:r>
              <a:t>[R9] S. T. Zahra, S. K. Imdad, S. Khan, S. Khalid and N. A. Baig,</a:t>
            </a:r>
          </a:p>
          <a:p>
            <a:r>
              <a:t>“Power transformer health index and life span assessment: A</a:t>
            </a:r>
          </a:p>
          <a:p>
            <a:r>
              <a:t>comprehensive review of conventional and machine learning</a:t>
            </a:r>
          </a:p>
          <a:p>
            <a:r>
              <a:t>based approaches,” Eng. Appl. Artif. Intell., vol. 139, art. 109474,</a:t>
            </a:r>
          </a:p>
          <a:p>
            <a:r>
              <a:t>2025. doi:10.1016/j.engappai.2024.109474</a:t>
            </a:r>
          </a:p>
          <a:p>
            <a:r>
              <a:t>[R10] J. Voas, P. Mell, P. Laplante and V. Piroumian, “Security and</a:t>
            </a:r>
          </a:p>
          <a:p>
            <a:r>
              <a:t>Trust Considerations for Digital Twin Technology,” NIST IR 8356,</a:t>
            </a:r>
          </a:p>
          <a:p>
            <a:r>
              <a:t>Feb. 2025. doi:10.6028/NIST.IR.8356</a:t>
            </a:r>
          </a:p>
          <a:p>
            <a:r>
              <a:t>[R11] NIST/SEMATECH e-Handbook of Statistical Methods, Sec.</a:t>
            </a:r>
          </a:p>
          <a:p>
            <a:r>
              <a:t>6.3.2.3 “CUSUM Control Charts.”</a:t>
            </a:r>
          </a:p>
          <a:p>
            <a:r>
              <a:t>[R12] E. S. Page, “Continuous inspection schemes,” Biometrika,</a:t>
            </a:r>
          </a:p>
          <a:p>
            <a:r>
              <a:t>vol. 41, no. 1–2, pp. 100–115, 1954.</a:t>
            </a:r>
          </a:p>
          <a:p>
            <a:r>
              <a:t>[R13] V. Chernozhukov, K. Wüthrich and Y. Zhu, “Exact and Robust</a:t>
            </a:r>
          </a:p>
          <a:p>
            <a:r>
              <a:t>Conformal Inference Methods for Predictive Machine Learning with</a:t>
            </a:r>
          </a:p>
          <a:p>
            <a:r>
              <a:t>Dependent Data,” Proc. COLT, PMLR vol. 75, pp. 732–749, 2018.</a:t>
            </a:r>
          </a:p>
          <a:p>
            <a:r>
              <a:t>[R14] V. Vovk, A. Gammerman and G. Shafer, Algorithmic Learning</a:t>
            </a:r>
          </a:p>
          <a:p>
            <a:r>
              <a:t>in a Random World, Springer, 2005.</a:t>
            </a:r>
          </a:p>
          <a:p>
            <a:r>
              <a:t>[R15] ISO 13381-1:2025, “Condition monitoring and diagnostics of</a:t>
            </a:r>
          </a:p>
          <a:p>
            <a:r>
              <a:t>machine systems – Prognostics – Part 1: General guidelines and</a:t>
            </a:r>
          </a:p>
          <a:p>
            <a:r>
              <a:t>requirements,” Ed. 3, 2025 (public scope only).</a:t>
            </a:r>
          </a:p>
          <a:p>
            <a:r>
              <a:t>DATA, INTEGRATION, EVENTS (R16–R23)</a:t>
            </a:r>
          </a:p>
          <a:p>
            <a:r>
              <a:t>[R16] J. Ramesh, S. Shahriar, A. R. Al-Ali, A. Osman and M. F.</a:t>
            </a:r>
          </a:p>
          <a:p>
            <a:r>
              <a:t>Shaaban, “Machine Learning Approach for Smart Distribution</a:t>
            </a:r>
          </a:p>
          <a:p>
            <a:r>
              <a:t>Transformers Load Monitoring and Management System,”</a:t>
            </a:r>
          </a:p>
          <a:p>
            <a:r>
              <a:t>Energies, vol. 15, no. 21, art. 7981, 2022.</a:t>
            </a:r>
          </a:p>
          <a:p>
            <a:r>
              <a:t>doi:10.3390/en15217981</a:t>
            </a:r>
          </a:p>
          <a:p>
            <a:r>
              <a:t>[R17] W. A. Castillo, R. T. Jagaduri and P. K. Muralimanohar,</a:t>
            </a:r>
          </a:p>
          <a:p>
            <a:r>
              <a:t>“Implementation of a transformer monitoring solution per IEEE</a:t>
            </a:r>
          </a:p>
          <a:p>
            <a:r>
              <a:t>C57.91-1995 using an automation controller,” 65th Annu.</a:t>
            </a:r>
          </a:p>
          <a:p>
            <a:r>
              <a:t>Conf. for Protective Relay Engineers, 2012.</a:t>
            </a:r>
          </a:p>
          <a:p>
            <a:r>
              <a:t>doi:10.1109/CPRE.2012.6201252</a:t>
            </a:r>
          </a:p>
          <a:p>
            <a:r>
              <a:t>[R18] OPC Foundation, “OPC UA Part 1: Overview and</a:t>
            </a:r>
          </a:p>
          <a:p>
            <a:r>
              <a:t>concepts” and “Part 4, Sec. 7.11: DataValue and StatusCode.”</a:t>
            </a:r>
          </a:p>
          <a:p>
            <a:r>
              <a:t>[R19] OASIS, “MQTT Version 5.0,” 2019.</a:t>
            </a:r>
          </a:p>
          <a:p>
            <a:r>
              <a:t>[R20] Modbus Organization, “Modbus specifications.”</a:t>
            </a:r>
          </a:p>
          <a:p>
            <a:r>
              <a:t>[R21] UCUM Organization, “Unified Code for Units of Measure.”</a:t>
            </a:r>
          </a:p>
          <a:p>
            <a:r>
              <a:t>[R22] Kerala State Electricity Board Ltd., Supply Chain</a:t>
            </a:r>
          </a:p>
          <a:p>
            <a:r>
              <a:t>Management, “Technical Specification: Distribution</a:t>
            </a:r>
          </a:p>
          <a:p>
            <a:r>
              <a:t>Transformer 11 kV/433 V, 100, 160, 250 &amp; 500 kVA,”</a:t>
            </a:r>
          </a:p>
          <a:p>
            <a:r>
              <a:t>SCM-SPEC/XD/DT2 Rev 0.2, effective 17-11-2021.</a:t>
            </a:r>
          </a:p>
          <a:p>
            <a:r>
              <a:t>[R23] CPRI, “POWERNext-AI 2026” event notice and problem</a:t>
            </a:r>
          </a:p>
          <a:p>
            <a:r>
              <a:t>statement “Digital Twin of a Distribution Transformer for</a:t>
            </a:r>
          </a:p>
          <a:p>
            <a:r>
              <a:t>Condition Monitoring and Predictive Maintenance.”</a:t>
            </a:r>
          </a:p>
          <a:p>
            <a:r>
              <a:t>P1 Final Architecture Decisions · P2 Critical Decisions · P3 Tripura Dataset Audit · P4 CPRI-schema v3.0.2 methodology · P5 GridPulse synthetic v1 methodology and sources · P6 frozen</a:t>
            </a:r>
          </a:p>
          <a:p>
            <a:r>
              <a:t>TEST evaluation reports · P7 verification reports and the backup-dataset validation report</a:t>
            </a:r>
          </a:p>
          <a:p>
            <a:r>
              <a:t>[R22] full text read earlier by the team; [R4], [R6], [R10], [R13], [R16] abstract-level; [R7], [R8], [R15] public scope pages only; [R1], [R2] standard text not inspected; [R5], [R9]</a:t>
            </a:r>
          </a:p>
          <a:p>
            <a:r>
              <a:t>bibliographic data verified, findings not inspected.</a:t>
            </a:r>
          </a:p>
          <a:p>
            <a:r>
              <a:t>Citing a standard or guide does not imply compliance or certification. Where a standard’s text was not inspected, only public scope or secondary descriptions were used.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A2717A-0F5F-4673-92B6-EF4FA39703E2}"/>
              </a:ext>
            </a:extLst>
          </p:cNvPr>
          <p:cNvSpPr>
            <a:spLocks noGrp="1"/>
          </p:cNvSpPr>
          <p:nvPr>
            <p:ph type="title"/>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D84E8127-F95A-4A8C-9820-2213F5D07812}"/>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3F7898F-8B5A-447C-8DA3-1A1EDB145DD5}"/>
              </a:ext>
            </a:extLst>
          </p:cNvPr>
          <p:cNvSpPr>
            <a:spLocks noGrp="1"/>
          </p:cNvSpPr>
          <p:nvPr>
            <p:ph type="title"/>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A830E8-CBF6-42D5-9078-04DF79A1A28D}"/>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08E56616-87A4-4733-A3CE-7C6B63A6F34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09E6AFB-CF78-4CF6-8E67-A445CC5C0CFC}"/>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919D0D2-8021-4057-9EFD-AFC17E2CF0B2}"/>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
        <p:nvSpPr>
          <p:cNvPr id="3" name="Right column">
            <a:extLst>
              <a:ext uri="{FF2B5EF4-FFF2-40B4-BE49-F238E27FC236}">
                <a16:creationId xmlns:a16="http://schemas.microsoft.com/office/drawing/2014/main" id="{B17C209F-9AF8-4C95-ADED-7552C18076BF}"/>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A5076F7-14E4-4894-8ED2-1C560B104985}"/>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4A3EA6C-9F68-4ADE-A76E-8F0C571ADE71}"/>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56CB53E-5081-4BAC-8093-FB599F78DE54}"/>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61832838-80B4-45CD-B56B-F98670F1D281}"/>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01</a:t>
            </a:r>
          </a:p>
        </p:txBody>
      </p:sp>
      <p:sp>
        <p:nvSpPr>
          <p:cNvPr id="3" name="Rectangle 2">
            <a:extLst>
              <a:ext uri="{FF2B5EF4-FFF2-40B4-BE49-F238E27FC236}">
                <a16:creationId xmlns:a16="http://schemas.microsoft.com/office/drawing/2014/main" id="{2310A89E-66D6-496A-BE00-18C630E1D0BA}"/>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a:solidFill>
                  <a:srgbClr val="172B3A"/>
                </a:solidFill>
                <a:latin typeface="Nimbus Sans"/>
                <a:ea typeface="Nimbus Sans"/>
                <a:cs typeface="Nimbus Sans"/>
              </a:rPr>
              <a:t>GridPulse</a:t>
            </a:r>
          </a:p>
        </p:txBody>
      </p:sp>
      <p:sp>
        <p:nvSpPr>
          <p:cNvPr id="6" name="Rectangle 5">
            <a:extLst>
              <a:ext uri="{FF2B5EF4-FFF2-40B4-BE49-F238E27FC236}">
                <a16:creationId xmlns:a16="http://schemas.microsoft.com/office/drawing/2014/main" id="{073AB621-310A-4B84-BF91-E9367E8378B6}"/>
              </a:ext>
            </a:extLst>
          </p:cNvPr>
          <p:cNvSpPr>
            <a:spLocks noGrp="1"/>
          </p:cNvSpPr>
          <p:nvPr/>
        </p:nvSpPr>
        <p:spPr>
          <a:xfrm>
            <a:off x="657069" y="1935122"/>
            <a:ext cx="10477500" cy="1588008"/>
          </a:xfrm>
          <a:prstGeom prst="rect">
            <a:avLst/>
          </a:prstGeom>
          <a:noFill/>
          <a:ln w="0">
            <a:noFill/>
            <a:prstDash val="solid"/>
          </a:ln>
        </p:spPr>
        <p:txBody>
          <a:bodyPr wrap="none" lIns="0" tIns="0" rIns="0" bIns="0" anchor="t">
            <a:noAutofit/>
          </a:bodyPr>
          <a:lstStyle>
            <a:defPPr algn="l">
              <a:defRPr sz="4800" b="1">
                <a:solidFill>
                  <a:srgbClr val="172B3A"/>
                </a:solidFill>
                <a:latin typeface="Nimbus Sans"/>
                <a:ea typeface="Nimbus Sans"/>
                <a:cs typeface="Nimbus Sans"/>
              </a:defRPr>
            </a:defPPr>
          </a:lstStyle>
          <a:p>
            <a:pPr algn="l">
              <a:defRPr sz="4800" b="1">
                <a:solidFill>
                  <a:srgbClr val="172B3A"/>
                </a:solidFill>
                <a:latin typeface="Nimbus Sans"/>
                <a:ea typeface="Nimbus Sans"/>
                <a:cs typeface="Nimbus Sans"/>
              </a:defRPr>
            </a:pPr>
            <a:r>
              <a:rPr sz="4800" b="1" dirty="0">
                <a:solidFill>
                  <a:srgbClr val="172B3A"/>
                </a:solidFill>
                <a:latin typeface="Nimbus Sans"/>
                <a:ea typeface="Nimbus Sans"/>
                <a:cs typeface="Nimbus Sans"/>
              </a:rPr>
              <a:t>Distribution Transformer</a:t>
            </a:r>
          </a:p>
          <a:p>
            <a:pPr algn="l">
              <a:defRPr sz="4800" b="1">
                <a:solidFill>
                  <a:srgbClr val="172B3A"/>
                </a:solidFill>
                <a:latin typeface="Nimbus Sans"/>
                <a:ea typeface="Nimbus Sans"/>
                <a:cs typeface="Nimbus Sans"/>
              </a:defRPr>
            </a:pPr>
            <a:r>
              <a:rPr sz="4800" b="1" dirty="0">
                <a:solidFill>
                  <a:srgbClr val="172B3A"/>
                </a:solidFill>
                <a:latin typeface="Nimbus Sans"/>
                <a:ea typeface="Nimbus Sans"/>
                <a:cs typeface="Nimbus Sans"/>
              </a:rPr>
              <a:t>Digital Twin</a:t>
            </a:r>
          </a:p>
        </p:txBody>
      </p:sp>
      <p:sp>
        <p:nvSpPr>
          <p:cNvPr id="7" name="Rectangle 6">
            <a:extLst>
              <a:ext uri="{FF2B5EF4-FFF2-40B4-BE49-F238E27FC236}">
                <a16:creationId xmlns:a16="http://schemas.microsoft.com/office/drawing/2014/main" id="{DFFE8855-968E-47BB-9599-2BC76028D1B3}"/>
              </a:ext>
            </a:extLst>
          </p:cNvPr>
          <p:cNvSpPr>
            <a:spLocks noGrp="1"/>
          </p:cNvSpPr>
          <p:nvPr/>
        </p:nvSpPr>
        <p:spPr>
          <a:xfrm>
            <a:off x="657069" y="3697270"/>
            <a:ext cx="15682210" cy="4403576"/>
          </a:xfrm>
          <a:prstGeom prst="rect">
            <a:avLst/>
          </a:prstGeom>
          <a:noFill/>
          <a:ln w="0">
            <a:noFill/>
            <a:prstDash val="solid"/>
          </a:ln>
        </p:spPr>
        <p:txBody>
          <a:bodyPr wrap="none" lIns="0" tIns="0" rIns="0" bIns="0" anchor="t">
            <a:noAutofit/>
          </a:bodyPr>
          <a:lstStyle>
            <a:defPPr algn="l">
              <a:defRPr sz="2700" b="0">
                <a:solidFill>
                  <a:srgbClr val="536675"/>
                </a:solidFill>
                <a:latin typeface="Nimbus Sans"/>
                <a:ea typeface="Nimbus Sans"/>
                <a:cs typeface="Nimbus Sans"/>
              </a:defRPr>
            </a:defPPr>
          </a:lstStyle>
          <a:p>
            <a:r>
              <a:rPr lang="en-US" sz="2800" b="1" dirty="0"/>
              <a:t>The Last Mile of the Power Grid</a:t>
            </a:r>
          </a:p>
          <a:p>
            <a:r>
              <a:rPr lang="en-US" sz="2800" b="1" dirty="0"/>
              <a:t>Distribution transformers are critical grid assets that step down medium-voltage electricity to low voltage</a:t>
            </a:r>
          </a:p>
          <a:p>
            <a:r>
              <a:rPr lang="en-US" sz="2800" b="1" dirty="0"/>
              <a:t>for delivery to homes, businesses, and industries.</a:t>
            </a:r>
            <a:r>
              <a:rPr lang="en-US" sz="2800" dirty="0"/>
              <a:t> They form the final transformation stage between the</a:t>
            </a:r>
          </a:p>
          <a:p>
            <a:r>
              <a:rPr lang="en-US" sz="2800" dirty="0"/>
              <a:t>distribution network and end consumers.</a:t>
            </a:r>
          </a:p>
          <a:p>
            <a:r>
              <a:rPr lang="en-US" sz="2800" b="1" dirty="0"/>
              <a:t>Why they matter</a:t>
            </a:r>
            <a:endParaRPr lang="en-US" sz="2800" dirty="0"/>
          </a:p>
          <a:p>
            <a:pPr lvl="0"/>
            <a:r>
              <a:rPr lang="en-US" sz="2800" b="1" dirty="0"/>
              <a:t>Essential infrastructure:</a:t>
            </a:r>
            <a:r>
              <a:rPr lang="en-US" sz="2800" dirty="0"/>
              <a:t> Enable reliable electricity delivery across urban and rural India.</a:t>
            </a:r>
          </a:p>
          <a:p>
            <a:pPr lvl="0"/>
            <a:r>
              <a:rPr lang="en-US" sz="2800" b="1" dirty="0"/>
              <a:t>High deployment scale:</a:t>
            </a:r>
            <a:r>
              <a:rPr lang="en-US" sz="2800" dirty="0"/>
              <a:t> India's distribution network relies on a vast, geographically dispersed fleet of transformers.</a:t>
            </a:r>
          </a:p>
          <a:p>
            <a:pPr lvl="0"/>
            <a:r>
              <a:rPr lang="en-US" sz="2800" b="1" dirty="0"/>
              <a:t>Continuous operating stress:</a:t>
            </a:r>
            <a:r>
              <a:rPr lang="en-US" sz="2800" dirty="0"/>
              <a:t> Loading variations, ambient temperature, voltage imbalance, and changing demand</a:t>
            </a:r>
          </a:p>
          <a:p>
            <a:pPr lvl="0"/>
            <a:r>
              <a:rPr lang="en-US" sz="2800" dirty="0"/>
              <a:t>affect operating conditions.</a:t>
            </a:r>
          </a:p>
          <a:p>
            <a:r>
              <a:rPr lang="en-US" sz="2800" b="1" dirty="0"/>
              <a:t>The challenge</a:t>
            </a:r>
            <a:endParaRPr lang="en-US" sz="2800" dirty="0"/>
          </a:p>
          <a:p>
            <a:pPr lvl="0"/>
            <a:r>
              <a:rPr lang="en-US" sz="2800" dirty="0"/>
              <a:t>Overloading and thermal stress can accelerate insulation ageing.</a:t>
            </a:r>
          </a:p>
          <a:p>
            <a:pPr lvl="0"/>
            <a:r>
              <a:rPr lang="en-US" sz="2800" dirty="0"/>
              <a:t>Phase imbalance, abnormal voltage, and oil-related issues can indicate deteriorating conditions.</a:t>
            </a:r>
          </a:p>
          <a:p>
            <a:pPr lvl="0"/>
            <a:r>
              <a:rPr lang="en-US" sz="2800" dirty="0"/>
              <a:t>Limited continuous monitoring makes early detection and condition assessment difficult.</a:t>
            </a:r>
          </a:p>
          <a:p>
            <a:pPr lvl="0"/>
            <a:r>
              <a:rPr lang="en-US" sz="2800" dirty="0"/>
              <a:t>Reactive maintenance can mean faults are discovered only after service is affected.</a:t>
            </a:r>
          </a:p>
          <a:p>
            <a:r>
              <a:rPr lang="en-US" sz="2800" b="1" dirty="0"/>
              <a:t>The need:</a:t>
            </a:r>
            <a:r>
              <a:rPr lang="en-US" sz="2800" dirty="0"/>
              <a:t> Move from reactive maintenance towards data-driven, continuous transformer condition monitoring.</a:t>
            </a:r>
          </a:p>
          <a:p>
            <a:pPr algn="l">
              <a:defRPr sz="2700" b="0">
                <a:solidFill>
                  <a:srgbClr val="536675"/>
                </a:solidFill>
                <a:latin typeface="Nimbus Sans"/>
                <a:ea typeface="Nimbus Sans"/>
                <a:cs typeface="Nimbus Sans"/>
              </a:defRPr>
            </a:pPr>
            <a:endParaRPr sz="2700" b="0" dirty="0">
              <a:solidFill>
                <a:srgbClr val="536675"/>
              </a:solidFill>
              <a:latin typeface="Nimbus Sans"/>
              <a:ea typeface="Nimbus Sans"/>
              <a:cs typeface="Nimbus Sans"/>
            </a:endParaRPr>
          </a:p>
        </p:txBody>
      </p:sp>
      <p:sp>
        <p:nvSpPr>
          <p:cNvPr id="18" name="Rectangle 17">
            <a:extLst>
              <a:ext uri="{FF2B5EF4-FFF2-40B4-BE49-F238E27FC236}">
                <a16:creationId xmlns:a16="http://schemas.microsoft.com/office/drawing/2014/main" id="{A94BFFE8-E459-42C3-9521-965794170FB1}"/>
              </a:ext>
            </a:extLst>
          </p:cNvPr>
          <p:cNvSpPr>
            <a:spLocks noGrp="1"/>
          </p:cNvSpPr>
          <p:nvPr/>
        </p:nvSpPr>
        <p:spPr>
          <a:xfrm>
            <a:off x="5931924" y="315001"/>
            <a:ext cx="10668000" cy="406908"/>
          </a:xfrm>
          <a:prstGeom prst="rect">
            <a:avLst/>
          </a:prstGeom>
          <a:noFill/>
          <a:ln w="0">
            <a:noFill/>
            <a:prstDash val="solid"/>
          </a:ln>
        </p:spPr>
        <p:txBody>
          <a:bodyPr wrap="none" lIns="0" tIns="0" rIns="0" bIns="0" anchor="t">
            <a:noAutofit/>
          </a:bodyPr>
          <a:lstStyle>
            <a:defPPr algn="l">
              <a:defRPr sz="2100" b="1">
                <a:solidFill>
                  <a:srgbClr val="087E98"/>
                </a:solidFill>
                <a:latin typeface="Nimbus Sans"/>
                <a:ea typeface="Nimbus Sans"/>
                <a:cs typeface="Nimbus Sans"/>
              </a:defRPr>
            </a:defPPr>
          </a:lstStyle>
          <a:p>
            <a:pPr algn="l">
              <a:defRPr sz="2100" b="1">
                <a:solidFill>
                  <a:srgbClr val="087E98"/>
                </a:solidFill>
                <a:latin typeface="Nimbus Sans"/>
                <a:ea typeface="Nimbus Sans"/>
                <a:cs typeface="Nimbus Sans"/>
              </a:defRPr>
            </a:pPr>
            <a:r>
              <a:rPr sz="2100" b="1" dirty="0" err="1">
                <a:solidFill>
                  <a:srgbClr val="087E98"/>
                </a:solidFill>
                <a:latin typeface="Nimbus Sans"/>
                <a:ea typeface="Nimbus Sans"/>
                <a:cs typeface="Nimbus Sans"/>
              </a:rPr>
              <a:t>POWERNext</a:t>
            </a:r>
            <a:r>
              <a:rPr sz="2100" b="1" dirty="0">
                <a:solidFill>
                  <a:srgbClr val="087E98"/>
                </a:solidFill>
                <a:latin typeface="Nimbus Sans"/>
                <a:ea typeface="Nimbus Sans"/>
                <a:cs typeface="Nimbus Sans"/>
              </a:rPr>
              <a:t>-AI 2026 · Track 2 · 10–11 Oct 2026</a:t>
            </a:r>
          </a:p>
        </p:txBody>
      </p:sp>
      <p:pic>
        <p:nvPicPr>
          <p:cNvPr id="21" name="Picture 20" descr="Distribution Transformer Manufacturer in Hyderabad | Trinity Cleantech">
            <a:extLst>
              <a:ext uri="{FF2B5EF4-FFF2-40B4-BE49-F238E27FC236}">
                <a16:creationId xmlns:a16="http://schemas.microsoft.com/office/drawing/2014/main" id="{DEDFCE8B-1EB2-C1E0-317E-04758F3BF2C0}"/>
              </a:ext>
            </a:extLst>
          </p:cNvPr>
          <p:cNvPicPr>
            <a:picLocks noChangeAspect="1"/>
          </p:cNvPicPr>
          <p:nvPr/>
        </p:nvPicPr>
        <p:blipFill>
          <a:blip r:embed="rId3"/>
          <a:stretch>
            <a:fillRect/>
          </a:stretch>
        </p:blipFill>
        <p:spPr>
          <a:xfrm>
            <a:off x="7374194" y="966683"/>
            <a:ext cx="4689988" cy="3126659"/>
          </a:xfrm>
          <a:prstGeom prst="rect">
            <a:avLst/>
          </a:prstGeom>
        </p:spPr>
      </p:pic>
      <p:pic>
        <p:nvPicPr>
          <p:cNvPr id="22" name="Picture 21" descr="Distribution Transformer : Construction, Types and Its Uses">
            <a:extLst>
              <a:ext uri="{FF2B5EF4-FFF2-40B4-BE49-F238E27FC236}">
                <a16:creationId xmlns:a16="http://schemas.microsoft.com/office/drawing/2014/main" id="{37A16A14-663E-2221-9712-06E24CCE11B8}"/>
              </a:ext>
            </a:extLst>
          </p:cNvPr>
          <p:cNvPicPr>
            <a:picLocks noChangeAspect="1"/>
          </p:cNvPicPr>
          <p:nvPr/>
        </p:nvPicPr>
        <p:blipFill>
          <a:blip r:embed="rId4"/>
          <a:stretch>
            <a:fillRect/>
          </a:stretch>
        </p:blipFill>
        <p:spPr>
          <a:xfrm>
            <a:off x="12615049" y="1101262"/>
            <a:ext cx="4572000" cy="2857500"/>
          </a:xfrm>
          <a:prstGeom prst="rect">
            <a:avLst/>
          </a:prstGeom>
        </p:spPr>
      </p:pic>
    </p:spTree>
    <p:extLst>
      <p:ext uri="{BB962C8B-B14F-4D97-AF65-F5344CB8AC3E}">
        <p14:creationId xmlns:p14="http://schemas.microsoft.com/office/powerpoint/2010/main" val="1599467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C95D08-3136-4AC2-9890-A5E08EDB518D}"/>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9D88E1C0-1DDA-4F18-A3DA-93A8326BA145}"/>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02</a:t>
            </a:r>
          </a:p>
        </p:txBody>
      </p:sp>
      <p:sp>
        <p:nvSpPr>
          <p:cNvPr id="3" name="Rectangle 2">
            <a:extLst>
              <a:ext uri="{FF2B5EF4-FFF2-40B4-BE49-F238E27FC236}">
                <a16:creationId xmlns:a16="http://schemas.microsoft.com/office/drawing/2014/main" id="{B27053C4-A8ED-42DD-BA63-B4F66C8CB150}"/>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dirty="0">
                <a:solidFill>
                  <a:srgbClr val="172B3A"/>
                </a:solidFill>
                <a:latin typeface="Nimbus Sans"/>
                <a:ea typeface="Nimbus Sans"/>
                <a:cs typeface="Nimbus Sans"/>
              </a:rPr>
              <a:t>How the twin supports a decision</a:t>
            </a:r>
          </a:p>
        </p:txBody>
      </p:sp>
      <p:sp>
        <p:nvSpPr>
          <p:cNvPr id="4" name="Rectangle 3">
            <a:extLst>
              <a:ext uri="{FF2B5EF4-FFF2-40B4-BE49-F238E27FC236}">
                <a16:creationId xmlns:a16="http://schemas.microsoft.com/office/drawing/2014/main" id="{2BC77A7E-7179-4C36-9A96-F5713D77D752}"/>
              </a:ext>
            </a:extLst>
          </p:cNvPr>
          <p:cNvSpPr>
            <a:spLocks noGrp="1"/>
          </p:cNvSpPr>
          <p:nvPr/>
        </p:nvSpPr>
        <p:spPr>
          <a:xfrm>
            <a:off x="762000" y="1838325"/>
            <a:ext cx="16764000" cy="9525"/>
          </a:xfrm>
          <a:prstGeom prst="rect">
            <a:avLst/>
          </a:prstGeom>
          <a:noFill/>
          <a:ln w="14288">
            <a:solidFill>
              <a:srgbClr val="D9E2E7"/>
            </a:solidFill>
            <a:prstDash val="solid"/>
          </a:ln>
        </p:spPr>
        <p:txBody>
          <a:bodyPr/>
          <a:lstStyle/>
          <a:p>
            <a:endParaRPr lang="en-US"/>
          </a:p>
        </p:txBody>
      </p:sp>
      <p:pic>
        <p:nvPicPr>
          <p:cNvPr id="23" name="Picture 22">
            <a:extLst>
              <a:ext uri="{FF2B5EF4-FFF2-40B4-BE49-F238E27FC236}">
                <a16:creationId xmlns:a16="http://schemas.microsoft.com/office/drawing/2014/main" id="{1CA992A4-FA84-01BD-1DFC-D0594E974EC2}"/>
              </a:ext>
            </a:extLst>
          </p:cNvPr>
          <p:cNvPicPr>
            <a:picLocks noChangeAspect="1"/>
          </p:cNvPicPr>
          <p:nvPr/>
        </p:nvPicPr>
        <p:blipFill>
          <a:blip r:embed="rId3"/>
          <a:stretch>
            <a:fillRect/>
          </a:stretch>
        </p:blipFill>
        <p:spPr>
          <a:xfrm>
            <a:off x="8382000" y="3081162"/>
            <a:ext cx="9389806" cy="5099838"/>
          </a:xfrm>
          <a:prstGeom prst="rect">
            <a:avLst/>
          </a:prstGeom>
        </p:spPr>
      </p:pic>
      <p:sp>
        <p:nvSpPr>
          <p:cNvPr id="25" name="TextBox 24">
            <a:extLst>
              <a:ext uri="{FF2B5EF4-FFF2-40B4-BE49-F238E27FC236}">
                <a16:creationId xmlns:a16="http://schemas.microsoft.com/office/drawing/2014/main" id="{4B19BC99-6E7B-5E1C-FE8C-E67D7D2E38EA}"/>
              </a:ext>
            </a:extLst>
          </p:cNvPr>
          <p:cNvSpPr txBox="1"/>
          <p:nvPr/>
        </p:nvSpPr>
        <p:spPr>
          <a:xfrm>
            <a:off x="516194" y="1977390"/>
            <a:ext cx="7620000" cy="8279190"/>
          </a:xfrm>
          <a:prstGeom prst="rect">
            <a:avLst/>
          </a:prstGeom>
          <a:noFill/>
        </p:spPr>
        <p:txBody>
          <a:bodyPr wrap="square">
            <a:spAutoFit/>
          </a:bodyPr>
          <a:lstStyle/>
          <a:p>
            <a:pPr marL="342900" lvl="0" indent="-342900">
              <a:buFont typeface="Arial" panose="020B0604020202020204" pitchFamily="34" charset="0"/>
              <a:buChar char="•"/>
            </a:pPr>
            <a:r>
              <a:rPr lang="en-US" sz="2800" dirty="0"/>
              <a:t>Telemetry Ingestion — Ingest transformer data through the appropriate dataset adapter.</a:t>
            </a:r>
          </a:p>
          <a:p>
            <a:pPr marL="342900" lvl="0" indent="-342900">
              <a:buFont typeface="Arial" panose="020B0604020202020204" pitchFamily="34" charset="0"/>
              <a:buChar char="•"/>
            </a:pPr>
            <a:r>
              <a:rPr lang="en-US" sz="2800" dirty="0"/>
              <a:t>Validation &amp; Normalization — Validate and standardize measurements.</a:t>
            </a:r>
          </a:p>
          <a:p>
            <a:pPr marL="342900" lvl="0" indent="-342900">
              <a:buFont typeface="Arial" panose="020B0604020202020204" pitchFamily="34" charset="0"/>
              <a:buChar char="•"/>
            </a:pPr>
            <a:r>
              <a:rPr lang="en-US" sz="2800" dirty="0"/>
              <a:t>Capability Assessment — Determine which models and analytical capabilities are usable.</a:t>
            </a:r>
          </a:p>
          <a:p>
            <a:pPr marL="342900" lvl="0" indent="-342900">
              <a:buFont typeface="Arial" panose="020B0604020202020204" pitchFamily="34" charset="0"/>
              <a:buChar char="•"/>
            </a:pPr>
            <a:r>
              <a:rPr lang="en-US" sz="2800" dirty="0"/>
              <a:t>Thermal Modeling &amp; Anomaly Detection — Run physics-based thermal estimation and anomaly detectors.</a:t>
            </a:r>
          </a:p>
          <a:p>
            <a:pPr marL="342900" lvl="0" indent="-342900">
              <a:buFont typeface="Arial" panose="020B0604020202020204" pitchFamily="34" charset="0"/>
              <a:buChar char="•"/>
            </a:pPr>
            <a:r>
              <a:rPr lang="en-US" sz="2800" dirty="0"/>
              <a:t>Evidence Evaluation — Convert eligible findings into domain-level severities.</a:t>
            </a:r>
          </a:p>
          <a:p>
            <a:pPr marL="342900" lvl="0" indent="-342900">
              <a:buFont typeface="Arial" panose="020B0604020202020204" pitchFamily="34" charset="0"/>
              <a:buChar char="•"/>
            </a:pPr>
            <a:r>
              <a:rPr lang="en-US" sz="2800" dirty="0"/>
              <a:t>Health Scoring (OTHI) — Aggregate domain severities into the overall transformer health index.</a:t>
            </a:r>
          </a:p>
          <a:p>
            <a:pPr marL="342900" lvl="0" indent="-342900">
              <a:buFont typeface="Arial" panose="020B0604020202020204" pitchFamily="34" charset="0"/>
              <a:buChar char="•"/>
            </a:pPr>
            <a:r>
              <a:rPr lang="en-US" sz="2800" dirty="0"/>
              <a:t>Protection Logic — Apply critical protection-state rules and trip-latch handling.</a:t>
            </a:r>
          </a:p>
          <a:p>
            <a:pPr marL="342900" lvl="0" indent="-342900">
              <a:buFont typeface="Arial" panose="020B0604020202020204" pitchFamily="34" charset="0"/>
              <a:buChar char="•"/>
            </a:pPr>
            <a:r>
              <a:rPr lang="en-US" sz="2800" dirty="0"/>
              <a:t>Visualization &amp; Advisories — Display OTHI, supporting evidence, and maintenance advisories.</a:t>
            </a:r>
          </a:p>
        </p:txBody>
      </p:sp>
    </p:spTree>
    <p:extLst>
      <p:ext uri="{BB962C8B-B14F-4D97-AF65-F5344CB8AC3E}">
        <p14:creationId xmlns:p14="http://schemas.microsoft.com/office/powerpoint/2010/main" val="60474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041DA80A-9EFF-4D68-B581-430AC5F6EFE9}"/>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6FD5D3A5-938B-4A52-9B6E-FDA08EA02998}"/>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03</a:t>
            </a:r>
          </a:p>
        </p:txBody>
      </p:sp>
      <p:sp>
        <p:nvSpPr>
          <p:cNvPr id="3" name="Rectangle 2">
            <a:extLst>
              <a:ext uri="{FF2B5EF4-FFF2-40B4-BE49-F238E27FC236}">
                <a16:creationId xmlns:a16="http://schemas.microsoft.com/office/drawing/2014/main" id="{34F08096-514C-41DB-BF4B-0CFE8960CE6D}"/>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a:solidFill>
                  <a:srgbClr val="172B3A"/>
                </a:solidFill>
                <a:latin typeface="Nimbus Sans"/>
                <a:ea typeface="Nimbus Sans"/>
                <a:cs typeface="Nimbus Sans"/>
              </a:rPr>
              <a:t>System architecture</a:t>
            </a:r>
          </a:p>
        </p:txBody>
      </p:sp>
      <p:sp>
        <p:nvSpPr>
          <p:cNvPr id="4" name="Rectangle 3">
            <a:extLst>
              <a:ext uri="{FF2B5EF4-FFF2-40B4-BE49-F238E27FC236}">
                <a16:creationId xmlns:a16="http://schemas.microsoft.com/office/drawing/2014/main" id="{B277820E-043A-4D09-8491-9ACB95E25C1B}"/>
              </a:ext>
            </a:extLst>
          </p:cNvPr>
          <p:cNvSpPr>
            <a:spLocks noGrp="1"/>
          </p:cNvSpPr>
          <p:nvPr/>
        </p:nvSpPr>
        <p:spPr>
          <a:xfrm>
            <a:off x="762000" y="1838325"/>
            <a:ext cx="16764000" cy="9525"/>
          </a:xfrm>
          <a:prstGeom prst="rect">
            <a:avLst/>
          </a:prstGeom>
          <a:noFill/>
          <a:ln w="14288">
            <a:solidFill>
              <a:srgbClr val="D9E2E7"/>
            </a:solidFill>
            <a:prstDash val="solid"/>
          </a:ln>
        </p:spPr>
        <p:txBody>
          <a:bodyPr/>
          <a:lstStyle/>
          <a:p>
            <a:endParaRPr lang="en-US"/>
          </a:p>
        </p:txBody>
      </p:sp>
      <p:sp>
        <p:nvSpPr>
          <p:cNvPr id="6" name="Rectangle 5">
            <a:extLst>
              <a:ext uri="{FF2B5EF4-FFF2-40B4-BE49-F238E27FC236}">
                <a16:creationId xmlns:a16="http://schemas.microsoft.com/office/drawing/2014/main" id="{CEA57C47-F765-4A71-8EFD-0884DB541E45}"/>
              </a:ext>
            </a:extLst>
          </p:cNvPr>
          <p:cNvSpPr>
            <a:spLocks noGrp="1"/>
          </p:cNvSpPr>
          <p:nvPr/>
        </p:nvSpPr>
        <p:spPr>
          <a:xfrm>
            <a:off x="762000" y="2952750"/>
            <a:ext cx="2524125" cy="2095500"/>
          </a:xfrm>
          <a:prstGeom prst="rect">
            <a:avLst/>
          </a:prstGeom>
          <a:noFill/>
          <a:ln w="14288">
            <a:solidFill>
              <a:srgbClr val="D9E2E7"/>
            </a:solidFill>
            <a:prstDash val="solid"/>
          </a:ln>
        </p:spPr>
        <p:txBody>
          <a:bodyPr/>
          <a:lstStyle/>
          <a:p>
            <a:endParaRPr lang="en-US"/>
          </a:p>
        </p:txBody>
      </p:sp>
      <p:sp>
        <p:nvSpPr>
          <p:cNvPr id="7" name="Rectangle 6">
            <a:extLst>
              <a:ext uri="{FF2B5EF4-FFF2-40B4-BE49-F238E27FC236}">
                <a16:creationId xmlns:a16="http://schemas.microsoft.com/office/drawing/2014/main" id="{5A08974A-BC6F-46DD-8055-DAE4F3529FA4}"/>
              </a:ext>
            </a:extLst>
          </p:cNvPr>
          <p:cNvSpPr>
            <a:spLocks noGrp="1"/>
          </p:cNvSpPr>
          <p:nvPr/>
        </p:nvSpPr>
        <p:spPr>
          <a:xfrm>
            <a:off x="933450" y="3105150"/>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01</a:t>
            </a:r>
          </a:p>
        </p:txBody>
      </p:sp>
      <p:sp>
        <p:nvSpPr>
          <p:cNvPr id="8" name="Rectangle 7">
            <a:extLst>
              <a:ext uri="{FF2B5EF4-FFF2-40B4-BE49-F238E27FC236}">
                <a16:creationId xmlns:a16="http://schemas.microsoft.com/office/drawing/2014/main" id="{5D7B60BF-8FC8-4171-9165-9249BD8F353D}"/>
              </a:ext>
            </a:extLst>
          </p:cNvPr>
          <p:cNvSpPr>
            <a:spLocks noGrp="1"/>
          </p:cNvSpPr>
          <p:nvPr/>
        </p:nvSpPr>
        <p:spPr>
          <a:xfrm>
            <a:off x="933450" y="3457575"/>
            <a:ext cx="2190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Raw telemetry</a:t>
            </a:r>
          </a:p>
        </p:txBody>
      </p:sp>
      <p:sp>
        <p:nvSpPr>
          <p:cNvPr id="9" name="Rectangle 8">
            <a:extLst>
              <a:ext uri="{FF2B5EF4-FFF2-40B4-BE49-F238E27FC236}">
                <a16:creationId xmlns:a16="http://schemas.microsoft.com/office/drawing/2014/main" id="{8AB44C2D-CB9E-4133-977F-7B840BF5FD76}"/>
              </a:ext>
            </a:extLst>
          </p:cNvPr>
          <p:cNvSpPr>
            <a:spLocks noGrp="1"/>
          </p:cNvSpPr>
          <p:nvPr/>
        </p:nvSpPr>
        <p:spPr>
          <a:xfrm>
            <a:off x="933450" y="4333875"/>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CSV / canonical</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REST</a:t>
            </a:r>
          </a:p>
        </p:txBody>
      </p:sp>
      <p:sp>
        <p:nvSpPr>
          <p:cNvPr id="10" name="Rectangle 9">
            <a:extLst>
              <a:ext uri="{FF2B5EF4-FFF2-40B4-BE49-F238E27FC236}">
                <a16:creationId xmlns:a16="http://schemas.microsoft.com/office/drawing/2014/main" id="{D957C768-533B-42D2-9B6C-C6316FD38AD7}"/>
              </a:ext>
            </a:extLst>
          </p:cNvPr>
          <p:cNvSpPr>
            <a:spLocks noGrp="1"/>
          </p:cNvSpPr>
          <p:nvPr/>
        </p:nvSpPr>
        <p:spPr>
          <a:xfrm>
            <a:off x="3305175" y="3743325"/>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11" name="Rectangle 10">
            <a:extLst>
              <a:ext uri="{FF2B5EF4-FFF2-40B4-BE49-F238E27FC236}">
                <a16:creationId xmlns:a16="http://schemas.microsoft.com/office/drawing/2014/main" id="{D5653901-37B0-445E-B694-BE4ADCA80FB7}"/>
              </a:ext>
            </a:extLst>
          </p:cNvPr>
          <p:cNvSpPr>
            <a:spLocks noGrp="1"/>
          </p:cNvSpPr>
          <p:nvPr/>
        </p:nvSpPr>
        <p:spPr>
          <a:xfrm>
            <a:off x="3581400" y="2952750"/>
            <a:ext cx="2524125" cy="2095500"/>
          </a:xfrm>
          <a:prstGeom prst="rect">
            <a:avLst/>
          </a:prstGeom>
          <a:noFill/>
          <a:ln w="14288">
            <a:solidFill>
              <a:srgbClr val="D9E2E7"/>
            </a:solidFill>
            <a:prstDash val="solid"/>
          </a:ln>
        </p:spPr>
        <p:txBody>
          <a:bodyPr/>
          <a:lstStyle/>
          <a:p>
            <a:endParaRPr lang="en-US"/>
          </a:p>
        </p:txBody>
      </p:sp>
      <p:sp>
        <p:nvSpPr>
          <p:cNvPr id="12" name="Rectangle 11">
            <a:extLst>
              <a:ext uri="{FF2B5EF4-FFF2-40B4-BE49-F238E27FC236}">
                <a16:creationId xmlns:a16="http://schemas.microsoft.com/office/drawing/2014/main" id="{4EA1B703-1880-4D68-82E1-EA0A20CB9609}"/>
              </a:ext>
            </a:extLst>
          </p:cNvPr>
          <p:cNvSpPr>
            <a:spLocks noGrp="1"/>
          </p:cNvSpPr>
          <p:nvPr/>
        </p:nvSpPr>
        <p:spPr>
          <a:xfrm>
            <a:off x="3752850" y="3105150"/>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02</a:t>
            </a:r>
          </a:p>
        </p:txBody>
      </p:sp>
      <p:sp>
        <p:nvSpPr>
          <p:cNvPr id="13" name="Rectangle 12">
            <a:extLst>
              <a:ext uri="{FF2B5EF4-FFF2-40B4-BE49-F238E27FC236}">
                <a16:creationId xmlns:a16="http://schemas.microsoft.com/office/drawing/2014/main" id="{6E52AC0A-0BBA-49A6-8A09-32CD96A90736}"/>
              </a:ext>
            </a:extLst>
          </p:cNvPr>
          <p:cNvSpPr>
            <a:spLocks noGrp="1"/>
          </p:cNvSpPr>
          <p:nvPr/>
        </p:nvSpPr>
        <p:spPr>
          <a:xfrm>
            <a:off x="3752850" y="3457575"/>
            <a:ext cx="2190750" cy="808482"/>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Source</a:t>
            </a:r>
          </a:p>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adapters</a:t>
            </a:r>
          </a:p>
        </p:txBody>
      </p:sp>
      <p:sp>
        <p:nvSpPr>
          <p:cNvPr id="14" name="Rectangle 13">
            <a:extLst>
              <a:ext uri="{FF2B5EF4-FFF2-40B4-BE49-F238E27FC236}">
                <a16:creationId xmlns:a16="http://schemas.microsoft.com/office/drawing/2014/main" id="{24F53EF7-B3D4-406A-A6B0-1FFB3222AD06}"/>
              </a:ext>
            </a:extLst>
          </p:cNvPr>
          <p:cNvSpPr>
            <a:spLocks noGrp="1"/>
          </p:cNvSpPr>
          <p:nvPr/>
        </p:nvSpPr>
        <p:spPr>
          <a:xfrm>
            <a:off x="3752850" y="4333875"/>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Keep datasets</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separate</a:t>
            </a:r>
          </a:p>
        </p:txBody>
      </p:sp>
      <p:sp>
        <p:nvSpPr>
          <p:cNvPr id="15" name="Rectangle 14">
            <a:extLst>
              <a:ext uri="{FF2B5EF4-FFF2-40B4-BE49-F238E27FC236}">
                <a16:creationId xmlns:a16="http://schemas.microsoft.com/office/drawing/2014/main" id="{CF901C86-D3B5-4EEB-90D8-3D8174120243}"/>
              </a:ext>
            </a:extLst>
          </p:cNvPr>
          <p:cNvSpPr>
            <a:spLocks noGrp="1"/>
          </p:cNvSpPr>
          <p:nvPr/>
        </p:nvSpPr>
        <p:spPr>
          <a:xfrm>
            <a:off x="6124575" y="3743325"/>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16" name="Rectangle 15">
            <a:extLst>
              <a:ext uri="{FF2B5EF4-FFF2-40B4-BE49-F238E27FC236}">
                <a16:creationId xmlns:a16="http://schemas.microsoft.com/office/drawing/2014/main" id="{32ACE5DB-4D63-4315-B53B-0E06E71E371A}"/>
              </a:ext>
            </a:extLst>
          </p:cNvPr>
          <p:cNvSpPr>
            <a:spLocks noGrp="1"/>
          </p:cNvSpPr>
          <p:nvPr/>
        </p:nvSpPr>
        <p:spPr>
          <a:xfrm>
            <a:off x="6400800" y="2952750"/>
            <a:ext cx="2524125" cy="2095500"/>
          </a:xfrm>
          <a:prstGeom prst="rect">
            <a:avLst/>
          </a:prstGeom>
          <a:noFill/>
          <a:ln w="14288">
            <a:solidFill>
              <a:srgbClr val="D9E2E7"/>
            </a:solidFill>
            <a:prstDash val="solid"/>
          </a:ln>
        </p:spPr>
        <p:txBody>
          <a:bodyPr/>
          <a:lstStyle/>
          <a:p>
            <a:endParaRPr lang="en-US"/>
          </a:p>
        </p:txBody>
      </p:sp>
      <p:sp>
        <p:nvSpPr>
          <p:cNvPr id="17" name="Rectangle 16">
            <a:extLst>
              <a:ext uri="{FF2B5EF4-FFF2-40B4-BE49-F238E27FC236}">
                <a16:creationId xmlns:a16="http://schemas.microsoft.com/office/drawing/2014/main" id="{984E7D7B-F9BB-4613-B184-A138F93B80B0}"/>
              </a:ext>
            </a:extLst>
          </p:cNvPr>
          <p:cNvSpPr>
            <a:spLocks noGrp="1"/>
          </p:cNvSpPr>
          <p:nvPr/>
        </p:nvSpPr>
        <p:spPr>
          <a:xfrm>
            <a:off x="6572250" y="3105150"/>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03</a:t>
            </a:r>
          </a:p>
        </p:txBody>
      </p:sp>
      <p:sp>
        <p:nvSpPr>
          <p:cNvPr id="18" name="Rectangle 17">
            <a:extLst>
              <a:ext uri="{FF2B5EF4-FFF2-40B4-BE49-F238E27FC236}">
                <a16:creationId xmlns:a16="http://schemas.microsoft.com/office/drawing/2014/main" id="{0DD06826-128C-416B-97B7-C837FEA60886}"/>
              </a:ext>
            </a:extLst>
          </p:cNvPr>
          <p:cNvSpPr>
            <a:spLocks noGrp="1"/>
          </p:cNvSpPr>
          <p:nvPr/>
        </p:nvSpPr>
        <p:spPr>
          <a:xfrm>
            <a:off x="6572250" y="3457575"/>
            <a:ext cx="2190750" cy="808482"/>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Canonical</a:t>
            </a:r>
          </a:p>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quality</a:t>
            </a:r>
          </a:p>
        </p:txBody>
      </p:sp>
      <p:sp>
        <p:nvSpPr>
          <p:cNvPr id="19" name="Rectangle 18">
            <a:extLst>
              <a:ext uri="{FF2B5EF4-FFF2-40B4-BE49-F238E27FC236}">
                <a16:creationId xmlns:a16="http://schemas.microsoft.com/office/drawing/2014/main" id="{26C18897-50E0-407B-8729-C13B29757516}"/>
              </a:ext>
            </a:extLst>
          </p:cNvPr>
          <p:cNvSpPr>
            <a:spLocks noGrp="1"/>
          </p:cNvSpPr>
          <p:nvPr/>
        </p:nvSpPr>
        <p:spPr>
          <a:xfrm>
            <a:off x="6572250" y="4333875"/>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Units, UTC,</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provenance</a:t>
            </a:r>
          </a:p>
        </p:txBody>
      </p:sp>
      <p:sp>
        <p:nvSpPr>
          <p:cNvPr id="20" name="Rectangle 19">
            <a:extLst>
              <a:ext uri="{FF2B5EF4-FFF2-40B4-BE49-F238E27FC236}">
                <a16:creationId xmlns:a16="http://schemas.microsoft.com/office/drawing/2014/main" id="{8F6693D3-8E36-4FB4-877F-B0C215E38724}"/>
              </a:ext>
            </a:extLst>
          </p:cNvPr>
          <p:cNvSpPr>
            <a:spLocks noGrp="1"/>
          </p:cNvSpPr>
          <p:nvPr/>
        </p:nvSpPr>
        <p:spPr>
          <a:xfrm>
            <a:off x="8943975" y="3743325"/>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21" name="Rectangle 20">
            <a:extLst>
              <a:ext uri="{FF2B5EF4-FFF2-40B4-BE49-F238E27FC236}">
                <a16:creationId xmlns:a16="http://schemas.microsoft.com/office/drawing/2014/main" id="{B74CFC81-C599-4B21-A5BE-D319F305DA9C}"/>
              </a:ext>
            </a:extLst>
          </p:cNvPr>
          <p:cNvSpPr>
            <a:spLocks noGrp="1"/>
          </p:cNvSpPr>
          <p:nvPr/>
        </p:nvSpPr>
        <p:spPr>
          <a:xfrm>
            <a:off x="9220200" y="2952750"/>
            <a:ext cx="2524125" cy="2095500"/>
          </a:xfrm>
          <a:prstGeom prst="rect">
            <a:avLst/>
          </a:prstGeom>
          <a:noFill/>
          <a:ln w="14288">
            <a:solidFill>
              <a:srgbClr val="D9E2E7"/>
            </a:solidFill>
            <a:prstDash val="solid"/>
          </a:ln>
        </p:spPr>
        <p:txBody>
          <a:bodyPr/>
          <a:lstStyle/>
          <a:p>
            <a:endParaRPr lang="en-US"/>
          </a:p>
        </p:txBody>
      </p:sp>
      <p:sp>
        <p:nvSpPr>
          <p:cNvPr id="22" name="Rectangle 21">
            <a:extLst>
              <a:ext uri="{FF2B5EF4-FFF2-40B4-BE49-F238E27FC236}">
                <a16:creationId xmlns:a16="http://schemas.microsoft.com/office/drawing/2014/main" id="{68CB8DAF-C740-4EF1-94A7-38005D02953F}"/>
              </a:ext>
            </a:extLst>
          </p:cNvPr>
          <p:cNvSpPr>
            <a:spLocks noGrp="1"/>
          </p:cNvSpPr>
          <p:nvPr/>
        </p:nvSpPr>
        <p:spPr>
          <a:xfrm>
            <a:off x="9391650" y="3105150"/>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04</a:t>
            </a:r>
          </a:p>
        </p:txBody>
      </p:sp>
      <p:sp>
        <p:nvSpPr>
          <p:cNvPr id="23" name="Rectangle 22">
            <a:extLst>
              <a:ext uri="{FF2B5EF4-FFF2-40B4-BE49-F238E27FC236}">
                <a16:creationId xmlns:a16="http://schemas.microsoft.com/office/drawing/2014/main" id="{5FA4491B-C25D-4A93-95B4-B614FAF0E410}"/>
              </a:ext>
            </a:extLst>
          </p:cNvPr>
          <p:cNvSpPr>
            <a:spLocks noGrp="1"/>
          </p:cNvSpPr>
          <p:nvPr/>
        </p:nvSpPr>
        <p:spPr>
          <a:xfrm>
            <a:off x="9391650" y="3457575"/>
            <a:ext cx="2190750" cy="808482"/>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Electrical</a:t>
            </a:r>
          </a:p>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features</a:t>
            </a:r>
          </a:p>
        </p:txBody>
      </p:sp>
      <p:sp>
        <p:nvSpPr>
          <p:cNvPr id="24" name="Rectangle 23">
            <a:extLst>
              <a:ext uri="{FF2B5EF4-FFF2-40B4-BE49-F238E27FC236}">
                <a16:creationId xmlns:a16="http://schemas.microsoft.com/office/drawing/2014/main" id="{39B4C22A-9E9F-4A2E-B698-67FF0BB8690B}"/>
              </a:ext>
            </a:extLst>
          </p:cNvPr>
          <p:cNvSpPr>
            <a:spLocks noGrp="1"/>
          </p:cNvSpPr>
          <p:nvPr/>
        </p:nvSpPr>
        <p:spPr>
          <a:xfrm>
            <a:off x="9391650" y="4333875"/>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S, PF, load,</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imbalance</a:t>
            </a:r>
          </a:p>
        </p:txBody>
      </p:sp>
      <p:sp>
        <p:nvSpPr>
          <p:cNvPr id="25" name="Rectangle 24">
            <a:extLst>
              <a:ext uri="{FF2B5EF4-FFF2-40B4-BE49-F238E27FC236}">
                <a16:creationId xmlns:a16="http://schemas.microsoft.com/office/drawing/2014/main" id="{00380823-5F21-4D48-A37E-FFC61C847877}"/>
              </a:ext>
            </a:extLst>
          </p:cNvPr>
          <p:cNvSpPr>
            <a:spLocks noGrp="1"/>
          </p:cNvSpPr>
          <p:nvPr/>
        </p:nvSpPr>
        <p:spPr>
          <a:xfrm>
            <a:off x="11763375" y="3743325"/>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26" name="Rectangle 25">
            <a:extLst>
              <a:ext uri="{FF2B5EF4-FFF2-40B4-BE49-F238E27FC236}">
                <a16:creationId xmlns:a16="http://schemas.microsoft.com/office/drawing/2014/main" id="{3CFEC264-BDB9-4321-87AA-8752AE577815}"/>
              </a:ext>
            </a:extLst>
          </p:cNvPr>
          <p:cNvSpPr>
            <a:spLocks noGrp="1"/>
          </p:cNvSpPr>
          <p:nvPr/>
        </p:nvSpPr>
        <p:spPr>
          <a:xfrm>
            <a:off x="12039600" y="2952750"/>
            <a:ext cx="2524125" cy="2095500"/>
          </a:xfrm>
          <a:prstGeom prst="rect">
            <a:avLst/>
          </a:prstGeom>
          <a:noFill/>
          <a:ln w="14288">
            <a:solidFill>
              <a:srgbClr val="D9E2E7"/>
            </a:solidFill>
            <a:prstDash val="solid"/>
          </a:ln>
        </p:spPr>
        <p:txBody>
          <a:bodyPr/>
          <a:lstStyle/>
          <a:p>
            <a:endParaRPr lang="en-US"/>
          </a:p>
        </p:txBody>
      </p:sp>
      <p:sp>
        <p:nvSpPr>
          <p:cNvPr id="27" name="Rectangle 26">
            <a:extLst>
              <a:ext uri="{FF2B5EF4-FFF2-40B4-BE49-F238E27FC236}">
                <a16:creationId xmlns:a16="http://schemas.microsoft.com/office/drawing/2014/main" id="{C4E6DF19-2489-49AE-84C6-FDFF319F640D}"/>
              </a:ext>
            </a:extLst>
          </p:cNvPr>
          <p:cNvSpPr>
            <a:spLocks noGrp="1"/>
          </p:cNvSpPr>
          <p:nvPr/>
        </p:nvSpPr>
        <p:spPr>
          <a:xfrm>
            <a:off x="12211050" y="3105150"/>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05</a:t>
            </a:r>
          </a:p>
        </p:txBody>
      </p:sp>
      <p:sp>
        <p:nvSpPr>
          <p:cNvPr id="28" name="Rectangle 27">
            <a:extLst>
              <a:ext uri="{FF2B5EF4-FFF2-40B4-BE49-F238E27FC236}">
                <a16:creationId xmlns:a16="http://schemas.microsoft.com/office/drawing/2014/main" id="{69DC33FA-894A-4160-B28D-A65160350DDA}"/>
              </a:ext>
            </a:extLst>
          </p:cNvPr>
          <p:cNvSpPr>
            <a:spLocks noGrp="1"/>
          </p:cNvSpPr>
          <p:nvPr/>
        </p:nvSpPr>
        <p:spPr>
          <a:xfrm>
            <a:off x="12211050" y="3457575"/>
            <a:ext cx="2190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TwinState</a:t>
            </a:r>
          </a:p>
        </p:txBody>
      </p:sp>
      <p:sp>
        <p:nvSpPr>
          <p:cNvPr id="29" name="Rectangle 28">
            <a:extLst>
              <a:ext uri="{FF2B5EF4-FFF2-40B4-BE49-F238E27FC236}">
                <a16:creationId xmlns:a16="http://schemas.microsoft.com/office/drawing/2014/main" id="{C9BA75C2-C308-4755-9D85-FCE54474CACC}"/>
              </a:ext>
            </a:extLst>
          </p:cNvPr>
          <p:cNvSpPr>
            <a:spLocks noGrp="1"/>
          </p:cNvSpPr>
          <p:nvPr/>
        </p:nvSpPr>
        <p:spPr>
          <a:xfrm>
            <a:off x="12211050" y="4333875"/>
            <a:ext cx="2190750" cy="371475"/>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Chronological state</a:t>
            </a:r>
          </a:p>
        </p:txBody>
      </p:sp>
      <p:sp>
        <p:nvSpPr>
          <p:cNvPr id="30" name="Rectangle 29">
            <a:extLst>
              <a:ext uri="{FF2B5EF4-FFF2-40B4-BE49-F238E27FC236}">
                <a16:creationId xmlns:a16="http://schemas.microsoft.com/office/drawing/2014/main" id="{E87B7566-20AC-4B42-9F23-4AD641DA03DF}"/>
              </a:ext>
            </a:extLst>
          </p:cNvPr>
          <p:cNvSpPr>
            <a:spLocks noGrp="1"/>
          </p:cNvSpPr>
          <p:nvPr/>
        </p:nvSpPr>
        <p:spPr>
          <a:xfrm>
            <a:off x="14582775" y="3743325"/>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31" name="Rectangle 30">
            <a:extLst>
              <a:ext uri="{FF2B5EF4-FFF2-40B4-BE49-F238E27FC236}">
                <a16:creationId xmlns:a16="http://schemas.microsoft.com/office/drawing/2014/main" id="{4168AF76-C499-4DFC-842F-6B9F61002EF4}"/>
              </a:ext>
            </a:extLst>
          </p:cNvPr>
          <p:cNvSpPr>
            <a:spLocks noGrp="1"/>
          </p:cNvSpPr>
          <p:nvPr/>
        </p:nvSpPr>
        <p:spPr>
          <a:xfrm>
            <a:off x="14859000" y="2952750"/>
            <a:ext cx="2524125" cy="2095500"/>
          </a:xfrm>
          <a:prstGeom prst="rect">
            <a:avLst/>
          </a:prstGeom>
          <a:noFill/>
          <a:ln w="14288">
            <a:solidFill>
              <a:srgbClr val="D9E2E7"/>
            </a:solidFill>
            <a:prstDash val="solid"/>
          </a:ln>
        </p:spPr>
        <p:txBody>
          <a:bodyPr/>
          <a:lstStyle/>
          <a:p>
            <a:endParaRPr lang="en-US"/>
          </a:p>
        </p:txBody>
      </p:sp>
      <p:sp>
        <p:nvSpPr>
          <p:cNvPr id="32" name="Rectangle 31">
            <a:extLst>
              <a:ext uri="{FF2B5EF4-FFF2-40B4-BE49-F238E27FC236}">
                <a16:creationId xmlns:a16="http://schemas.microsoft.com/office/drawing/2014/main" id="{C8BE4421-CF02-44B3-BB39-E582E4FDD963}"/>
              </a:ext>
            </a:extLst>
          </p:cNvPr>
          <p:cNvSpPr>
            <a:spLocks noGrp="1"/>
          </p:cNvSpPr>
          <p:nvPr/>
        </p:nvSpPr>
        <p:spPr>
          <a:xfrm>
            <a:off x="15030450" y="3105150"/>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06</a:t>
            </a:r>
          </a:p>
        </p:txBody>
      </p:sp>
      <p:sp>
        <p:nvSpPr>
          <p:cNvPr id="33" name="Rectangle 32">
            <a:extLst>
              <a:ext uri="{FF2B5EF4-FFF2-40B4-BE49-F238E27FC236}">
                <a16:creationId xmlns:a16="http://schemas.microsoft.com/office/drawing/2014/main" id="{4E17087A-766B-4AAB-A991-753A50BB10C1}"/>
              </a:ext>
            </a:extLst>
          </p:cNvPr>
          <p:cNvSpPr>
            <a:spLocks noGrp="1"/>
          </p:cNvSpPr>
          <p:nvPr/>
        </p:nvSpPr>
        <p:spPr>
          <a:xfrm>
            <a:off x="15030450" y="3457575"/>
            <a:ext cx="2190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Thermal model</a:t>
            </a:r>
          </a:p>
        </p:txBody>
      </p:sp>
      <p:sp>
        <p:nvSpPr>
          <p:cNvPr id="34" name="Rectangle 33">
            <a:extLst>
              <a:ext uri="{FF2B5EF4-FFF2-40B4-BE49-F238E27FC236}">
                <a16:creationId xmlns:a16="http://schemas.microsoft.com/office/drawing/2014/main" id="{31D0917F-A012-494D-9CE4-EE6B9A50F3B4}"/>
              </a:ext>
            </a:extLst>
          </p:cNvPr>
          <p:cNvSpPr>
            <a:spLocks noGrp="1"/>
          </p:cNvSpPr>
          <p:nvPr/>
        </p:nvSpPr>
        <p:spPr>
          <a:xfrm>
            <a:off x="15030450" y="4333875"/>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Predictive only if</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promoted</a:t>
            </a:r>
          </a:p>
        </p:txBody>
      </p:sp>
      <p:sp>
        <p:nvSpPr>
          <p:cNvPr id="35" name="Rectangle 34">
            <a:extLst>
              <a:ext uri="{FF2B5EF4-FFF2-40B4-BE49-F238E27FC236}">
                <a16:creationId xmlns:a16="http://schemas.microsoft.com/office/drawing/2014/main" id="{BE5BFED7-9C6D-456F-8E1B-0CEE11F12F33}"/>
              </a:ext>
            </a:extLst>
          </p:cNvPr>
          <p:cNvSpPr>
            <a:spLocks noGrp="1"/>
          </p:cNvSpPr>
          <p:nvPr/>
        </p:nvSpPr>
        <p:spPr>
          <a:xfrm>
            <a:off x="762000" y="5286375"/>
            <a:ext cx="2524125" cy="2095500"/>
          </a:xfrm>
          <a:prstGeom prst="rect">
            <a:avLst/>
          </a:prstGeom>
          <a:noFill/>
          <a:ln w="14288">
            <a:solidFill>
              <a:srgbClr val="D9E2E7"/>
            </a:solidFill>
            <a:prstDash val="solid"/>
          </a:ln>
        </p:spPr>
        <p:txBody>
          <a:bodyPr/>
          <a:lstStyle/>
          <a:p>
            <a:endParaRPr lang="en-US"/>
          </a:p>
        </p:txBody>
      </p:sp>
      <p:sp>
        <p:nvSpPr>
          <p:cNvPr id="36" name="Rectangle 35">
            <a:extLst>
              <a:ext uri="{FF2B5EF4-FFF2-40B4-BE49-F238E27FC236}">
                <a16:creationId xmlns:a16="http://schemas.microsoft.com/office/drawing/2014/main" id="{C4F86E55-A2DF-4DBD-86D9-9CC6C0342F8A}"/>
              </a:ext>
            </a:extLst>
          </p:cNvPr>
          <p:cNvSpPr>
            <a:spLocks noGrp="1"/>
          </p:cNvSpPr>
          <p:nvPr/>
        </p:nvSpPr>
        <p:spPr>
          <a:xfrm>
            <a:off x="933450" y="5438775"/>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07</a:t>
            </a:r>
          </a:p>
        </p:txBody>
      </p:sp>
      <p:sp>
        <p:nvSpPr>
          <p:cNvPr id="37" name="Rectangle 36">
            <a:extLst>
              <a:ext uri="{FF2B5EF4-FFF2-40B4-BE49-F238E27FC236}">
                <a16:creationId xmlns:a16="http://schemas.microsoft.com/office/drawing/2014/main" id="{4C9C821D-7209-4DEE-890D-553527608972}"/>
              </a:ext>
            </a:extLst>
          </p:cNvPr>
          <p:cNvSpPr>
            <a:spLocks noGrp="1"/>
          </p:cNvSpPr>
          <p:nvPr/>
        </p:nvSpPr>
        <p:spPr>
          <a:xfrm>
            <a:off x="933450" y="5791200"/>
            <a:ext cx="2190750" cy="808482"/>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Residual</a:t>
            </a:r>
          </a:p>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evidence</a:t>
            </a:r>
          </a:p>
        </p:txBody>
      </p:sp>
      <p:sp>
        <p:nvSpPr>
          <p:cNvPr id="38" name="Rectangle 37">
            <a:extLst>
              <a:ext uri="{FF2B5EF4-FFF2-40B4-BE49-F238E27FC236}">
                <a16:creationId xmlns:a16="http://schemas.microsoft.com/office/drawing/2014/main" id="{092194DF-4BDA-4D81-85C6-6F948B47C4A2}"/>
              </a:ext>
            </a:extLst>
          </p:cNvPr>
          <p:cNvSpPr>
            <a:spLocks noGrp="1"/>
          </p:cNvSpPr>
          <p:nvPr/>
        </p:nvSpPr>
        <p:spPr>
          <a:xfrm>
            <a:off x="933450" y="6667500"/>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CUSUM and oil</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trend gated</a:t>
            </a:r>
          </a:p>
        </p:txBody>
      </p:sp>
      <p:sp>
        <p:nvSpPr>
          <p:cNvPr id="39" name="Rectangle 38">
            <a:extLst>
              <a:ext uri="{FF2B5EF4-FFF2-40B4-BE49-F238E27FC236}">
                <a16:creationId xmlns:a16="http://schemas.microsoft.com/office/drawing/2014/main" id="{FEE995AF-9213-4750-B12D-51F428F23492}"/>
              </a:ext>
            </a:extLst>
          </p:cNvPr>
          <p:cNvSpPr>
            <a:spLocks noGrp="1"/>
          </p:cNvSpPr>
          <p:nvPr/>
        </p:nvSpPr>
        <p:spPr>
          <a:xfrm>
            <a:off x="3305175" y="6076950"/>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40" name="Rectangle 39">
            <a:extLst>
              <a:ext uri="{FF2B5EF4-FFF2-40B4-BE49-F238E27FC236}">
                <a16:creationId xmlns:a16="http://schemas.microsoft.com/office/drawing/2014/main" id="{A968E482-A475-49FA-B317-6827A3AF3F51}"/>
              </a:ext>
            </a:extLst>
          </p:cNvPr>
          <p:cNvSpPr>
            <a:spLocks noGrp="1"/>
          </p:cNvSpPr>
          <p:nvPr/>
        </p:nvSpPr>
        <p:spPr>
          <a:xfrm>
            <a:off x="3581400" y="5286375"/>
            <a:ext cx="2524125" cy="2095500"/>
          </a:xfrm>
          <a:prstGeom prst="rect">
            <a:avLst/>
          </a:prstGeom>
          <a:noFill/>
          <a:ln w="14288">
            <a:solidFill>
              <a:srgbClr val="D9E2E7"/>
            </a:solidFill>
            <a:prstDash val="solid"/>
          </a:ln>
        </p:spPr>
        <p:txBody>
          <a:bodyPr/>
          <a:lstStyle/>
          <a:p>
            <a:endParaRPr lang="en-US"/>
          </a:p>
        </p:txBody>
      </p:sp>
      <p:sp>
        <p:nvSpPr>
          <p:cNvPr id="41" name="Rectangle 40">
            <a:extLst>
              <a:ext uri="{FF2B5EF4-FFF2-40B4-BE49-F238E27FC236}">
                <a16:creationId xmlns:a16="http://schemas.microsoft.com/office/drawing/2014/main" id="{F712FF34-04A2-4DD1-9401-A8F75A828BD7}"/>
              </a:ext>
            </a:extLst>
          </p:cNvPr>
          <p:cNvSpPr>
            <a:spLocks noGrp="1"/>
          </p:cNvSpPr>
          <p:nvPr/>
        </p:nvSpPr>
        <p:spPr>
          <a:xfrm>
            <a:off x="3752850" y="5438775"/>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08</a:t>
            </a:r>
          </a:p>
        </p:txBody>
      </p:sp>
      <p:sp>
        <p:nvSpPr>
          <p:cNvPr id="42" name="Rectangle 41">
            <a:extLst>
              <a:ext uri="{FF2B5EF4-FFF2-40B4-BE49-F238E27FC236}">
                <a16:creationId xmlns:a16="http://schemas.microsoft.com/office/drawing/2014/main" id="{41DF9CC1-F536-4235-9FC7-9505D509B0F0}"/>
              </a:ext>
            </a:extLst>
          </p:cNvPr>
          <p:cNvSpPr>
            <a:spLocks noGrp="1"/>
          </p:cNvSpPr>
          <p:nvPr/>
        </p:nvSpPr>
        <p:spPr>
          <a:xfrm>
            <a:off x="3752850" y="5791200"/>
            <a:ext cx="2190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dirty="0">
                <a:solidFill>
                  <a:srgbClr val="172B3A"/>
                </a:solidFill>
                <a:latin typeface="Nimbus Sans"/>
                <a:ea typeface="Nimbus Sans"/>
                <a:cs typeface="Nimbus Sans"/>
              </a:rPr>
              <a:t>OTHI</a:t>
            </a:r>
          </a:p>
        </p:txBody>
      </p:sp>
      <p:sp>
        <p:nvSpPr>
          <p:cNvPr id="43" name="Rectangle 42">
            <a:extLst>
              <a:ext uri="{FF2B5EF4-FFF2-40B4-BE49-F238E27FC236}">
                <a16:creationId xmlns:a16="http://schemas.microsoft.com/office/drawing/2014/main" id="{98982C7D-4B1E-46D7-91F3-82FBD2A548CD}"/>
              </a:ext>
            </a:extLst>
          </p:cNvPr>
          <p:cNvSpPr>
            <a:spLocks noGrp="1"/>
          </p:cNvSpPr>
          <p:nvPr/>
        </p:nvSpPr>
        <p:spPr>
          <a:xfrm>
            <a:off x="3752850" y="6667500"/>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Freshness and trip</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override</a:t>
            </a:r>
          </a:p>
        </p:txBody>
      </p:sp>
      <p:sp>
        <p:nvSpPr>
          <p:cNvPr id="44" name="Rectangle 43">
            <a:extLst>
              <a:ext uri="{FF2B5EF4-FFF2-40B4-BE49-F238E27FC236}">
                <a16:creationId xmlns:a16="http://schemas.microsoft.com/office/drawing/2014/main" id="{4DF03F40-B8A4-4CC2-8CA2-6D272E444F77}"/>
              </a:ext>
            </a:extLst>
          </p:cNvPr>
          <p:cNvSpPr>
            <a:spLocks noGrp="1"/>
          </p:cNvSpPr>
          <p:nvPr/>
        </p:nvSpPr>
        <p:spPr>
          <a:xfrm>
            <a:off x="6124575" y="6076950"/>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45" name="Rectangle 44">
            <a:extLst>
              <a:ext uri="{FF2B5EF4-FFF2-40B4-BE49-F238E27FC236}">
                <a16:creationId xmlns:a16="http://schemas.microsoft.com/office/drawing/2014/main" id="{3367A0F2-9C48-4CB6-B346-A3505D3D79FA}"/>
              </a:ext>
            </a:extLst>
          </p:cNvPr>
          <p:cNvSpPr>
            <a:spLocks noGrp="1"/>
          </p:cNvSpPr>
          <p:nvPr/>
        </p:nvSpPr>
        <p:spPr>
          <a:xfrm>
            <a:off x="6400800" y="5286375"/>
            <a:ext cx="2524125" cy="2095500"/>
          </a:xfrm>
          <a:prstGeom prst="rect">
            <a:avLst/>
          </a:prstGeom>
          <a:noFill/>
          <a:ln w="14288">
            <a:solidFill>
              <a:srgbClr val="D9E2E7"/>
            </a:solidFill>
            <a:prstDash val="solid"/>
          </a:ln>
        </p:spPr>
        <p:txBody>
          <a:bodyPr/>
          <a:lstStyle/>
          <a:p>
            <a:endParaRPr lang="en-US"/>
          </a:p>
        </p:txBody>
      </p:sp>
      <p:sp>
        <p:nvSpPr>
          <p:cNvPr id="46" name="Rectangle 45">
            <a:extLst>
              <a:ext uri="{FF2B5EF4-FFF2-40B4-BE49-F238E27FC236}">
                <a16:creationId xmlns:a16="http://schemas.microsoft.com/office/drawing/2014/main" id="{FEB546C0-66C6-406B-950D-42A23C0D101A}"/>
              </a:ext>
            </a:extLst>
          </p:cNvPr>
          <p:cNvSpPr>
            <a:spLocks noGrp="1"/>
          </p:cNvSpPr>
          <p:nvPr/>
        </p:nvSpPr>
        <p:spPr>
          <a:xfrm>
            <a:off x="6572250" y="5438775"/>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09</a:t>
            </a:r>
          </a:p>
        </p:txBody>
      </p:sp>
      <p:sp>
        <p:nvSpPr>
          <p:cNvPr id="47" name="Rectangle 46">
            <a:extLst>
              <a:ext uri="{FF2B5EF4-FFF2-40B4-BE49-F238E27FC236}">
                <a16:creationId xmlns:a16="http://schemas.microsoft.com/office/drawing/2014/main" id="{C5AD7862-E859-4CF1-916D-8B936F701E81}"/>
              </a:ext>
            </a:extLst>
          </p:cNvPr>
          <p:cNvSpPr>
            <a:spLocks noGrp="1"/>
          </p:cNvSpPr>
          <p:nvPr/>
        </p:nvSpPr>
        <p:spPr>
          <a:xfrm>
            <a:off x="6572250" y="5791200"/>
            <a:ext cx="2190750" cy="808482"/>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Maintenance</a:t>
            </a:r>
          </a:p>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policy</a:t>
            </a:r>
          </a:p>
        </p:txBody>
      </p:sp>
      <p:sp>
        <p:nvSpPr>
          <p:cNvPr id="48" name="Rectangle 47">
            <a:extLst>
              <a:ext uri="{FF2B5EF4-FFF2-40B4-BE49-F238E27FC236}">
                <a16:creationId xmlns:a16="http://schemas.microsoft.com/office/drawing/2014/main" id="{035A43D9-8DFC-405C-ADD3-23D276D73419}"/>
              </a:ext>
            </a:extLst>
          </p:cNvPr>
          <p:cNvSpPr>
            <a:spLocks noGrp="1"/>
          </p:cNvSpPr>
          <p:nvPr/>
        </p:nvSpPr>
        <p:spPr>
          <a:xfrm>
            <a:off x="6572250" y="6667500"/>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lang="en-US" sz="1875" dirty="0">
                <a:solidFill>
                  <a:srgbClr val="536675"/>
                </a:solidFill>
                <a:latin typeface="Nimbus Sans"/>
                <a:ea typeface="Nimbus Sans"/>
                <a:cs typeface="Nimbus Sans"/>
              </a:rPr>
              <a:t>Based on fixed set of</a:t>
            </a:r>
          </a:p>
          <a:p>
            <a:pPr algn="l">
              <a:defRPr sz="1875" b="0">
                <a:solidFill>
                  <a:srgbClr val="536675"/>
                </a:solidFill>
                <a:latin typeface="Nimbus Sans"/>
                <a:ea typeface="Nimbus Sans"/>
                <a:cs typeface="Nimbus Sans"/>
              </a:defRPr>
            </a:pPr>
            <a:r>
              <a:rPr lang="en-US" sz="1875" b="0" dirty="0">
                <a:solidFill>
                  <a:srgbClr val="536675"/>
                </a:solidFill>
                <a:latin typeface="Nimbus Sans"/>
                <a:ea typeface="Nimbus Sans"/>
                <a:cs typeface="Nimbus Sans"/>
              </a:rPr>
              <a:t>rules</a:t>
            </a:r>
            <a:endParaRPr sz="1875" b="0" dirty="0">
              <a:solidFill>
                <a:srgbClr val="536675"/>
              </a:solidFill>
              <a:latin typeface="Nimbus Sans"/>
              <a:ea typeface="Nimbus Sans"/>
              <a:cs typeface="Nimbus Sans"/>
            </a:endParaRPr>
          </a:p>
        </p:txBody>
      </p:sp>
      <p:sp>
        <p:nvSpPr>
          <p:cNvPr id="49" name="Rectangle 48">
            <a:extLst>
              <a:ext uri="{FF2B5EF4-FFF2-40B4-BE49-F238E27FC236}">
                <a16:creationId xmlns:a16="http://schemas.microsoft.com/office/drawing/2014/main" id="{BE14CAD3-D351-4152-ADFC-2FF5B3DEF1AC}"/>
              </a:ext>
            </a:extLst>
          </p:cNvPr>
          <p:cNvSpPr>
            <a:spLocks noGrp="1"/>
          </p:cNvSpPr>
          <p:nvPr/>
        </p:nvSpPr>
        <p:spPr>
          <a:xfrm>
            <a:off x="8943975" y="6076950"/>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50" name="Rectangle 49">
            <a:extLst>
              <a:ext uri="{FF2B5EF4-FFF2-40B4-BE49-F238E27FC236}">
                <a16:creationId xmlns:a16="http://schemas.microsoft.com/office/drawing/2014/main" id="{ED2A210F-545A-4AB2-9B14-ED5E20B9BB5B}"/>
              </a:ext>
            </a:extLst>
          </p:cNvPr>
          <p:cNvSpPr>
            <a:spLocks noGrp="1"/>
          </p:cNvSpPr>
          <p:nvPr/>
        </p:nvSpPr>
        <p:spPr>
          <a:xfrm>
            <a:off x="9220200" y="5286375"/>
            <a:ext cx="2524125" cy="2095500"/>
          </a:xfrm>
          <a:prstGeom prst="rect">
            <a:avLst/>
          </a:prstGeom>
          <a:noFill/>
          <a:ln w="14288">
            <a:solidFill>
              <a:srgbClr val="D9E2E7"/>
            </a:solidFill>
            <a:prstDash val="solid"/>
          </a:ln>
        </p:spPr>
        <p:txBody>
          <a:bodyPr/>
          <a:lstStyle/>
          <a:p>
            <a:endParaRPr lang="en-US"/>
          </a:p>
        </p:txBody>
      </p:sp>
      <p:sp>
        <p:nvSpPr>
          <p:cNvPr id="51" name="Rectangle 50">
            <a:extLst>
              <a:ext uri="{FF2B5EF4-FFF2-40B4-BE49-F238E27FC236}">
                <a16:creationId xmlns:a16="http://schemas.microsoft.com/office/drawing/2014/main" id="{C35C417F-CA4C-49A7-A639-40E0029B338D}"/>
              </a:ext>
            </a:extLst>
          </p:cNvPr>
          <p:cNvSpPr>
            <a:spLocks noGrp="1"/>
          </p:cNvSpPr>
          <p:nvPr/>
        </p:nvSpPr>
        <p:spPr>
          <a:xfrm>
            <a:off x="9391650" y="5438775"/>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10</a:t>
            </a:r>
          </a:p>
        </p:txBody>
      </p:sp>
      <p:sp>
        <p:nvSpPr>
          <p:cNvPr id="52" name="Rectangle 51">
            <a:extLst>
              <a:ext uri="{FF2B5EF4-FFF2-40B4-BE49-F238E27FC236}">
                <a16:creationId xmlns:a16="http://schemas.microsoft.com/office/drawing/2014/main" id="{827DC975-3A1A-47E2-936F-AE4A5919918C}"/>
              </a:ext>
            </a:extLst>
          </p:cNvPr>
          <p:cNvSpPr>
            <a:spLocks noGrp="1"/>
          </p:cNvSpPr>
          <p:nvPr/>
        </p:nvSpPr>
        <p:spPr>
          <a:xfrm>
            <a:off x="9391650" y="5791200"/>
            <a:ext cx="2190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FactBundle</a:t>
            </a:r>
          </a:p>
        </p:txBody>
      </p:sp>
      <p:sp>
        <p:nvSpPr>
          <p:cNvPr id="53" name="Rectangle 52">
            <a:extLst>
              <a:ext uri="{FF2B5EF4-FFF2-40B4-BE49-F238E27FC236}">
                <a16:creationId xmlns:a16="http://schemas.microsoft.com/office/drawing/2014/main" id="{24CA7946-8BEE-431A-B8D1-F9C1BB03F96F}"/>
              </a:ext>
            </a:extLst>
          </p:cNvPr>
          <p:cNvSpPr>
            <a:spLocks noGrp="1"/>
          </p:cNvSpPr>
          <p:nvPr/>
        </p:nvSpPr>
        <p:spPr>
          <a:xfrm>
            <a:off x="9391650" y="6667500"/>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One source for UI /</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reports</a:t>
            </a:r>
          </a:p>
        </p:txBody>
      </p:sp>
      <p:sp>
        <p:nvSpPr>
          <p:cNvPr id="54" name="Rectangle 53">
            <a:extLst>
              <a:ext uri="{FF2B5EF4-FFF2-40B4-BE49-F238E27FC236}">
                <a16:creationId xmlns:a16="http://schemas.microsoft.com/office/drawing/2014/main" id="{2C499E9E-E8E5-4E1A-8A7D-3AB43167305C}"/>
              </a:ext>
            </a:extLst>
          </p:cNvPr>
          <p:cNvSpPr>
            <a:spLocks noGrp="1"/>
          </p:cNvSpPr>
          <p:nvPr/>
        </p:nvSpPr>
        <p:spPr>
          <a:xfrm>
            <a:off x="11763375" y="6076950"/>
            <a:ext cx="276225" cy="395097"/>
          </a:xfrm>
          <a:prstGeom prst="rect">
            <a:avLst/>
          </a:prstGeom>
          <a:noFill/>
          <a:ln w="0">
            <a:noFill/>
            <a:prstDash val="solid"/>
          </a:ln>
        </p:spPr>
        <p:txBody>
          <a:bodyPr wrap="none" lIns="0" tIns="0" rIns="0" bIns="0" anchor="t">
            <a:noAutofit/>
          </a:bodyPr>
          <a:lstStyle>
            <a:defPPr algn="l">
              <a:defRPr sz="2025" b="0">
                <a:solidFill>
                  <a:srgbClr val="087E98"/>
                </a:solidFill>
                <a:latin typeface="Nimbus Sans"/>
                <a:ea typeface="Nimbus Sans"/>
                <a:cs typeface="Nimbus Sans"/>
              </a:defRPr>
            </a:defPPr>
          </a:lstStyle>
          <a:p>
            <a:pPr algn="l">
              <a:defRPr sz="2025" b="0">
                <a:solidFill>
                  <a:srgbClr val="087E98"/>
                </a:solidFill>
                <a:latin typeface="Nimbus Sans"/>
                <a:ea typeface="Nimbus Sans"/>
                <a:cs typeface="Nimbus Sans"/>
              </a:defRPr>
            </a:pPr>
            <a:r>
              <a:rPr sz="2025" b="0">
                <a:solidFill>
                  <a:srgbClr val="087E98"/>
                </a:solidFill>
                <a:latin typeface="Nimbus Sans"/>
                <a:ea typeface="Nimbus Sans"/>
                <a:cs typeface="Nimbus Sans"/>
              </a:rPr>
              <a:t>→</a:t>
            </a:r>
          </a:p>
        </p:txBody>
      </p:sp>
      <p:sp>
        <p:nvSpPr>
          <p:cNvPr id="55" name="Rectangle 54">
            <a:extLst>
              <a:ext uri="{FF2B5EF4-FFF2-40B4-BE49-F238E27FC236}">
                <a16:creationId xmlns:a16="http://schemas.microsoft.com/office/drawing/2014/main" id="{85AECA67-9EF1-4F23-95AE-568694B0B79C}"/>
              </a:ext>
            </a:extLst>
          </p:cNvPr>
          <p:cNvSpPr>
            <a:spLocks noGrp="1"/>
          </p:cNvSpPr>
          <p:nvPr/>
        </p:nvSpPr>
        <p:spPr>
          <a:xfrm>
            <a:off x="12039600" y="5286375"/>
            <a:ext cx="2524125" cy="2095500"/>
          </a:xfrm>
          <a:prstGeom prst="rect">
            <a:avLst/>
          </a:prstGeom>
          <a:noFill/>
          <a:ln w="14288">
            <a:solidFill>
              <a:srgbClr val="D9E2E7"/>
            </a:solidFill>
            <a:prstDash val="solid"/>
          </a:ln>
        </p:spPr>
        <p:txBody>
          <a:bodyPr/>
          <a:lstStyle/>
          <a:p>
            <a:endParaRPr lang="en-US"/>
          </a:p>
        </p:txBody>
      </p:sp>
      <p:sp>
        <p:nvSpPr>
          <p:cNvPr id="56" name="Rectangle 55">
            <a:extLst>
              <a:ext uri="{FF2B5EF4-FFF2-40B4-BE49-F238E27FC236}">
                <a16:creationId xmlns:a16="http://schemas.microsoft.com/office/drawing/2014/main" id="{C8E608BA-B122-416C-B558-336EAF2716E9}"/>
              </a:ext>
            </a:extLst>
          </p:cNvPr>
          <p:cNvSpPr>
            <a:spLocks noGrp="1"/>
          </p:cNvSpPr>
          <p:nvPr/>
        </p:nvSpPr>
        <p:spPr>
          <a:xfrm>
            <a:off x="12211050" y="5438775"/>
            <a:ext cx="2190750" cy="347853"/>
          </a:xfrm>
          <a:prstGeom prst="rect">
            <a:avLst/>
          </a:prstGeom>
          <a:noFill/>
          <a:ln w="0">
            <a:noFill/>
            <a:prstDash val="solid"/>
          </a:ln>
        </p:spPr>
        <p:txBody>
          <a:bodyPr wrap="none" lIns="0" tIns="0" rIns="0" bIns="0" anchor="t">
            <a:noAutofit/>
          </a:bodyPr>
          <a:lstStyle>
            <a:defPPr algn="l">
              <a:defRPr sz="1725" b="0">
                <a:solidFill>
                  <a:srgbClr val="087E98"/>
                </a:solidFill>
                <a:latin typeface="Nimbus Sans"/>
                <a:ea typeface="Nimbus Sans"/>
                <a:cs typeface="Nimbus Sans"/>
              </a:defRPr>
            </a:defPPr>
          </a:lstStyle>
          <a:p>
            <a:pPr algn="l">
              <a:defRPr sz="1725" b="0">
                <a:solidFill>
                  <a:srgbClr val="087E98"/>
                </a:solidFill>
                <a:latin typeface="Nimbus Sans"/>
                <a:ea typeface="Nimbus Sans"/>
                <a:cs typeface="Nimbus Sans"/>
              </a:defRPr>
            </a:pPr>
            <a:r>
              <a:rPr sz="1725" b="0">
                <a:solidFill>
                  <a:srgbClr val="087E98"/>
                </a:solidFill>
                <a:latin typeface="Nimbus Sans"/>
                <a:ea typeface="Nimbus Sans"/>
                <a:cs typeface="Nimbus Sans"/>
              </a:rPr>
              <a:t>11</a:t>
            </a:r>
          </a:p>
        </p:txBody>
      </p:sp>
      <p:sp>
        <p:nvSpPr>
          <p:cNvPr id="57" name="Rectangle 56">
            <a:extLst>
              <a:ext uri="{FF2B5EF4-FFF2-40B4-BE49-F238E27FC236}">
                <a16:creationId xmlns:a16="http://schemas.microsoft.com/office/drawing/2014/main" id="{391C3FA7-0E36-47C0-B419-940BE099C4DF}"/>
              </a:ext>
            </a:extLst>
          </p:cNvPr>
          <p:cNvSpPr>
            <a:spLocks noGrp="1"/>
          </p:cNvSpPr>
          <p:nvPr/>
        </p:nvSpPr>
        <p:spPr>
          <a:xfrm>
            <a:off x="12211050" y="5791200"/>
            <a:ext cx="2190750" cy="808482"/>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Dashboard /</a:t>
            </a:r>
          </a:p>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reports</a:t>
            </a:r>
          </a:p>
        </p:txBody>
      </p:sp>
      <p:sp>
        <p:nvSpPr>
          <p:cNvPr id="58" name="Rectangle 57">
            <a:extLst>
              <a:ext uri="{FF2B5EF4-FFF2-40B4-BE49-F238E27FC236}">
                <a16:creationId xmlns:a16="http://schemas.microsoft.com/office/drawing/2014/main" id="{2C09ABCF-A223-424C-9925-F29889172EB9}"/>
              </a:ext>
            </a:extLst>
          </p:cNvPr>
          <p:cNvSpPr>
            <a:spLocks noGrp="1"/>
          </p:cNvSpPr>
          <p:nvPr/>
        </p:nvSpPr>
        <p:spPr>
          <a:xfrm>
            <a:off x="12211050" y="6667500"/>
            <a:ext cx="2190750" cy="6667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React, JSON, CSV,</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PDF</a:t>
            </a:r>
          </a:p>
        </p:txBody>
      </p:sp>
      <p:sp>
        <p:nvSpPr>
          <p:cNvPr id="59" name="Rectangle 58">
            <a:extLst>
              <a:ext uri="{FF2B5EF4-FFF2-40B4-BE49-F238E27FC236}">
                <a16:creationId xmlns:a16="http://schemas.microsoft.com/office/drawing/2014/main" id="{D3F56140-AEEF-4F14-95C8-B1A664618672}"/>
              </a:ext>
            </a:extLst>
          </p:cNvPr>
          <p:cNvSpPr>
            <a:spLocks noGrp="1"/>
          </p:cNvSpPr>
          <p:nvPr/>
        </p:nvSpPr>
        <p:spPr>
          <a:xfrm>
            <a:off x="762000" y="7848600"/>
            <a:ext cx="16764000" cy="501396"/>
          </a:xfrm>
          <a:prstGeom prst="rect">
            <a:avLst/>
          </a:prstGeom>
          <a:noFill/>
          <a:ln w="0">
            <a:noFill/>
            <a:prstDash val="solid"/>
          </a:ln>
        </p:spPr>
        <p:txBody>
          <a:bodyPr wrap="none" lIns="0" tIns="0" rIns="0" bIns="0" anchor="t">
            <a:noAutofit/>
          </a:bodyPr>
          <a:lstStyle>
            <a:defPPr algn="l">
              <a:defRPr sz="2700" b="1">
                <a:solidFill>
                  <a:srgbClr val="172B3A"/>
                </a:solidFill>
                <a:latin typeface="Nimbus Sans"/>
                <a:ea typeface="Nimbus Sans"/>
                <a:cs typeface="Nimbus Sans"/>
              </a:defRPr>
            </a:defPPr>
          </a:lstStyle>
          <a:p>
            <a:pPr algn="l">
              <a:defRPr sz="2700" b="1">
                <a:solidFill>
                  <a:srgbClr val="172B3A"/>
                </a:solidFill>
                <a:latin typeface="Nimbus Sans"/>
                <a:ea typeface="Nimbus Sans"/>
                <a:cs typeface="Nimbus Sans"/>
              </a:defRPr>
            </a:pPr>
            <a:r>
              <a:rPr sz="2700" b="1">
                <a:solidFill>
                  <a:srgbClr val="172B3A"/>
                </a:solidFill>
                <a:latin typeface="Nimbus Sans"/>
                <a:ea typeface="Nimbus Sans"/>
                <a:cs typeface="Nimbus Sans"/>
              </a:rPr>
              <a:t>Four rules that hold throughout the pipeline</a:t>
            </a:r>
          </a:p>
        </p:txBody>
      </p:sp>
      <p:sp>
        <p:nvSpPr>
          <p:cNvPr id="60" name="Rectangle 59">
            <a:extLst>
              <a:ext uri="{FF2B5EF4-FFF2-40B4-BE49-F238E27FC236}">
                <a16:creationId xmlns:a16="http://schemas.microsoft.com/office/drawing/2014/main" id="{3BC7486C-FBC9-4358-AE57-700EB65BF889}"/>
              </a:ext>
            </a:extLst>
          </p:cNvPr>
          <p:cNvSpPr>
            <a:spLocks noGrp="1"/>
          </p:cNvSpPr>
          <p:nvPr/>
        </p:nvSpPr>
        <p:spPr>
          <a:xfrm>
            <a:off x="762000" y="8543924"/>
            <a:ext cx="16764000" cy="1743075"/>
          </a:xfrm>
          <a:prstGeom prst="rect">
            <a:avLst/>
          </a:prstGeom>
          <a:noFill/>
          <a:ln w="0">
            <a:noFill/>
            <a:prstDash val="solid"/>
          </a:ln>
        </p:spPr>
        <p:txBody>
          <a:bodyPr wrap="none" lIns="0" tIns="0" rIns="0" bIns="0" anchor="t">
            <a:noAutofit/>
          </a:bodyPr>
          <a:lstStyle>
            <a:defPPr algn="l">
              <a:defRPr sz="2400" b="0">
                <a:solidFill>
                  <a:srgbClr val="536675"/>
                </a:solidFill>
                <a:latin typeface="Nimbus Sans"/>
                <a:ea typeface="Nimbus Sans"/>
                <a:cs typeface="Nimbus Sans"/>
              </a:defRPr>
            </a:defPPr>
          </a:lstStyle>
          <a:p>
            <a:pPr algn="l">
              <a:defRPr sz="2400" b="0">
                <a:solidFill>
                  <a:srgbClr val="536675"/>
                </a:solidFill>
                <a:latin typeface="Nimbus Sans"/>
                <a:ea typeface="Nimbus Sans"/>
                <a:cs typeface="Nimbus Sans"/>
              </a:defRPr>
            </a:pPr>
            <a:r>
              <a:rPr sz="2400" b="0" dirty="0">
                <a:solidFill>
                  <a:srgbClr val="536675"/>
                </a:solidFill>
                <a:latin typeface="Nimbus Sans"/>
                <a:ea typeface="Nimbus Sans"/>
                <a:cs typeface="Nimbus Sans"/>
              </a:rPr>
              <a:t>Missing data stays unknown.</a:t>
            </a:r>
            <a:endParaRPr lang="en-US" sz="2400" b="0" dirty="0">
              <a:solidFill>
                <a:srgbClr val="536675"/>
              </a:solidFill>
              <a:latin typeface="Nimbus Sans"/>
              <a:ea typeface="Nimbus Sans"/>
              <a:cs typeface="Nimbus Sans"/>
            </a:endParaRPr>
          </a:p>
          <a:p>
            <a:pPr algn="l">
              <a:defRPr sz="2400" b="0">
                <a:solidFill>
                  <a:srgbClr val="536675"/>
                </a:solidFill>
                <a:latin typeface="Nimbus Sans"/>
                <a:ea typeface="Nimbus Sans"/>
                <a:cs typeface="Nimbus Sans"/>
              </a:defRPr>
            </a:pPr>
            <a:r>
              <a:rPr sz="2400" b="0" dirty="0">
                <a:solidFill>
                  <a:srgbClr val="536675"/>
                </a:solidFill>
                <a:latin typeface="Nimbus Sans"/>
                <a:ea typeface="Nimbus Sans"/>
                <a:cs typeface="Nimbus Sans"/>
              </a:rPr>
              <a:t>Unqualified models stay descriptive.</a:t>
            </a:r>
          </a:p>
          <a:p>
            <a:pPr algn="l">
              <a:defRPr sz="2400" b="0">
                <a:solidFill>
                  <a:srgbClr val="536675"/>
                </a:solidFill>
                <a:latin typeface="Nimbus Sans"/>
                <a:ea typeface="Nimbus Sans"/>
                <a:cs typeface="Nimbus Sans"/>
              </a:defRPr>
            </a:pPr>
            <a:r>
              <a:rPr sz="2400" b="0" dirty="0">
                <a:solidFill>
                  <a:srgbClr val="536675"/>
                </a:solidFill>
                <a:latin typeface="Nimbus Sans"/>
                <a:ea typeface="Nimbus Sans"/>
                <a:cs typeface="Nimbus Sans"/>
              </a:rPr>
              <a:t>Gated detectors carry zero score weight.</a:t>
            </a:r>
            <a:endParaRPr lang="en-US" sz="2400" b="0" dirty="0">
              <a:solidFill>
                <a:srgbClr val="536675"/>
              </a:solidFill>
              <a:latin typeface="Nimbus Sans"/>
              <a:ea typeface="Nimbus Sans"/>
              <a:cs typeface="Nimbus Sans"/>
            </a:endParaRPr>
          </a:p>
          <a:p>
            <a:pPr algn="l">
              <a:defRPr sz="2400" b="0">
                <a:solidFill>
                  <a:srgbClr val="536675"/>
                </a:solidFill>
                <a:latin typeface="Nimbus Sans"/>
                <a:ea typeface="Nimbus Sans"/>
                <a:cs typeface="Nimbus Sans"/>
              </a:defRPr>
            </a:pPr>
            <a:r>
              <a:rPr sz="2400" b="0" dirty="0">
                <a:solidFill>
                  <a:srgbClr val="536675"/>
                </a:solidFill>
                <a:latin typeface="Nimbus Sans"/>
                <a:ea typeface="Nimbus Sans"/>
                <a:cs typeface="Nimbus Sans"/>
              </a:rPr>
              <a:t>A verified trip overrides all evidence.</a:t>
            </a:r>
          </a:p>
        </p:txBody>
      </p:sp>
    </p:spTree>
    <p:extLst>
      <p:ext uri="{BB962C8B-B14F-4D97-AF65-F5344CB8AC3E}">
        <p14:creationId xmlns:p14="http://schemas.microsoft.com/office/powerpoint/2010/main" val="113516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8CBD4F5-D186-4FED-AA0A-32D589103B57}"/>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384FCDF6-498D-40A9-8AB7-267BB3FC2EDE}"/>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04</a:t>
            </a:r>
          </a:p>
        </p:txBody>
      </p:sp>
      <p:sp>
        <p:nvSpPr>
          <p:cNvPr id="3" name="Rectangle 2">
            <a:extLst>
              <a:ext uri="{FF2B5EF4-FFF2-40B4-BE49-F238E27FC236}">
                <a16:creationId xmlns:a16="http://schemas.microsoft.com/office/drawing/2014/main" id="{A6190C74-6D73-4AAF-8C18-21B6668F290E}"/>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a:solidFill>
                  <a:srgbClr val="172B3A"/>
                </a:solidFill>
                <a:latin typeface="Nimbus Sans"/>
                <a:ea typeface="Nimbus Sans"/>
                <a:cs typeface="Nimbus Sans"/>
              </a:rPr>
              <a:t>The model and its qualification gates</a:t>
            </a:r>
          </a:p>
        </p:txBody>
      </p:sp>
      <p:sp>
        <p:nvSpPr>
          <p:cNvPr id="4" name="Rectangle 3">
            <a:extLst>
              <a:ext uri="{FF2B5EF4-FFF2-40B4-BE49-F238E27FC236}">
                <a16:creationId xmlns:a16="http://schemas.microsoft.com/office/drawing/2014/main" id="{DBD989F6-CE0B-4649-A341-31943B168D77}"/>
              </a:ext>
            </a:extLst>
          </p:cNvPr>
          <p:cNvSpPr>
            <a:spLocks noGrp="1"/>
          </p:cNvSpPr>
          <p:nvPr/>
        </p:nvSpPr>
        <p:spPr>
          <a:xfrm>
            <a:off x="762000" y="1838325"/>
            <a:ext cx="16764000" cy="9525"/>
          </a:xfrm>
          <a:prstGeom prst="rect">
            <a:avLst/>
          </a:prstGeom>
          <a:noFill/>
          <a:ln w="14288">
            <a:solidFill>
              <a:srgbClr val="D9E2E7"/>
            </a:solidFill>
            <a:prstDash val="solid"/>
          </a:ln>
        </p:spPr>
        <p:txBody>
          <a:bodyPr/>
          <a:lstStyle/>
          <a:p>
            <a:endParaRPr lang="en-US"/>
          </a:p>
        </p:txBody>
      </p:sp>
      <p:sp>
        <p:nvSpPr>
          <p:cNvPr id="6" name="Rectangle 5">
            <a:extLst>
              <a:ext uri="{FF2B5EF4-FFF2-40B4-BE49-F238E27FC236}">
                <a16:creationId xmlns:a16="http://schemas.microsoft.com/office/drawing/2014/main" id="{E21E11C2-1DB9-43EF-BF93-03BA68B49489}"/>
              </a:ext>
            </a:extLst>
          </p:cNvPr>
          <p:cNvSpPr>
            <a:spLocks noGrp="1"/>
          </p:cNvSpPr>
          <p:nvPr/>
        </p:nvSpPr>
        <p:spPr>
          <a:xfrm>
            <a:off x="762000" y="2238375"/>
            <a:ext cx="7810500"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Electrical load</a:t>
            </a:r>
          </a:p>
        </p:txBody>
      </p:sp>
      <p:sp>
        <p:nvSpPr>
          <p:cNvPr id="8" name="Rectangle 7">
            <a:extLst>
              <a:ext uri="{FF2B5EF4-FFF2-40B4-BE49-F238E27FC236}">
                <a16:creationId xmlns:a16="http://schemas.microsoft.com/office/drawing/2014/main" id="{BBE01DFF-D949-4C37-9A12-A03A580A8C99}"/>
              </a:ext>
            </a:extLst>
          </p:cNvPr>
          <p:cNvSpPr>
            <a:spLocks noGrp="1"/>
          </p:cNvSpPr>
          <p:nvPr/>
        </p:nvSpPr>
        <p:spPr>
          <a:xfrm>
            <a:off x="762000" y="4362450"/>
            <a:ext cx="7810500" cy="430530"/>
          </a:xfrm>
          <a:prstGeom prst="rect">
            <a:avLst/>
          </a:prstGeom>
          <a:noFill/>
          <a:ln w="0">
            <a:noFill/>
            <a:prstDash val="solid"/>
          </a:ln>
        </p:spPr>
        <p:txBody>
          <a:bodyPr wrap="none" lIns="0" tIns="0" rIns="0" bIns="0" anchor="t">
            <a:noAutofit/>
          </a:bodyPr>
          <a:lstStyle>
            <a:defPPr algn="l">
              <a:defRPr sz="2250" b="0">
                <a:solidFill>
                  <a:srgbClr val="536675"/>
                </a:solidFill>
                <a:latin typeface="Nimbus Sans"/>
                <a:ea typeface="Nimbus Sans"/>
                <a:cs typeface="Nimbus Sans"/>
              </a:defRPr>
            </a:defPPr>
          </a:lstStyle>
          <a:p>
            <a:pPr algn="l">
              <a:defRPr sz="2250" b="0">
                <a:solidFill>
                  <a:srgbClr val="536675"/>
                </a:solidFill>
                <a:latin typeface="Nimbus Sans"/>
                <a:ea typeface="Nimbus Sans"/>
                <a:cs typeface="Nimbus Sans"/>
              </a:defRPr>
            </a:pPr>
            <a:r>
              <a:rPr sz="2250" b="0">
                <a:solidFill>
                  <a:srgbClr val="536675"/>
                </a:solidFill>
                <a:latin typeface="Nimbus Sans"/>
                <a:ea typeface="Nimbus Sans"/>
                <a:cs typeface="Nimbus Sans"/>
              </a:rPr>
              <a:t>The load index provides a physical driver for heating.</a:t>
            </a:r>
          </a:p>
        </p:txBody>
      </p:sp>
      <p:sp>
        <p:nvSpPr>
          <p:cNvPr id="9" name="Rectangle 8">
            <a:extLst>
              <a:ext uri="{FF2B5EF4-FFF2-40B4-BE49-F238E27FC236}">
                <a16:creationId xmlns:a16="http://schemas.microsoft.com/office/drawing/2014/main" id="{9B6479DF-E7AB-4350-A428-29F4D01A8BCB}"/>
              </a:ext>
            </a:extLst>
          </p:cNvPr>
          <p:cNvSpPr>
            <a:spLocks noGrp="1"/>
          </p:cNvSpPr>
          <p:nvPr/>
        </p:nvSpPr>
        <p:spPr>
          <a:xfrm>
            <a:off x="9715500" y="2238375"/>
            <a:ext cx="7810500"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First-order thermal response</a:t>
            </a:r>
          </a:p>
        </p:txBody>
      </p:sp>
      <p:sp>
        <p:nvSpPr>
          <p:cNvPr id="13" name="Rectangle 12">
            <a:extLst>
              <a:ext uri="{FF2B5EF4-FFF2-40B4-BE49-F238E27FC236}">
                <a16:creationId xmlns:a16="http://schemas.microsoft.com/office/drawing/2014/main" id="{324586BB-EE61-40A5-99FE-232FC482286B}"/>
              </a:ext>
            </a:extLst>
          </p:cNvPr>
          <p:cNvSpPr>
            <a:spLocks noGrp="1"/>
          </p:cNvSpPr>
          <p:nvPr/>
        </p:nvSpPr>
        <p:spPr>
          <a:xfrm>
            <a:off x="762000" y="5819775"/>
            <a:ext cx="8096250"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All four promotion gates must pass</a:t>
            </a:r>
          </a:p>
        </p:txBody>
      </p:sp>
      <p:sp>
        <p:nvSpPr>
          <p:cNvPr id="14" name="Rectangle 13">
            <a:extLst>
              <a:ext uri="{FF2B5EF4-FFF2-40B4-BE49-F238E27FC236}">
                <a16:creationId xmlns:a16="http://schemas.microsoft.com/office/drawing/2014/main" id="{44BC23C4-0437-4985-B5E9-F056A457842B}"/>
              </a:ext>
            </a:extLst>
          </p:cNvPr>
          <p:cNvSpPr>
            <a:spLocks noGrp="1"/>
          </p:cNvSpPr>
          <p:nvPr/>
        </p:nvSpPr>
        <p:spPr>
          <a:xfrm>
            <a:off x="762000" y="6515100"/>
            <a:ext cx="285750" cy="418719"/>
          </a:xfrm>
          <a:prstGeom prst="rect">
            <a:avLst/>
          </a:prstGeom>
          <a:noFill/>
          <a:ln w="0">
            <a:noFill/>
            <a:prstDash val="solid"/>
          </a:ln>
        </p:spPr>
        <p:txBody>
          <a:bodyPr wrap="none" lIns="0" tIns="0" rIns="0" bIns="0" anchor="t">
            <a:noAutofit/>
          </a:bodyPr>
          <a:lstStyle>
            <a:defPPr algn="l">
              <a:defRPr sz="2175" b="0">
                <a:solidFill>
                  <a:srgbClr val="087E98"/>
                </a:solidFill>
                <a:latin typeface="Nimbus Sans"/>
                <a:ea typeface="Nimbus Sans"/>
                <a:cs typeface="Nimbus Sans"/>
              </a:defRPr>
            </a:defPPr>
          </a:lstStyle>
          <a:p>
            <a:pPr algn="l">
              <a:defRPr sz="2175" b="0">
                <a:solidFill>
                  <a:srgbClr val="087E98"/>
                </a:solidFill>
                <a:latin typeface="Nimbus Sans"/>
                <a:ea typeface="Nimbus Sans"/>
                <a:cs typeface="Nimbus Sans"/>
              </a:defRPr>
            </a:pPr>
            <a:r>
              <a:rPr sz="2175" b="0">
                <a:solidFill>
                  <a:srgbClr val="087E98"/>
                </a:solidFill>
                <a:latin typeface="Nimbus Sans"/>
                <a:ea typeface="Nimbus Sans"/>
                <a:cs typeface="Nimbus Sans"/>
              </a:rPr>
              <a:t>•</a:t>
            </a:r>
          </a:p>
        </p:txBody>
      </p:sp>
      <p:sp>
        <p:nvSpPr>
          <p:cNvPr id="16" name="Rectangle 15">
            <a:extLst>
              <a:ext uri="{FF2B5EF4-FFF2-40B4-BE49-F238E27FC236}">
                <a16:creationId xmlns:a16="http://schemas.microsoft.com/office/drawing/2014/main" id="{312B6ED8-1E3A-4290-BA63-5AF5963FF936}"/>
              </a:ext>
            </a:extLst>
          </p:cNvPr>
          <p:cNvSpPr>
            <a:spLocks noGrp="1"/>
          </p:cNvSpPr>
          <p:nvPr/>
        </p:nvSpPr>
        <p:spPr>
          <a:xfrm>
            <a:off x="762000" y="7057644"/>
            <a:ext cx="285750" cy="418719"/>
          </a:xfrm>
          <a:prstGeom prst="rect">
            <a:avLst/>
          </a:prstGeom>
          <a:noFill/>
          <a:ln w="0">
            <a:noFill/>
            <a:prstDash val="solid"/>
          </a:ln>
        </p:spPr>
        <p:txBody>
          <a:bodyPr wrap="none" lIns="0" tIns="0" rIns="0" bIns="0" anchor="t">
            <a:noAutofit/>
          </a:bodyPr>
          <a:lstStyle>
            <a:defPPr algn="l">
              <a:defRPr sz="2175" b="0">
                <a:solidFill>
                  <a:srgbClr val="087E98"/>
                </a:solidFill>
                <a:latin typeface="Nimbus Sans"/>
                <a:ea typeface="Nimbus Sans"/>
                <a:cs typeface="Nimbus Sans"/>
              </a:defRPr>
            </a:defPPr>
          </a:lstStyle>
          <a:p>
            <a:pPr algn="l">
              <a:defRPr sz="2175" b="0">
                <a:solidFill>
                  <a:srgbClr val="087E98"/>
                </a:solidFill>
                <a:latin typeface="Nimbus Sans"/>
                <a:ea typeface="Nimbus Sans"/>
                <a:cs typeface="Nimbus Sans"/>
              </a:defRPr>
            </a:pPr>
            <a:endParaRPr sz="2175" b="0" dirty="0">
              <a:solidFill>
                <a:srgbClr val="087E98"/>
              </a:solidFill>
              <a:latin typeface="Nimbus Sans"/>
              <a:ea typeface="Nimbus Sans"/>
              <a:cs typeface="Nimbus Sans"/>
            </a:endParaRPr>
          </a:p>
        </p:txBody>
      </p:sp>
      <p:sp>
        <p:nvSpPr>
          <p:cNvPr id="22" name="Rectangle 21">
            <a:extLst>
              <a:ext uri="{FF2B5EF4-FFF2-40B4-BE49-F238E27FC236}">
                <a16:creationId xmlns:a16="http://schemas.microsoft.com/office/drawing/2014/main" id="{0890BED2-8157-493C-964F-CFB807616C07}"/>
              </a:ext>
            </a:extLst>
          </p:cNvPr>
          <p:cNvSpPr>
            <a:spLocks noGrp="1"/>
          </p:cNvSpPr>
          <p:nvPr/>
        </p:nvSpPr>
        <p:spPr>
          <a:xfrm>
            <a:off x="9715500" y="5819775"/>
            <a:ext cx="7810500"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Health scoring follows evidence</a:t>
            </a:r>
          </a:p>
        </p:txBody>
      </p:sp>
      <p:pic>
        <p:nvPicPr>
          <p:cNvPr id="29" name="Picture 28">
            <a:extLst>
              <a:ext uri="{FF2B5EF4-FFF2-40B4-BE49-F238E27FC236}">
                <a16:creationId xmlns:a16="http://schemas.microsoft.com/office/drawing/2014/main" id="{15963125-1487-76BF-9849-035BA33546FF}"/>
              </a:ext>
            </a:extLst>
          </p:cNvPr>
          <p:cNvPicPr>
            <a:picLocks noChangeAspect="1"/>
          </p:cNvPicPr>
          <p:nvPr/>
        </p:nvPicPr>
        <p:blipFill>
          <a:blip r:embed="rId3"/>
          <a:stretch>
            <a:fillRect/>
          </a:stretch>
        </p:blipFill>
        <p:spPr>
          <a:xfrm>
            <a:off x="761999" y="2796524"/>
            <a:ext cx="1804219" cy="484561"/>
          </a:xfrm>
          <a:prstGeom prst="rect">
            <a:avLst/>
          </a:prstGeom>
        </p:spPr>
      </p:pic>
      <p:pic>
        <p:nvPicPr>
          <p:cNvPr id="31" name="Picture 30">
            <a:extLst>
              <a:ext uri="{FF2B5EF4-FFF2-40B4-BE49-F238E27FC236}">
                <a16:creationId xmlns:a16="http://schemas.microsoft.com/office/drawing/2014/main" id="{EEED0BDD-FC0E-5670-B33B-9BB66DF64904}"/>
              </a:ext>
            </a:extLst>
          </p:cNvPr>
          <p:cNvPicPr>
            <a:picLocks noChangeAspect="1"/>
          </p:cNvPicPr>
          <p:nvPr/>
        </p:nvPicPr>
        <p:blipFill>
          <a:blip r:embed="rId4"/>
          <a:stretch>
            <a:fillRect/>
          </a:stretch>
        </p:blipFill>
        <p:spPr>
          <a:xfrm>
            <a:off x="761999" y="3433024"/>
            <a:ext cx="2624104" cy="796076"/>
          </a:xfrm>
          <a:prstGeom prst="rect">
            <a:avLst/>
          </a:prstGeom>
        </p:spPr>
      </p:pic>
      <p:pic>
        <p:nvPicPr>
          <p:cNvPr id="33" name="Picture 32">
            <a:extLst>
              <a:ext uri="{FF2B5EF4-FFF2-40B4-BE49-F238E27FC236}">
                <a16:creationId xmlns:a16="http://schemas.microsoft.com/office/drawing/2014/main" id="{A2C49E1C-6868-1686-0CAE-C73CF254B94D}"/>
              </a:ext>
            </a:extLst>
          </p:cNvPr>
          <p:cNvPicPr>
            <a:picLocks noChangeAspect="1"/>
          </p:cNvPicPr>
          <p:nvPr/>
        </p:nvPicPr>
        <p:blipFill>
          <a:blip r:embed="rId5"/>
          <a:stretch>
            <a:fillRect/>
          </a:stretch>
        </p:blipFill>
        <p:spPr>
          <a:xfrm>
            <a:off x="3622557" y="3359500"/>
            <a:ext cx="1368543" cy="896631"/>
          </a:xfrm>
          <a:prstGeom prst="rect">
            <a:avLst/>
          </a:prstGeom>
        </p:spPr>
      </p:pic>
      <p:pic>
        <p:nvPicPr>
          <p:cNvPr id="37" name="Picture 36">
            <a:extLst>
              <a:ext uri="{FF2B5EF4-FFF2-40B4-BE49-F238E27FC236}">
                <a16:creationId xmlns:a16="http://schemas.microsoft.com/office/drawing/2014/main" id="{96939C79-2819-E5A9-B3AB-35D762FED690}"/>
              </a:ext>
            </a:extLst>
          </p:cNvPr>
          <p:cNvPicPr>
            <a:picLocks noChangeAspect="1"/>
          </p:cNvPicPr>
          <p:nvPr/>
        </p:nvPicPr>
        <p:blipFill>
          <a:blip r:embed="rId6"/>
          <a:srcRect b="67961"/>
          <a:stretch>
            <a:fillRect/>
          </a:stretch>
        </p:blipFill>
        <p:spPr>
          <a:xfrm>
            <a:off x="9048750" y="2763394"/>
            <a:ext cx="2717875" cy="887108"/>
          </a:xfrm>
          <a:prstGeom prst="rect">
            <a:avLst/>
          </a:prstGeom>
        </p:spPr>
      </p:pic>
      <p:pic>
        <p:nvPicPr>
          <p:cNvPr id="39" name="Picture 38">
            <a:extLst>
              <a:ext uri="{FF2B5EF4-FFF2-40B4-BE49-F238E27FC236}">
                <a16:creationId xmlns:a16="http://schemas.microsoft.com/office/drawing/2014/main" id="{9165B7F2-7A00-852F-3C2D-F986E4E93C34}"/>
              </a:ext>
            </a:extLst>
          </p:cNvPr>
          <p:cNvPicPr>
            <a:picLocks noChangeAspect="1"/>
          </p:cNvPicPr>
          <p:nvPr/>
        </p:nvPicPr>
        <p:blipFill>
          <a:blip r:embed="rId7"/>
          <a:srcRect b="67089"/>
          <a:stretch>
            <a:fillRect/>
          </a:stretch>
        </p:blipFill>
        <p:spPr>
          <a:xfrm>
            <a:off x="12242875" y="2809254"/>
            <a:ext cx="3581400" cy="896631"/>
          </a:xfrm>
          <a:prstGeom prst="rect">
            <a:avLst/>
          </a:prstGeom>
        </p:spPr>
      </p:pic>
      <p:pic>
        <p:nvPicPr>
          <p:cNvPr id="41" name="Picture 40">
            <a:extLst>
              <a:ext uri="{FF2B5EF4-FFF2-40B4-BE49-F238E27FC236}">
                <a16:creationId xmlns:a16="http://schemas.microsoft.com/office/drawing/2014/main" id="{D7B79B32-8364-857C-8D27-7BD5437B3CD7}"/>
              </a:ext>
            </a:extLst>
          </p:cNvPr>
          <p:cNvPicPr>
            <a:picLocks noChangeAspect="1"/>
          </p:cNvPicPr>
          <p:nvPr/>
        </p:nvPicPr>
        <p:blipFill>
          <a:blip r:embed="rId6"/>
          <a:srcRect t="53912"/>
          <a:stretch>
            <a:fillRect/>
          </a:stretch>
        </p:blipFill>
        <p:spPr>
          <a:xfrm>
            <a:off x="9048750" y="4256131"/>
            <a:ext cx="2717875" cy="1276097"/>
          </a:xfrm>
          <a:prstGeom prst="rect">
            <a:avLst/>
          </a:prstGeom>
        </p:spPr>
      </p:pic>
      <p:pic>
        <p:nvPicPr>
          <p:cNvPr id="43" name="Picture 42">
            <a:extLst>
              <a:ext uri="{FF2B5EF4-FFF2-40B4-BE49-F238E27FC236}">
                <a16:creationId xmlns:a16="http://schemas.microsoft.com/office/drawing/2014/main" id="{8A36E251-CD06-9BEA-67F1-3CBDA32C79EB}"/>
              </a:ext>
            </a:extLst>
          </p:cNvPr>
          <p:cNvPicPr>
            <a:picLocks noChangeAspect="1"/>
          </p:cNvPicPr>
          <p:nvPr/>
        </p:nvPicPr>
        <p:blipFill>
          <a:blip r:embed="rId7"/>
          <a:srcRect t="67089"/>
          <a:stretch>
            <a:fillRect/>
          </a:stretch>
        </p:blipFill>
        <p:spPr>
          <a:xfrm>
            <a:off x="12242875" y="4371959"/>
            <a:ext cx="3932454" cy="984520"/>
          </a:xfrm>
          <a:prstGeom prst="rect">
            <a:avLst/>
          </a:prstGeom>
        </p:spPr>
      </p:pic>
      <p:pic>
        <p:nvPicPr>
          <p:cNvPr id="45" name="Picture 44">
            <a:extLst>
              <a:ext uri="{FF2B5EF4-FFF2-40B4-BE49-F238E27FC236}">
                <a16:creationId xmlns:a16="http://schemas.microsoft.com/office/drawing/2014/main" id="{56A5CE65-3A7B-891B-5F29-31612AAF75E4}"/>
              </a:ext>
            </a:extLst>
          </p:cNvPr>
          <p:cNvPicPr>
            <a:picLocks noChangeAspect="1"/>
          </p:cNvPicPr>
          <p:nvPr/>
        </p:nvPicPr>
        <p:blipFill>
          <a:blip r:embed="rId8"/>
          <a:stretch>
            <a:fillRect/>
          </a:stretch>
        </p:blipFill>
        <p:spPr>
          <a:xfrm>
            <a:off x="8375854" y="6528670"/>
            <a:ext cx="2464211" cy="927391"/>
          </a:xfrm>
          <a:prstGeom prst="rect">
            <a:avLst/>
          </a:prstGeom>
        </p:spPr>
      </p:pic>
      <p:pic>
        <p:nvPicPr>
          <p:cNvPr id="47" name="Picture 46">
            <a:extLst>
              <a:ext uri="{FF2B5EF4-FFF2-40B4-BE49-F238E27FC236}">
                <a16:creationId xmlns:a16="http://schemas.microsoft.com/office/drawing/2014/main" id="{321B2ECE-811F-3EC0-868F-63D7888C9255}"/>
              </a:ext>
            </a:extLst>
          </p:cNvPr>
          <p:cNvPicPr>
            <a:picLocks noChangeAspect="1"/>
          </p:cNvPicPr>
          <p:nvPr/>
        </p:nvPicPr>
        <p:blipFill>
          <a:blip r:embed="rId9"/>
          <a:stretch>
            <a:fillRect/>
          </a:stretch>
        </p:blipFill>
        <p:spPr>
          <a:xfrm>
            <a:off x="11634919" y="6400603"/>
            <a:ext cx="3428137" cy="1183523"/>
          </a:xfrm>
          <a:prstGeom prst="rect">
            <a:avLst/>
          </a:prstGeom>
        </p:spPr>
      </p:pic>
      <p:pic>
        <p:nvPicPr>
          <p:cNvPr id="49" name="Picture 48">
            <a:extLst>
              <a:ext uri="{FF2B5EF4-FFF2-40B4-BE49-F238E27FC236}">
                <a16:creationId xmlns:a16="http://schemas.microsoft.com/office/drawing/2014/main" id="{32B1F5EE-98B3-A48E-15D6-FCF34469C4D9}"/>
              </a:ext>
            </a:extLst>
          </p:cNvPr>
          <p:cNvPicPr>
            <a:picLocks noChangeAspect="1"/>
          </p:cNvPicPr>
          <p:nvPr/>
        </p:nvPicPr>
        <p:blipFill>
          <a:blip r:embed="rId10"/>
          <a:stretch>
            <a:fillRect/>
          </a:stretch>
        </p:blipFill>
        <p:spPr>
          <a:xfrm>
            <a:off x="7288122" y="8235470"/>
            <a:ext cx="4639674" cy="976773"/>
          </a:xfrm>
          <a:prstGeom prst="rect">
            <a:avLst/>
          </a:prstGeom>
        </p:spPr>
      </p:pic>
      <p:pic>
        <p:nvPicPr>
          <p:cNvPr id="51" name="Picture 50">
            <a:extLst>
              <a:ext uri="{FF2B5EF4-FFF2-40B4-BE49-F238E27FC236}">
                <a16:creationId xmlns:a16="http://schemas.microsoft.com/office/drawing/2014/main" id="{CBD4FC94-337F-1B99-106B-1C7570C23B17}"/>
              </a:ext>
            </a:extLst>
          </p:cNvPr>
          <p:cNvPicPr>
            <a:picLocks noChangeAspect="1"/>
          </p:cNvPicPr>
          <p:nvPr/>
        </p:nvPicPr>
        <p:blipFill>
          <a:blip r:embed="rId11"/>
          <a:stretch>
            <a:fillRect/>
          </a:stretch>
        </p:blipFill>
        <p:spPr>
          <a:xfrm>
            <a:off x="11988503" y="8291849"/>
            <a:ext cx="5725747" cy="768886"/>
          </a:xfrm>
          <a:prstGeom prst="rect">
            <a:avLst/>
          </a:prstGeom>
        </p:spPr>
      </p:pic>
      <p:pic>
        <p:nvPicPr>
          <p:cNvPr id="53" name="Picture 52">
            <a:extLst>
              <a:ext uri="{FF2B5EF4-FFF2-40B4-BE49-F238E27FC236}">
                <a16:creationId xmlns:a16="http://schemas.microsoft.com/office/drawing/2014/main" id="{90996624-6ABA-DE96-3181-5D79DEDE9A52}"/>
              </a:ext>
            </a:extLst>
          </p:cNvPr>
          <p:cNvPicPr>
            <a:picLocks noChangeAspect="1"/>
          </p:cNvPicPr>
          <p:nvPr/>
        </p:nvPicPr>
        <p:blipFill>
          <a:blip r:embed="rId12"/>
          <a:stretch>
            <a:fillRect/>
          </a:stretch>
        </p:blipFill>
        <p:spPr>
          <a:xfrm>
            <a:off x="761999" y="6499075"/>
            <a:ext cx="4591666" cy="646335"/>
          </a:xfrm>
          <a:prstGeom prst="rect">
            <a:avLst/>
          </a:prstGeom>
        </p:spPr>
      </p:pic>
      <p:pic>
        <p:nvPicPr>
          <p:cNvPr id="55" name="Picture 54">
            <a:extLst>
              <a:ext uri="{FF2B5EF4-FFF2-40B4-BE49-F238E27FC236}">
                <a16:creationId xmlns:a16="http://schemas.microsoft.com/office/drawing/2014/main" id="{5769DB55-76DD-81F4-BB59-C610DA857C90}"/>
              </a:ext>
            </a:extLst>
          </p:cNvPr>
          <p:cNvPicPr>
            <a:picLocks noChangeAspect="1"/>
          </p:cNvPicPr>
          <p:nvPr/>
        </p:nvPicPr>
        <p:blipFill>
          <a:blip r:embed="rId13"/>
          <a:stretch>
            <a:fillRect/>
          </a:stretch>
        </p:blipFill>
        <p:spPr>
          <a:xfrm>
            <a:off x="806802" y="7421599"/>
            <a:ext cx="4003323" cy="627026"/>
          </a:xfrm>
          <a:prstGeom prst="rect">
            <a:avLst/>
          </a:prstGeom>
        </p:spPr>
      </p:pic>
      <p:pic>
        <p:nvPicPr>
          <p:cNvPr id="57" name="Picture 56">
            <a:extLst>
              <a:ext uri="{FF2B5EF4-FFF2-40B4-BE49-F238E27FC236}">
                <a16:creationId xmlns:a16="http://schemas.microsoft.com/office/drawing/2014/main" id="{4CB97948-3D1D-8F4F-83AC-C93F187DF813}"/>
              </a:ext>
            </a:extLst>
          </p:cNvPr>
          <p:cNvPicPr>
            <a:picLocks noChangeAspect="1"/>
          </p:cNvPicPr>
          <p:nvPr/>
        </p:nvPicPr>
        <p:blipFill>
          <a:blip r:embed="rId14"/>
          <a:stretch>
            <a:fillRect/>
          </a:stretch>
        </p:blipFill>
        <p:spPr>
          <a:xfrm>
            <a:off x="761999" y="8363748"/>
            <a:ext cx="2936264" cy="720215"/>
          </a:xfrm>
          <a:prstGeom prst="rect">
            <a:avLst/>
          </a:prstGeom>
        </p:spPr>
      </p:pic>
      <p:pic>
        <p:nvPicPr>
          <p:cNvPr id="59" name="Picture 58">
            <a:extLst>
              <a:ext uri="{FF2B5EF4-FFF2-40B4-BE49-F238E27FC236}">
                <a16:creationId xmlns:a16="http://schemas.microsoft.com/office/drawing/2014/main" id="{D8A60E97-3948-8728-0237-6769DE3D5C41}"/>
              </a:ext>
            </a:extLst>
          </p:cNvPr>
          <p:cNvPicPr>
            <a:picLocks noChangeAspect="1"/>
          </p:cNvPicPr>
          <p:nvPr/>
        </p:nvPicPr>
        <p:blipFill>
          <a:blip r:embed="rId15"/>
          <a:stretch>
            <a:fillRect/>
          </a:stretch>
        </p:blipFill>
        <p:spPr>
          <a:xfrm>
            <a:off x="761999" y="9306586"/>
            <a:ext cx="3114001" cy="706963"/>
          </a:xfrm>
          <a:prstGeom prst="rect">
            <a:avLst/>
          </a:prstGeom>
        </p:spPr>
      </p:pic>
    </p:spTree>
    <p:extLst>
      <p:ext uri="{BB962C8B-B14F-4D97-AF65-F5344CB8AC3E}">
        <p14:creationId xmlns:p14="http://schemas.microsoft.com/office/powerpoint/2010/main" val="1287470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15741A0F-2278-4F6C-9ACA-86124F6823B2}"/>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FDF1F89C-898F-44F3-B0B6-938EF9EF4071}"/>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05</a:t>
            </a:r>
          </a:p>
        </p:txBody>
      </p:sp>
      <p:sp>
        <p:nvSpPr>
          <p:cNvPr id="3" name="Rectangle 2">
            <a:extLst>
              <a:ext uri="{FF2B5EF4-FFF2-40B4-BE49-F238E27FC236}">
                <a16:creationId xmlns:a16="http://schemas.microsoft.com/office/drawing/2014/main" id="{52F40E39-8C29-43D5-9A51-799FE7903D44}"/>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a:solidFill>
                  <a:srgbClr val="172B3A"/>
                </a:solidFill>
                <a:latin typeface="Nimbus Sans"/>
                <a:ea typeface="Nimbus Sans"/>
                <a:cs typeface="Nimbus Sans"/>
              </a:rPr>
              <a:t>Dataset evaluation</a:t>
            </a:r>
          </a:p>
        </p:txBody>
      </p:sp>
      <p:sp>
        <p:nvSpPr>
          <p:cNvPr id="4" name="Rectangle 3">
            <a:extLst>
              <a:ext uri="{FF2B5EF4-FFF2-40B4-BE49-F238E27FC236}">
                <a16:creationId xmlns:a16="http://schemas.microsoft.com/office/drawing/2014/main" id="{D98509F2-8EF5-4B22-9CEE-3C8FB2298937}"/>
              </a:ext>
            </a:extLst>
          </p:cNvPr>
          <p:cNvSpPr>
            <a:spLocks noGrp="1"/>
          </p:cNvSpPr>
          <p:nvPr/>
        </p:nvSpPr>
        <p:spPr>
          <a:xfrm>
            <a:off x="762000" y="1838325"/>
            <a:ext cx="16764000" cy="9525"/>
          </a:xfrm>
          <a:prstGeom prst="rect">
            <a:avLst/>
          </a:prstGeom>
          <a:noFill/>
          <a:ln w="14288">
            <a:solidFill>
              <a:srgbClr val="D9E2E7"/>
            </a:solidFill>
            <a:prstDash val="solid"/>
          </a:ln>
        </p:spPr>
        <p:txBody>
          <a:bodyPr/>
          <a:lstStyle/>
          <a:p>
            <a:endParaRPr lang="en-US"/>
          </a:p>
        </p:txBody>
      </p:sp>
      <p:sp>
        <p:nvSpPr>
          <p:cNvPr id="6" name="Rectangle 5">
            <a:extLst>
              <a:ext uri="{FF2B5EF4-FFF2-40B4-BE49-F238E27FC236}">
                <a16:creationId xmlns:a16="http://schemas.microsoft.com/office/drawing/2014/main" id="{8559B7F3-A1BA-488A-B70A-B77603F98F91}"/>
              </a:ext>
            </a:extLst>
          </p:cNvPr>
          <p:cNvSpPr>
            <a:spLocks noGrp="1"/>
          </p:cNvSpPr>
          <p:nvPr/>
        </p:nvSpPr>
        <p:spPr>
          <a:xfrm>
            <a:off x="762000" y="2238375"/>
            <a:ext cx="7524750"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lang="en-US" sz="2625" b="1" dirty="0">
                <a:solidFill>
                  <a:srgbClr val="172B3A"/>
                </a:solidFill>
                <a:latin typeface="Nimbus Sans"/>
                <a:ea typeface="Nimbus Sans"/>
                <a:cs typeface="Nimbus Sans"/>
              </a:rPr>
              <a:t>Four</a:t>
            </a:r>
            <a:r>
              <a:rPr sz="2625" b="1" dirty="0">
                <a:solidFill>
                  <a:srgbClr val="172B3A"/>
                </a:solidFill>
                <a:latin typeface="Nimbus Sans"/>
                <a:ea typeface="Nimbus Sans"/>
                <a:cs typeface="Nimbus Sans"/>
              </a:rPr>
              <a:t> datasets, kept separate</a:t>
            </a:r>
          </a:p>
        </p:txBody>
      </p:sp>
      <p:sp>
        <p:nvSpPr>
          <p:cNvPr id="7" name="Rectangle 6">
            <a:extLst>
              <a:ext uri="{FF2B5EF4-FFF2-40B4-BE49-F238E27FC236}">
                <a16:creationId xmlns:a16="http://schemas.microsoft.com/office/drawing/2014/main" id="{21163F2B-A0E3-4EFE-AB0D-7F925EA36934}"/>
              </a:ext>
            </a:extLst>
          </p:cNvPr>
          <p:cNvSpPr>
            <a:spLocks noGrp="1"/>
          </p:cNvSpPr>
          <p:nvPr/>
        </p:nvSpPr>
        <p:spPr>
          <a:xfrm>
            <a:off x="762000" y="3038475"/>
            <a:ext cx="7524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Tripura development telemetry</a:t>
            </a:r>
          </a:p>
        </p:txBody>
      </p:sp>
      <p:sp>
        <p:nvSpPr>
          <p:cNvPr id="8" name="Rectangle 7">
            <a:extLst>
              <a:ext uri="{FF2B5EF4-FFF2-40B4-BE49-F238E27FC236}">
                <a16:creationId xmlns:a16="http://schemas.microsoft.com/office/drawing/2014/main" id="{FD03970C-75D2-4410-9707-AA210ED2EB04}"/>
              </a:ext>
            </a:extLst>
          </p:cNvPr>
          <p:cNvSpPr>
            <a:spLocks noGrp="1"/>
          </p:cNvSpPr>
          <p:nvPr/>
        </p:nvSpPr>
        <p:spPr>
          <a:xfrm>
            <a:off x="762000" y="3495675"/>
            <a:ext cx="7524750" cy="418719"/>
          </a:xfrm>
          <a:prstGeom prst="rect">
            <a:avLst/>
          </a:prstGeom>
          <a:noFill/>
          <a:ln w="0">
            <a:noFill/>
            <a:prstDash val="solid"/>
          </a:ln>
        </p:spPr>
        <p:txBody>
          <a:bodyPr wrap="none" lIns="0" tIns="0" rIns="0" bIns="0" anchor="t">
            <a:noAutofit/>
          </a:bodyPr>
          <a:lstStyle>
            <a:defPPr algn="l">
              <a:defRPr sz="2175" b="0">
                <a:solidFill>
                  <a:srgbClr val="536675"/>
                </a:solidFill>
                <a:latin typeface="Nimbus Sans"/>
                <a:ea typeface="Nimbus Sans"/>
                <a:cs typeface="Nimbus Sans"/>
              </a:defRPr>
            </a:defPPr>
          </a:lstStyle>
          <a:p>
            <a:pPr algn="l">
              <a:defRPr sz="2175" b="0">
                <a:solidFill>
                  <a:srgbClr val="536675"/>
                </a:solidFill>
                <a:latin typeface="Nimbus Sans"/>
                <a:ea typeface="Nimbus Sans"/>
                <a:cs typeface="Nimbus Sans"/>
              </a:defRPr>
            </a:pPr>
            <a:r>
              <a:rPr sz="2175" b="0" dirty="0">
                <a:solidFill>
                  <a:srgbClr val="536675"/>
                </a:solidFill>
                <a:latin typeface="Nimbus Sans"/>
                <a:ea typeface="Nimbus Sans"/>
                <a:cs typeface="Nimbus Sans"/>
              </a:rPr>
              <a:t>Real telemetry. TEST is a development set.</a:t>
            </a:r>
          </a:p>
        </p:txBody>
      </p:sp>
      <p:sp>
        <p:nvSpPr>
          <p:cNvPr id="9" name="Rectangle 8">
            <a:extLst>
              <a:ext uri="{FF2B5EF4-FFF2-40B4-BE49-F238E27FC236}">
                <a16:creationId xmlns:a16="http://schemas.microsoft.com/office/drawing/2014/main" id="{E413067C-DD24-4781-A737-6F793447D1BA}"/>
              </a:ext>
            </a:extLst>
          </p:cNvPr>
          <p:cNvSpPr>
            <a:spLocks noGrp="1"/>
          </p:cNvSpPr>
          <p:nvPr/>
        </p:nvSpPr>
        <p:spPr>
          <a:xfrm>
            <a:off x="762000" y="4276725"/>
            <a:ext cx="7524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dirty="0">
                <a:solidFill>
                  <a:srgbClr val="172B3A"/>
                </a:solidFill>
                <a:latin typeface="Nimbus Sans"/>
                <a:ea typeface="Nimbus Sans"/>
                <a:cs typeface="Nimbus Sans"/>
              </a:rPr>
              <a:t>CPRI-schema v3.0.2</a:t>
            </a:r>
          </a:p>
        </p:txBody>
      </p:sp>
      <p:sp>
        <p:nvSpPr>
          <p:cNvPr id="10" name="Rectangle 9">
            <a:extLst>
              <a:ext uri="{FF2B5EF4-FFF2-40B4-BE49-F238E27FC236}">
                <a16:creationId xmlns:a16="http://schemas.microsoft.com/office/drawing/2014/main" id="{72956019-0378-4D50-A4EA-26E304C5418C}"/>
              </a:ext>
            </a:extLst>
          </p:cNvPr>
          <p:cNvSpPr>
            <a:spLocks noGrp="1"/>
          </p:cNvSpPr>
          <p:nvPr/>
        </p:nvSpPr>
        <p:spPr>
          <a:xfrm>
            <a:off x="762000" y="4733925"/>
            <a:ext cx="7524750" cy="418719"/>
          </a:xfrm>
          <a:prstGeom prst="rect">
            <a:avLst/>
          </a:prstGeom>
          <a:noFill/>
          <a:ln w="0">
            <a:noFill/>
            <a:prstDash val="solid"/>
          </a:ln>
        </p:spPr>
        <p:txBody>
          <a:bodyPr wrap="none" lIns="0" tIns="0" rIns="0" bIns="0" anchor="t">
            <a:noAutofit/>
          </a:bodyPr>
          <a:lstStyle>
            <a:defPPr algn="l">
              <a:defRPr sz="2175" b="0">
                <a:solidFill>
                  <a:srgbClr val="536675"/>
                </a:solidFill>
                <a:latin typeface="Nimbus Sans"/>
                <a:ea typeface="Nimbus Sans"/>
                <a:cs typeface="Nimbus Sans"/>
              </a:defRPr>
            </a:defPPr>
          </a:lstStyle>
          <a:p>
            <a:pPr algn="l">
              <a:defRPr sz="2175" b="0">
                <a:solidFill>
                  <a:srgbClr val="536675"/>
                </a:solidFill>
                <a:latin typeface="Nimbus Sans"/>
                <a:ea typeface="Nimbus Sans"/>
                <a:cs typeface="Nimbus Sans"/>
              </a:defRPr>
            </a:pPr>
            <a:r>
              <a:rPr sz="2175" b="0">
                <a:solidFill>
                  <a:srgbClr val="536675"/>
                </a:solidFill>
                <a:latin typeface="Nimbus Sans"/>
                <a:ea typeface="Nimbus Sans"/>
                <a:cs typeface="Nimbus Sans"/>
              </a:rPr>
              <a:t>Synthetic benchmark. 8 assets, 360 injected events.</a:t>
            </a:r>
          </a:p>
        </p:txBody>
      </p:sp>
      <p:sp>
        <p:nvSpPr>
          <p:cNvPr id="11" name="Rectangle 10">
            <a:extLst>
              <a:ext uri="{FF2B5EF4-FFF2-40B4-BE49-F238E27FC236}">
                <a16:creationId xmlns:a16="http://schemas.microsoft.com/office/drawing/2014/main" id="{71C8B5D9-991F-4370-AE1A-4C860A035239}"/>
              </a:ext>
            </a:extLst>
          </p:cNvPr>
          <p:cNvSpPr>
            <a:spLocks noGrp="1"/>
          </p:cNvSpPr>
          <p:nvPr/>
        </p:nvSpPr>
        <p:spPr>
          <a:xfrm>
            <a:off x="762000" y="5514975"/>
            <a:ext cx="7524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GridPulse synthetic v1</a:t>
            </a:r>
          </a:p>
        </p:txBody>
      </p:sp>
      <p:sp>
        <p:nvSpPr>
          <p:cNvPr id="12" name="Rectangle 11">
            <a:extLst>
              <a:ext uri="{FF2B5EF4-FFF2-40B4-BE49-F238E27FC236}">
                <a16:creationId xmlns:a16="http://schemas.microsoft.com/office/drawing/2014/main" id="{7B6D32AC-B668-42FA-B34A-6ED5E4617A94}"/>
              </a:ext>
            </a:extLst>
          </p:cNvPr>
          <p:cNvSpPr>
            <a:spLocks noGrp="1"/>
          </p:cNvSpPr>
          <p:nvPr/>
        </p:nvSpPr>
        <p:spPr>
          <a:xfrm>
            <a:off x="762000" y="5972175"/>
            <a:ext cx="7524750" cy="418719"/>
          </a:xfrm>
          <a:prstGeom prst="rect">
            <a:avLst/>
          </a:prstGeom>
          <a:noFill/>
          <a:ln w="0">
            <a:noFill/>
            <a:prstDash val="solid"/>
          </a:ln>
        </p:spPr>
        <p:txBody>
          <a:bodyPr wrap="none" lIns="0" tIns="0" rIns="0" bIns="0" anchor="t">
            <a:noAutofit/>
          </a:bodyPr>
          <a:lstStyle>
            <a:defPPr algn="l">
              <a:defRPr sz="2175" b="0">
                <a:solidFill>
                  <a:srgbClr val="536675"/>
                </a:solidFill>
                <a:latin typeface="Nimbus Sans"/>
                <a:ea typeface="Nimbus Sans"/>
                <a:cs typeface="Nimbus Sans"/>
              </a:defRPr>
            </a:defPPr>
          </a:lstStyle>
          <a:p>
            <a:pPr algn="l">
              <a:defRPr sz="2175" b="0">
                <a:solidFill>
                  <a:srgbClr val="536675"/>
                </a:solidFill>
                <a:latin typeface="Nimbus Sans"/>
                <a:ea typeface="Nimbus Sans"/>
                <a:cs typeface="Nimbus Sans"/>
              </a:defRPr>
            </a:pPr>
            <a:r>
              <a:rPr sz="2175" b="0">
                <a:solidFill>
                  <a:srgbClr val="536675"/>
                </a:solidFill>
                <a:latin typeface="Nimbus Sans"/>
                <a:ea typeface="Nimbus Sans"/>
                <a:cs typeface="Nimbus Sans"/>
              </a:rPr>
              <a:t>4 assets, 37 scenarios and 5 protection events.</a:t>
            </a:r>
          </a:p>
        </p:txBody>
      </p:sp>
      <p:sp>
        <p:nvSpPr>
          <p:cNvPr id="13" name="Rectangle 12">
            <a:extLst>
              <a:ext uri="{FF2B5EF4-FFF2-40B4-BE49-F238E27FC236}">
                <a16:creationId xmlns:a16="http://schemas.microsoft.com/office/drawing/2014/main" id="{B752A490-E4EB-4494-AC90-77C51C180DAC}"/>
              </a:ext>
            </a:extLst>
          </p:cNvPr>
          <p:cNvSpPr>
            <a:spLocks noGrp="1"/>
          </p:cNvSpPr>
          <p:nvPr/>
        </p:nvSpPr>
        <p:spPr>
          <a:xfrm>
            <a:off x="762000" y="6753225"/>
            <a:ext cx="7524750" cy="442341"/>
          </a:xfrm>
          <a:prstGeom prst="rect">
            <a:avLst/>
          </a:prstGeom>
          <a:noFill/>
          <a:ln w="0">
            <a:noFill/>
            <a:prstDash val="solid"/>
          </a:ln>
        </p:spPr>
        <p:txBody>
          <a:bodyPr wrap="none" lIns="0" tIns="0" rIns="0" bIns="0" anchor="t">
            <a:noAutofit/>
          </a:bodyPr>
          <a:lstStyle>
            <a:defPPr algn="l">
              <a:defRPr sz="2325" b="1">
                <a:solidFill>
                  <a:srgbClr val="172B3A"/>
                </a:solidFill>
                <a:latin typeface="Nimbus Sans"/>
                <a:ea typeface="Nimbus Sans"/>
                <a:cs typeface="Nimbus Sans"/>
              </a:defRPr>
            </a:defPPr>
          </a:lstStyle>
          <a:p>
            <a:pPr algn="l">
              <a:defRPr sz="2325" b="1">
                <a:solidFill>
                  <a:srgbClr val="172B3A"/>
                </a:solidFill>
                <a:latin typeface="Nimbus Sans"/>
                <a:ea typeface="Nimbus Sans"/>
                <a:cs typeface="Nimbus Sans"/>
              </a:defRPr>
            </a:pPr>
            <a:r>
              <a:rPr sz="2325" b="1">
                <a:solidFill>
                  <a:srgbClr val="172B3A"/>
                </a:solidFill>
                <a:latin typeface="Nimbus Sans"/>
                <a:ea typeface="Nimbus Sans"/>
                <a:cs typeface="Nimbus Sans"/>
              </a:rPr>
              <a:t>Backup story set</a:t>
            </a:r>
          </a:p>
        </p:txBody>
      </p:sp>
      <p:sp>
        <p:nvSpPr>
          <p:cNvPr id="14" name="Rectangle 13">
            <a:extLst>
              <a:ext uri="{FF2B5EF4-FFF2-40B4-BE49-F238E27FC236}">
                <a16:creationId xmlns:a16="http://schemas.microsoft.com/office/drawing/2014/main" id="{68ED8140-7CEE-42C3-9FB9-0D3D6B84B682}"/>
              </a:ext>
            </a:extLst>
          </p:cNvPr>
          <p:cNvSpPr>
            <a:spLocks noGrp="1"/>
          </p:cNvSpPr>
          <p:nvPr/>
        </p:nvSpPr>
        <p:spPr>
          <a:xfrm>
            <a:off x="762000" y="7210425"/>
            <a:ext cx="7524750" cy="418719"/>
          </a:xfrm>
          <a:prstGeom prst="rect">
            <a:avLst/>
          </a:prstGeom>
          <a:noFill/>
          <a:ln w="0">
            <a:noFill/>
            <a:prstDash val="solid"/>
          </a:ln>
        </p:spPr>
        <p:txBody>
          <a:bodyPr wrap="none" lIns="0" tIns="0" rIns="0" bIns="0" anchor="t">
            <a:noAutofit/>
          </a:bodyPr>
          <a:lstStyle>
            <a:defPPr algn="l">
              <a:defRPr sz="2175" b="0">
                <a:solidFill>
                  <a:srgbClr val="536675"/>
                </a:solidFill>
                <a:latin typeface="Nimbus Sans"/>
                <a:ea typeface="Nimbus Sans"/>
                <a:cs typeface="Nimbus Sans"/>
              </a:defRPr>
            </a:defPPr>
          </a:lstStyle>
          <a:p>
            <a:pPr algn="l">
              <a:defRPr sz="2175" b="0">
                <a:solidFill>
                  <a:srgbClr val="536675"/>
                </a:solidFill>
                <a:latin typeface="Nimbus Sans"/>
                <a:ea typeface="Nimbus Sans"/>
                <a:cs typeface="Nimbus Sans"/>
              </a:defRPr>
            </a:pPr>
            <a:r>
              <a:rPr sz="2175" b="0" dirty="0">
                <a:solidFill>
                  <a:srgbClr val="536675"/>
                </a:solidFill>
                <a:latin typeface="Nimbus Sans"/>
                <a:ea typeface="Nimbus Sans"/>
                <a:cs typeface="Nimbus Sans"/>
              </a:rPr>
              <a:t>Synthetic demo only. An adapter is still needed.</a:t>
            </a:r>
          </a:p>
        </p:txBody>
      </p:sp>
      <p:sp>
        <p:nvSpPr>
          <p:cNvPr id="15" name="Rectangle 14">
            <a:extLst>
              <a:ext uri="{FF2B5EF4-FFF2-40B4-BE49-F238E27FC236}">
                <a16:creationId xmlns:a16="http://schemas.microsoft.com/office/drawing/2014/main" id="{3D14AE57-E408-4C53-9E24-A26DBBDF4A4A}"/>
              </a:ext>
            </a:extLst>
          </p:cNvPr>
          <p:cNvSpPr>
            <a:spLocks noGrp="1"/>
          </p:cNvSpPr>
          <p:nvPr/>
        </p:nvSpPr>
        <p:spPr>
          <a:xfrm>
            <a:off x="762000" y="8534400"/>
            <a:ext cx="7524750" cy="395097"/>
          </a:xfrm>
          <a:prstGeom prst="rect">
            <a:avLst/>
          </a:prstGeom>
          <a:noFill/>
          <a:ln w="0">
            <a:noFill/>
            <a:prstDash val="solid"/>
          </a:ln>
        </p:spPr>
        <p:txBody>
          <a:bodyPr wrap="none" lIns="0" tIns="0" rIns="0" bIns="0" anchor="t">
            <a:noAutofit/>
          </a:bodyPr>
          <a:lstStyle>
            <a:defPPr algn="l">
              <a:defRPr sz="2025" b="1">
                <a:solidFill>
                  <a:srgbClr val="087E98"/>
                </a:solidFill>
                <a:latin typeface="Nimbus Sans"/>
                <a:ea typeface="Nimbus Sans"/>
                <a:cs typeface="Nimbus Sans"/>
              </a:defRPr>
            </a:defPPr>
          </a:lstStyle>
          <a:p>
            <a:pPr algn="l">
              <a:defRPr sz="2025" b="1">
                <a:solidFill>
                  <a:srgbClr val="087E98"/>
                </a:solidFill>
                <a:latin typeface="Nimbus Sans"/>
                <a:ea typeface="Nimbus Sans"/>
                <a:cs typeface="Nimbus Sans"/>
              </a:defRPr>
            </a:pPr>
            <a:r>
              <a:rPr sz="2025" b="1">
                <a:solidFill>
                  <a:srgbClr val="087E98"/>
                </a:solidFill>
                <a:latin typeface="Nimbus Sans"/>
                <a:ea typeface="Nimbus Sans"/>
                <a:cs typeface="Nimbus Sans"/>
              </a:rPr>
              <a:t>FIT → CALIBRATION → FREEZE → TEST</a:t>
            </a:r>
          </a:p>
        </p:txBody>
      </p:sp>
      <p:sp>
        <p:nvSpPr>
          <p:cNvPr id="16" name="Rectangle 15">
            <a:extLst>
              <a:ext uri="{FF2B5EF4-FFF2-40B4-BE49-F238E27FC236}">
                <a16:creationId xmlns:a16="http://schemas.microsoft.com/office/drawing/2014/main" id="{36A61E6C-743E-401B-B92A-ABB09AC675A7}"/>
              </a:ext>
            </a:extLst>
          </p:cNvPr>
          <p:cNvSpPr>
            <a:spLocks noGrp="1"/>
          </p:cNvSpPr>
          <p:nvPr/>
        </p:nvSpPr>
        <p:spPr>
          <a:xfrm>
            <a:off x="762000" y="8991600"/>
            <a:ext cx="7524750" cy="418719"/>
          </a:xfrm>
          <a:prstGeom prst="rect">
            <a:avLst/>
          </a:prstGeom>
          <a:noFill/>
          <a:ln w="0">
            <a:noFill/>
            <a:prstDash val="solid"/>
          </a:ln>
        </p:spPr>
        <p:txBody>
          <a:bodyPr wrap="none" lIns="0" tIns="0" rIns="0" bIns="0" anchor="t">
            <a:noAutofit/>
          </a:bodyPr>
          <a:lstStyle>
            <a:defPPr algn="l">
              <a:defRPr sz="2175" b="0">
                <a:solidFill>
                  <a:srgbClr val="536675"/>
                </a:solidFill>
                <a:latin typeface="Nimbus Sans"/>
                <a:ea typeface="Nimbus Sans"/>
                <a:cs typeface="Nimbus Sans"/>
              </a:defRPr>
            </a:defPPr>
          </a:lstStyle>
          <a:p>
            <a:pPr algn="l">
              <a:defRPr sz="2175" b="0">
                <a:solidFill>
                  <a:srgbClr val="536675"/>
                </a:solidFill>
                <a:latin typeface="Nimbus Sans"/>
                <a:ea typeface="Nimbus Sans"/>
                <a:cs typeface="Nimbus Sans"/>
              </a:defRPr>
            </a:pPr>
            <a:r>
              <a:rPr sz="2175" b="0" dirty="0">
                <a:solidFill>
                  <a:srgbClr val="536675"/>
                </a:solidFill>
                <a:latin typeface="Nimbus Sans"/>
                <a:ea typeface="Nimbus Sans"/>
                <a:cs typeface="Nimbus Sans"/>
              </a:rPr>
              <a:t>Oracle labels stay outside the runtime.</a:t>
            </a:r>
          </a:p>
        </p:txBody>
      </p:sp>
      <p:sp>
        <p:nvSpPr>
          <p:cNvPr id="55" name="TextBox 54">
            <a:extLst>
              <a:ext uri="{FF2B5EF4-FFF2-40B4-BE49-F238E27FC236}">
                <a16:creationId xmlns:a16="http://schemas.microsoft.com/office/drawing/2014/main" id="{552E842A-E291-E0F2-7D1E-D562988BBAB2}"/>
              </a:ext>
            </a:extLst>
          </p:cNvPr>
          <p:cNvSpPr txBox="1"/>
          <p:nvPr/>
        </p:nvSpPr>
        <p:spPr>
          <a:xfrm>
            <a:off x="7905750" y="2119361"/>
            <a:ext cx="9144000" cy="7848302"/>
          </a:xfrm>
          <a:prstGeom prst="rect">
            <a:avLst/>
          </a:prstGeom>
          <a:noFill/>
        </p:spPr>
        <p:txBody>
          <a:bodyPr wrap="square">
            <a:spAutoFit/>
          </a:bodyPr>
          <a:lstStyle/>
          <a:p>
            <a:pPr>
              <a:buNone/>
            </a:pPr>
            <a:r>
              <a:rPr lang="en-US" sz="2800" b="1" dirty="0"/>
              <a:t>Approach Used :</a:t>
            </a:r>
          </a:p>
          <a:p>
            <a:pPr>
              <a:buNone/>
            </a:pPr>
            <a:endParaRPr lang="en-US" sz="2800" b="1" dirty="0"/>
          </a:p>
          <a:p>
            <a:pPr>
              <a:buNone/>
            </a:pPr>
            <a:r>
              <a:rPr lang="en-US" sz="2800" b="1" dirty="0"/>
              <a:t>Synthetic Data: A Controlled Testing Approach</a:t>
            </a:r>
            <a:endParaRPr lang="en-US" sz="2800" dirty="0"/>
          </a:p>
          <a:p>
            <a:pPr marL="342900" lvl="0" indent="-342900">
              <a:buFont typeface="Arial" panose="020B0604020202020204" pitchFamily="34" charset="0"/>
              <a:buChar char="•"/>
            </a:pPr>
            <a:r>
              <a:rPr lang="en-US" sz="2800" dirty="0"/>
              <a:t>Enables reproducible testing across normal operation and controlled fault scenarios.</a:t>
            </a:r>
          </a:p>
          <a:p>
            <a:pPr marL="342900" lvl="0" indent="-342900">
              <a:buFont typeface="Arial" panose="020B0604020202020204" pitchFamily="34" charset="0"/>
              <a:buChar char="•"/>
            </a:pPr>
            <a:r>
              <a:rPr lang="en-US" sz="2800" dirty="0"/>
              <a:t>Supports evaluation when comprehensive, labelled real-world fault data is limited.</a:t>
            </a:r>
          </a:p>
          <a:p>
            <a:pPr marL="342900" lvl="0" indent="-342900">
              <a:buFont typeface="Arial" panose="020B0604020202020204" pitchFamily="34" charset="0"/>
              <a:buChar char="•"/>
            </a:pPr>
            <a:r>
              <a:rPr lang="en-US" sz="2800" dirty="0"/>
              <a:t>Allows systematic testing of detector responses and system behavior.</a:t>
            </a:r>
          </a:p>
          <a:p>
            <a:pPr lvl="0"/>
            <a:endParaRPr lang="en-US" sz="2800" dirty="0"/>
          </a:p>
          <a:p>
            <a:pPr marL="342900" lvl="0" indent="-342900">
              <a:buFont typeface="Arial" panose="020B0604020202020204" pitchFamily="34" charset="0"/>
              <a:buChar char="•"/>
            </a:pPr>
            <a:r>
              <a:rPr lang="en-US" sz="2800" b="1" dirty="0"/>
              <a:t>Limitation:</a:t>
            </a:r>
            <a:r>
              <a:rPr lang="en-US" sz="2800" dirty="0"/>
              <a:t> Synthetic results alone cannot establish real-world performance; validation against field data remains essential.</a:t>
            </a:r>
          </a:p>
          <a:p>
            <a:pPr lvl="0"/>
            <a:endParaRPr lang="en-US" sz="2800" dirty="0"/>
          </a:p>
          <a:p>
            <a:pPr>
              <a:buNone/>
            </a:pPr>
            <a:r>
              <a:rPr lang="en-US" sz="2800" i="1" dirty="0"/>
              <a:t>References: Transformer fault identification using synthetic data, IEEE TDEI (2025); Krishnan et al. (2020), Validation of Synthetic U.S. Electric Power Distribution System Data Sets.</a:t>
            </a:r>
            <a:endParaRPr lang="en-US" sz="2800" dirty="0"/>
          </a:p>
        </p:txBody>
      </p:sp>
    </p:spTree>
    <p:extLst>
      <p:ext uri="{BB962C8B-B14F-4D97-AF65-F5344CB8AC3E}">
        <p14:creationId xmlns:p14="http://schemas.microsoft.com/office/powerpoint/2010/main" val="1224019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D444DAD-4626-41A1-9D29-2DFA928D442C}"/>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218BE848-0844-4036-9E5B-B37E6EE9C23C}"/>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06</a:t>
            </a:r>
          </a:p>
        </p:txBody>
      </p:sp>
      <p:sp>
        <p:nvSpPr>
          <p:cNvPr id="3" name="Rectangle 2">
            <a:extLst>
              <a:ext uri="{FF2B5EF4-FFF2-40B4-BE49-F238E27FC236}">
                <a16:creationId xmlns:a16="http://schemas.microsoft.com/office/drawing/2014/main" id="{EF1428B6-7265-4C7C-8E8C-2D592DBD971F}"/>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a:solidFill>
                  <a:srgbClr val="172B3A"/>
                </a:solidFill>
                <a:latin typeface="Nimbus Sans"/>
                <a:ea typeface="Nimbus Sans"/>
                <a:cs typeface="Nimbus Sans"/>
              </a:rPr>
              <a:t>Scenario testing and maintenance</a:t>
            </a:r>
          </a:p>
        </p:txBody>
      </p:sp>
      <p:sp>
        <p:nvSpPr>
          <p:cNvPr id="4" name="Rectangle 3">
            <a:extLst>
              <a:ext uri="{FF2B5EF4-FFF2-40B4-BE49-F238E27FC236}">
                <a16:creationId xmlns:a16="http://schemas.microsoft.com/office/drawing/2014/main" id="{BF473247-CFCE-4139-83DF-5BC9FC964DE3}"/>
              </a:ext>
            </a:extLst>
          </p:cNvPr>
          <p:cNvSpPr>
            <a:spLocks noGrp="1"/>
          </p:cNvSpPr>
          <p:nvPr/>
        </p:nvSpPr>
        <p:spPr>
          <a:xfrm>
            <a:off x="762000" y="1838325"/>
            <a:ext cx="16764000" cy="9525"/>
          </a:xfrm>
          <a:prstGeom prst="rect">
            <a:avLst/>
          </a:prstGeom>
          <a:noFill/>
          <a:ln w="14288">
            <a:solidFill>
              <a:srgbClr val="D9E2E7"/>
            </a:solidFill>
            <a:prstDash val="solid"/>
          </a:ln>
        </p:spPr>
        <p:txBody>
          <a:bodyPr/>
          <a:lstStyle/>
          <a:p>
            <a:endParaRPr lang="en-US"/>
          </a:p>
        </p:txBody>
      </p:sp>
      <p:sp>
        <p:nvSpPr>
          <p:cNvPr id="6" name="Rectangle 5">
            <a:extLst>
              <a:ext uri="{FF2B5EF4-FFF2-40B4-BE49-F238E27FC236}">
                <a16:creationId xmlns:a16="http://schemas.microsoft.com/office/drawing/2014/main" id="{B9513FFF-A655-4A9B-8FF4-9A67AC94EC2A}"/>
              </a:ext>
            </a:extLst>
          </p:cNvPr>
          <p:cNvSpPr>
            <a:spLocks noGrp="1"/>
          </p:cNvSpPr>
          <p:nvPr/>
        </p:nvSpPr>
        <p:spPr>
          <a:xfrm>
            <a:off x="762000" y="2381250"/>
            <a:ext cx="5286375" cy="501396"/>
          </a:xfrm>
          <a:prstGeom prst="rect">
            <a:avLst/>
          </a:prstGeom>
          <a:noFill/>
          <a:ln w="0">
            <a:noFill/>
            <a:prstDash val="solid"/>
          </a:ln>
        </p:spPr>
        <p:txBody>
          <a:bodyPr wrap="none" lIns="0" tIns="0" rIns="0" bIns="0" anchor="t">
            <a:noAutofit/>
          </a:bodyPr>
          <a:lstStyle>
            <a:defPPr algn="l">
              <a:defRPr sz="2700" b="1">
                <a:solidFill>
                  <a:srgbClr val="172B3A"/>
                </a:solidFill>
                <a:latin typeface="Nimbus Sans"/>
                <a:ea typeface="Nimbus Sans"/>
                <a:cs typeface="Nimbus Sans"/>
              </a:defRPr>
            </a:defPPr>
          </a:lstStyle>
          <a:p>
            <a:pPr algn="l">
              <a:defRPr sz="2700" b="1">
                <a:solidFill>
                  <a:srgbClr val="172B3A"/>
                </a:solidFill>
                <a:latin typeface="Nimbus Sans"/>
                <a:ea typeface="Nimbus Sans"/>
                <a:cs typeface="Nimbus Sans"/>
              </a:defRPr>
            </a:pPr>
            <a:r>
              <a:rPr sz="2700" b="1">
                <a:solidFill>
                  <a:srgbClr val="172B3A"/>
                </a:solidFill>
                <a:latin typeface="Nimbus Sans"/>
                <a:ea typeface="Nimbus Sans"/>
                <a:cs typeface="Nimbus Sans"/>
              </a:rPr>
              <a:t>What-if scenarios</a:t>
            </a:r>
          </a:p>
        </p:txBody>
      </p:sp>
      <p:sp>
        <p:nvSpPr>
          <p:cNvPr id="7" name="Rectangle 6">
            <a:extLst>
              <a:ext uri="{FF2B5EF4-FFF2-40B4-BE49-F238E27FC236}">
                <a16:creationId xmlns:a16="http://schemas.microsoft.com/office/drawing/2014/main" id="{A98A88E2-1984-42E2-AB77-A7F45379D030}"/>
              </a:ext>
            </a:extLst>
          </p:cNvPr>
          <p:cNvSpPr>
            <a:spLocks noGrp="1"/>
          </p:cNvSpPr>
          <p:nvPr/>
        </p:nvSpPr>
        <p:spPr>
          <a:xfrm>
            <a:off x="762000" y="3190875"/>
            <a:ext cx="5286375" cy="2381250"/>
          </a:xfrm>
          <a:prstGeom prst="rect">
            <a:avLst/>
          </a:prstGeom>
          <a:solidFill>
            <a:srgbClr val="F7F9FA"/>
          </a:solidFill>
          <a:ln w="14288">
            <a:solidFill>
              <a:srgbClr val="D9E2E7"/>
            </a:solidFill>
            <a:prstDash val="solid"/>
          </a:ln>
        </p:spPr>
        <p:txBody>
          <a:bodyPr/>
          <a:lstStyle/>
          <a:p>
            <a:endParaRPr lang="en-US"/>
          </a:p>
        </p:txBody>
      </p:sp>
      <p:sp>
        <p:nvSpPr>
          <p:cNvPr id="8" name="Rectangle 7">
            <a:extLst>
              <a:ext uri="{FF2B5EF4-FFF2-40B4-BE49-F238E27FC236}">
                <a16:creationId xmlns:a16="http://schemas.microsoft.com/office/drawing/2014/main" id="{14E74DDC-CA24-4DE2-9143-6B21AD416180}"/>
              </a:ext>
            </a:extLst>
          </p:cNvPr>
          <p:cNvSpPr>
            <a:spLocks noGrp="1"/>
          </p:cNvSpPr>
          <p:nvPr/>
        </p:nvSpPr>
        <p:spPr>
          <a:xfrm>
            <a:off x="1028700" y="3533775"/>
            <a:ext cx="4752975" cy="18859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[INSERT ACTUAL WHAT-IF</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SCREENSHOT]</a:t>
            </a:r>
          </a:p>
        </p:txBody>
      </p:sp>
      <p:sp>
        <p:nvSpPr>
          <p:cNvPr id="9" name="Rectangle 8">
            <a:extLst>
              <a:ext uri="{FF2B5EF4-FFF2-40B4-BE49-F238E27FC236}">
                <a16:creationId xmlns:a16="http://schemas.microsoft.com/office/drawing/2014/main" id="{45A9351D-A501-4606-B577-150D9DD8FABA}"/>
              </a:ext>
            </a:extLst>
          </p:cNvPr>
          <p:cNvSpPr>
            <a:spLocks noGrp="1"/>
          </p:cNvSpPr>
          <p:nvPr/>
        </p:nvSpPr>
        <p:spPr>
          <a:xfrm>
            <a:off x="762000" y="609600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10" name="Rectangle 9">
            <a:extLst>
              <a:ext uri="{FF2B5EF4-FFF2-40B4-BE49-F238E27FC236}">
                <a16:creationId xmlns:a16="http://schemas.microsoft.com/office/drawing/2014/main" id="{F945F7A9-5589-44EA-8D5C-B5C23A1E1EE8}"/>
              </a:ext>
            </a:extLst>
          </p:cNvPr>
          <p:cNvSpPr>
            <a:spLocks noGrp="1"/>
          </p:cNvSpPr>
          <p:nvPr/>
        </p:nvSpPr>
        <p:spPr>
          <a:xfrm>
            <a:off x="1123950" y="6096000"/>
            <a:ext cx="4924425" cy="78486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dirty="0">
                <a:solidFill>
                  <a:srgbClr val="172B3A"/>
                </a:solidFill>
                <a:latin typeface="Nimbus Sans"/>
                <a:ea typeface="Nimbus Sans"/>
                <a:cs typeface="Nimbus Sans"/>
              </a:rPr>
              <a:t>Only PROMOTED models support</a:t>
            </a:r>
          </a:p>
          <a:p>
            <a:pPr algn="l">
              <a:defRPr sz="2250" b="0">
                <a:solidFill>
                  <a:srgbClr val="172B3A"/>
                </a:solidFill>
                <a:latin typeface="Nimbus Sans"/>
                <a:ea typeface="Nimbus Sans"/>
                <a:cs typeface="Nimbus Sans"/>
              </a:defRPr>
            </a:pPr>
            <a:r>
              <a:rPr sz="2250" b="0" dirty="0">
                <a:solidFill>
                  <a:srgbClr val="172B3A"/>
                </a:solidFill>
                <a:latin typeface="Nimbus Sans"/>
                <a:ea typeface="Nimbus Sans"/>
                <a:cs typeface="Nimbus Sans"/>
              </a:rPr>
              <a:t>what-if.</a:t>
            </a:r>
          </a:p>
        </p:txBody>
      </p:sp>
      <p:sp>
        <p:nvSpPr>
          <p:cNvPr id="11" name="Rectangle 10">
            <a:extLst>
              <a:ext uri="{FF2B5EF4-FFF2-40B4-BE49-F238E27FC236}">
                <a16:creationId xmlns:a16="http://schemas.microsoft.com/office/drawing/2014/main" id="{599B9C1D-5F47-4E89-BC85-CF0773A595BF}"/>
              </a:ext>
            </a:extLst>
          </p:cNvPr>
          <p:cNvSpPr>
            <a:spLocks noGrp="1"/>
          </p:cNvSpPr>
          <p:nvPr/>
        </p:nvSpPr>
        <p:spPr>
          <a:xfrm>
            <a:off x="762000" y="716661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12" name="Rectangle 11">
            <a:extLst>
              <a:ext uri="{FF2B5EF4-FFF2-40B4-BE49-F238E27FC236}">
                <a16:creationId xmlns:a16="http://schemas.microsoft.com/office/drawing/2014/main" id="{BFDFC205-526B-45F2-9AAA-E2EE5B438023}"/>
              </a:ext>
            </a:extLst>
          </p:cNvPr>
          <p:cNvSpPr>
            <a:spLocks noGrp="1"/>
          </p:cNvSpPr>
          <p:nvPr/>
        </p:nvSpPr>
        <p:spPr>
          <a:xfrm>
            <a:off x="1123950" y="7166610"/>
            <a:ext cx="4924425" cy="78486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dirty="0">
                <a:solidFill>
                  <a:srgbClr val="172B3A"/>
                </a:solidFill>
                <a:latin typeface="Nimbus Sans"/>
                <a:ea typeface="Nimbus Sans"/>
                <a:cs typeface="Nimbus Sans"/>
              </a:rPr>
              <a:t>Test load changes and signal</a:t>
            </a:r>
          </a:p>
          <a:p>
            <a:pPr algn="l">
              <a:defRPr sz="2250" b="0">
                <a:solidFill>
                  <a:srgbClr val="172B3A"/>
                </a:solidFill>
                <a:latin typeface="Nimbus Sans"/>
                <a:ea typeface="Nimbus Sans"/>
                <a:cs typeface="Nimbus Sans"/>
              </a:defRPr>
            </a:pPr>
            <a:r>
              <a:rPr sz="2250" b="0" dirty="0">
                <a:solidFill>
                  <a:srgbClr val="172B3A"/>
                </a:solidFill>
                <a:latin typeface="Nimbus Sans"/>
                <a:ea typeface="Nimbus Sans"/>
                <a:cs typeface="Nimbus Sans"/>
              </a:rPr>
              <a:t>anomalies.</a:t>
            </a:r>
          </a:p>
        </p:txBody>
      </p:sp>
      <p:sp>
        <p:nvSpPr>
          <p:cNvPr id="13" name="Rectangle 12">
            <a:extLst>
              <a:ext uri="{FF2B5EF4-FFF2-40B4-BE49-F238E27FC236}">
                <a16:creationId xmlns:a16="http://schemas.microsoft.com/office/drawing/2014/main" id="{824E17C1-461C-4712-8455-76381DC66EF1}"/>
              </a:ext>
            </a:extLst>
          </p:cNvPr>
          <p:cNvSpPr>
            <a:spLocks noGrp="1"/>
          </p:cNvSpPr>
          <p:nvPr/>
        </p:nvSpPr>
        <p:spPr>
          <a:xfrm>
            <a:off x="762000" y="823722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14" name="Rectangle 13">
            <a:extLst>
              <a:ext uri="{FF2B5EF4-FFF2-40B4-BE49-F238E27FC236}">
                <a16:creationId xmlns:a16="http://schemas.microsoft.com/office/drawing/2014/main" id="{387BACF8-7C01-4CED-8510-A9D9C0619A22}"/>
              </a:ext>
            </a:extLst>
          </p:cNvPr>
          <p:cNvSpPr>
            <a:spLocks noGrp="1"/>
          </p:cNvSpPr>
          <p:nvPr/>
        </p:nvSpPr>
        <p:spPr>
          <a:xfrm>
            <a:off x="1123950" y="8237220"/>
            <a:ext cx="4924425" cy="113919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[VERIFY in demo: run a what-if and</a:t>
            </a:r>
          </a:p>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confirm the live OTHI and state hash</a:t>
            </a:r>
          </a:p>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are unchanged]</a:t>
            </a:r>
          </a:p>
        </p:txBody>
      </p:sp>
      <p:sp>
        <p:nvSpPr>
          <p:cNvPr id="15" name="Rectangle 14">
            <a:extLst>
              <a:ext uri="{FF2B5EF4-FFF2-40B4-BE49-F238E27FC236}">
                <a16:creationId xmlns:a16="http://schemas.microsoft.com/office/drawing/2014/main" id="{D23E9D0D-6CA4-408F-80B2-1EF6F274DD29}"/>
              </a:ext>
            </a:extLst>
          </p:cNvPr>
          <p:cNvSpPr>
            <a:spLocks noGrp="1"/>
          </p:cNvSpPr>
          <p:nvPr/>
        </p:nvSpPr>
        <p:spPr>
          <a:xfrm>
            <a:off x="6477000" y="2381250"/>
            <a:ext cx="5286375" cy="501396"/>
          </a:xfrm>
          <a:prstGeom prst="rect">
            <a:avLst/>
          </a:prstGeom>
          <a:noFill/>
          <a:ln w="0">
            <a:noFill/>
            <a:prstDash val="solid"/>
          </a:ln>
        </p:spPr>
        <p:txBody>
          <a:bodyPr wrap="none" lIns="0" tIns="0" rIns="0" bIns="0" anchor="t">
            <a:noAutofit/>
          </a:bodyPr>
          <a:lstStyle>
            <a:defPPr algn="l">
              <a:defRPr sz="2700" b="1">
                <a:solidFill>
                  <a:srgbClr val="172B3A"/>
                </a:solidFill>
                <a:latin typeface="Nimbus Sans"/>
                <a:ea typeface="Nimbus Sans"/>
                <a:cs typeface="Nimbus Sans"/>
              </a:defRPr>
            </a:defPPr>
          </a:lstStyle>
          <a:p>
            <a:pPr algn="l">
              <a:defRPr sz="2700" b="1">
                <a:solidFill>
                  <a:srgbClr val="172B3A"/>
                </a:solidFill>
                <a:latin typeface="Nimbus Sans"/>
                <a:ea typeface="Nimbus Sans"/>
                <a:cs typeface="Nimbus Sans"/>
              </a:defRPr>
            </a:pPr>
            <a:r>
              <a:rPr sz="2700" b="1">
                <a:solidFill>
                  <a:srgbClr val="172B3A"/>
                </a:solidFill>
                <a:latin typeface="Nimbus Sans"/>
                <a:ea typeface="Nimbus Sans"/>
                <a:cs typeface="Nimbus Sans"/>
              </a:rPr>
              <a:t>Maintenance advisory</a:t>
            </a:r>
          </a:p>
        </p:txBody>
      </p:sp>
      <p:sp>
        <p:nvSpPr>
          <p:cNvPr id="17" name="Rectangle 16">
            <a:extLst>
              <a:ext uri="{FF2B5EF4-FFF2-40B4-BE49-F238E27FC236}">
                <a16:creationId xmlns:a16="http://schemas.microsoft.com/office/drawing/2014/main" id="{8B413657-831E-4ADF-B72E-B447D92D69E9}"/>
              </a:ext>
            </a:extLst>
          </p:cNvPr>
          <p:cNvSpPr>
            <a:spLocks noGrp="1"/>
          </p:cNvSpPr>
          <p:nvPr/>
        </p:nvSpPr>
        <p:spPr>
          <a:xfrm>
            <a:off x="6743700" y="3533775"/>
            <a:ext cx="4752975" cy="18859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[INSERT ACTUAL MAINTENANCE</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ADVISORY SCREENSHOT]</a:t>
            </a:r>
          </a:p>
        </p:txBody>
      </p:sp>
      <p:sp>
        <p:nvSpPr>
          <p:cNvPr id="18" name="Rectangle 17">
            <a:extLst>
              <a:ext uri="{FF2B5EF4-FFF2-40B4-BE49-F238E27FC236}">
                <a16:creationId xmlns:a16="http://schemas.microsoft.com/office/drawing/2014/main" id="{1F4AAD9E-6544-451E-A33D-75DA3DFA6FA5}"/>
              </a:ext>
            </a:extLst>
          </p:cNvPr>
          <p:cNvSpPr>
            <a:spLocks noGrp="1"/>
          </p:cNvSpPr>
          <p:nvPr/>
        </p:nvSpPr>
        <p:spPr>
          <a:xfrm>
            <a:off x="6477000" y="609600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19" name="Rectangle 18">
            <a:extLst>
              <a:ext uri="{FF2B5EF4-FFF2-40B4-BE49-F238E27FC236}">
                <a16:creationId xmlns:a16="http://schemas.microsoft.com/office/drawing/2014/main" id="{B89630A3-AE61-4A45-92DE-FEA3C4D13F81}"/>
              </a:ext>
            </a:extLst>
          </p:cNvPr>
          <p:cNvSpPr>
            <a:spLocks noGrp="1"/>
          </p:cNvSpPr>
          <p:nvPr/>
        </p:nvSpPr>
        <p:spPr>
          <a:xfrm>
            <a:off x="6838950" y="6096000"/>
            <a:ext cx="4924425" cy="78486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Versioned advice with</a:t>
            </a:r>
          </a:p>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evidence-linked reasons.</a:t>
            </a:r>
          </a:p>
        </p:txBody>
      </p:sp>
      <p:sp>
        <p:nvSpPr>
          <p:cNvPr id="20" name="Rectangle 19">
            <a:extLst>
              <a:ext uri="{FF2B5EF4-FFF2-40B4-BE49-F238E27FC236}">
                <a16:creationId xmlns:a16="http://schemas.microsoft.com/office/drawing/2014/main" id="{7AE8A0FD-3AFF-4F23-9C36-5A9DFAD2BDF7}"/>
              </a:ext>
            </a:extLst>
          </p:cNvPr>
          <p:cNvSpPr>
            <a:spLocks noGrp="1"/>
          </p:cNvSpPr>
          <p:nvPr/>
        </p:nvSpPr>
        <p:spPr>
          <a:xfrm>
            <a:off x="6477000" y="716661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21" name="Rectangle 20">
            <a:extLst>
              <a:ext uri="{FF2B5EF4-FFF2-40B4-BE49-F238E27FC236}">
                <a16:creationId xmlns:a16="http://schemas.microsoft.com/office/drawing/2014/main" id="{4B6C245F-4FD2-4CD7-8A83-DECDCE3B4149}"/>
              </a:ext>
            </a:extLst>
          </p:cNvPr>
          <p:cNvSpPr>
            <a:spLocks noGrp="1"/>
          </p:cNvSpPr>
          <p:nvPr/>
        </p:nvSpPr>
        <p:spPr>
          <a:xfrm>
            <a:off x="6838950" y="7166610"/>
            <a:ext cx="4924425" cy="78486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P0–P4 priorities and configured</a:t>
            </a:r>
          </a:p>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action windows.</a:t>
            </a:r>
          </a:p>
        </p:txBody>
      </p:sp>
      <p:sp>
        <p:nvSpPr>
          <p:cNvPr id="22" name="Rectangle 21">
            <a:extLst>
              <a:ext uri="{FF2B5EF4-FFF2-40B4-BE49-F238E27FC236}">
                <a16:creationId xmlns:a16="http://schemas.microsoft.com/office/drawing/2014/main" id="{1CA41568-B32E-4792-AD49-9AFC3777A300}"/>
              </a:ext>
            </a:extLst>
          </p:cNvPr>
          <p:cNvSpPr>
            <a:spLocks noGrp="1"/>
          </p:cNvSpPr>
          <p:nvPr/>
        </p:nvSpPr>
        <p:spPr>
          <a:xfrm>
            <a:off x="6477000" y="823722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23" name="Rectangle 22">
            <a:extLst>
              <a:ext uri="{FF2B5EF4-FFF2-40B4-BE49-F238E27FC236}">
                <a16:creationId xmlns:a16="http://schemas.microsoft.com/office/drawing/2014/main" id="{7E699DC3-2E17-4EE4-9F34-52F4D2DE31EB}"/>
              </a:ext>
            </a:extLst>
          </p:cNvPr>
          <p:cNvSpPr>
            <a:spLocks noGrp="1"/>
          </p:cNvSpPr>
          <p:nvPr/>
        </p:nvSpPr>
        <p:spPr>
          <a:xfrm>
            <a:off x="6838950" y="8237220"/>
            <a:ext cx="4924425" cy="78486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Acknowledgement does not prove</a:t>
            </a:r>
          </a:p>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repair.</a:t>
            </a:r>
          </a:p>
        </p:txBody>
      </p:sp>
      <p:sp>
        <p:nvSpPr>
          <p:cNvPr id="24" name="Rectangle 23">
            <a:extLst>
              <a:ext uri="{FF2B5EF4-FFF2-40B4-BE49-F238E27FC236}">
                <a16:creationId xmlns:a16="http://schemas.microsoft.com/office/drawing/2014/main" id="{22733D89-3389-4AB5-8A3A-4A0A4A79F91E}"/>
              </a:ext>
            </a:extLst>
          </p:cNvPr>
          <p:cNvSpPr>
            <a:spLocks noGrp="1"/>
          </p:cNvSpPr>
          <p:nvPr/>
        </p:nvSpPr>
        <p:spPr>
          <a:xfrm>
            <a:off x="12192000" y="2381250"/>
            <a:ext cx="5286375" cy="501396"/>
          </a:xfrm>
          <a:prstGeom prst="rect">
            <a:avLst/>
          </a:prstGeom>
          <a:noFill/>
          <a:ln w="0">
            <a:noFill/>
            <a:prstDash val="solid"/>
          </a:ln>
        </p:spPr>
        <p:txBody>
          <a:bodyPr wrap="none" lIns="0" tIns="0" rIns="0" bIns="0" anchor="t">
            <a:noAutofit/>
          </a:bodyPr>
          <a:lstStyle>
            <a:defPPr algn="l">
              <a:defRPr sz="2700" b="1">
                <a:solidFill>
                  <a:srgbClr val="172B3A"/>
                </a:solidFill>
                <a:latin typeface="Nimbus Sans"/>
                <a:ea typeface="Nimbus Sans"/>
                <a:cs typeface="Nimbus Sans"/>
              </a:defRPr>
            </a:defPPr>
          </a:lstStyle>
          <a:p>
            <a:pPr algn="l">
              <a:defRPr sz="2700" b="1">
                <a:solidFill>
                  <a:srgbClr val="172B3A"/>
                </a:solidFill>
                <a:latin typeface="Nimbus Sans"/>
                <a:ea typeface="Nimbus Sans"/>
                <a:cs typeface="Nimbus Sans"/>
              </a:defRPr>
            </a:pPr>
            <a:r>
              <a:rPr sz="2700" b="1">
                <a:solidFill>
                  <a:srgbClr val="172B3A"/>
                </a:solidFill>
                <a:latin typeface="Nimbus Sans"/>
                <a:ea typeface="Nimbus Sans"/>
                <a:cs typeface="Nimbus Sans"/>
              </a:rPr>
              <a:t>History and audit</a:t>
            </a:r>
          </a:p>
        </p:txBody>
      </p:sp>
      <p:sp>
        <p:nvSpPr>
          <p:cNvPr id="25" name="Rectangle 24">
            <a:extLst>
              <a:ext uri="{FF2B5EF4-FFF2-40B4-BE49-F238E27FC236}">
                <a16:creationId xmlns:a16="http://schemas.microsoft.com/office/drawing/2014/main" id="{6D2FA383-B0F1-4F8B-BB6E-A86D20977C36}"/>
              </a:ext>
            </a:extLst>
          </p:cNvPr>
          <p:cNvSpPr>
            <a:spLocks noGrp="1"/>
          </p:cNvSpPr>
          <p:nvPr/>
        </p:nvSpPr>
        <p:spPr>
          <a:xfrm>
            <a:off x="12192000" y="3190875"/>
            <a:ext cx="5286375" cy="2381250"/>
          </a:xfrm>
          <a:prstGeom prst="rect">
            <a:avLst/>
          </a:prstGeom>
          <a:solidFill>
            <a:srgbClr val="F7F9FA"/>
          </a:solidFill>
          <a:ln w="14288">
            <a:solidFill>
              <a:srgbClr val="D9E2E7"/>
            </a:solidFill>
            <a:prstDash val="solid"/>
          </a:ln>
        </p:spPr>
        <p:txBody>
          <a:bodyPr/>
          <a:lstStyle/>
          <a:p>
            <a:endParaRPr lang="en-US"/>
          </a:p>
        </p:txBody>
      </p:sp>
      <p:sp>
        <p:nvSpPr>
          <p:cNvPr id="26" name="Rectangle 25">
            <a:extLst>
              <a:ext uri="{FF2B5EF4-FFF2-40B4-BE49-F238E27FC236}">
                <a16:creationId xmlns:a16="http://schemas.microsoft.com/office/drawing/2014/main" id="{85290EFC-BFC8-407D-80D6-77E3AB469916}"/>
              </a:ext>
            </a:extLst>
          </p:cNvPr>
          <p:cNvSpPr>
            <a:spLocks noGrp="1"/>
          </p:cNvSpPr>
          <p:nvPr/>
        </p:nvSpPr>
        <p:spPr>
          <a:xfrm>
            <a:off x="12458700" y="3533775"/>
            <a:ext cx="4752975" cy="1885950"/>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[INSERT ACTUAL HISTORY AND AUDIT</a:t>
            </a:r>
          </a:p>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LOG SCREENSHOT]</a:t>
            </a:r>
          </a:p>
        </p:txBody>
      </p:sp>
      <p:sp>
        <p:nvSpPr>
          <p:cNvPr id="27" name="Rectangle 26">
            <a:extLst>
              <a:ext uri="{FF2B5EF4-FFF2-40B4-BE49-F238E27FC236}">
                <a16:creationId xmlns:a16="http://schemas.microsoft.com/office/drawing/2014/main" id="{A3AA0CFF-F21F-4CBD-974C-EC43E70CB52C}"/>
              </a:ext>
            </a:extLst>
          </p:cNvPr>
          <p:cNvSpPr>
            <a:spLocks noGrp="1"/>
          </p:cNvSpPr>
          <p:nvPr/>
        </p:nvSpPr>
        <p:spPr>
          <a:xfrm>
            <a:off x="12192000" y="609600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28" name="Rectangle 27">
            <a:extLst>
              <a:ext uri="{FF2B5EF4-FFF2-40B4-BE49-F238E27FC236}">
                <a16:creationId xmlns:a16="http://schemas.microsoft.com/office/drawing/2014/main" id="{1E33DADF-4430-446E-8630-9D6C28996579}"/>
              </a:ext>
            </a:extLst>
          </p:cNvPr>
          <p:cNvSpPr>
            <a:spLocks noGrp="1"/>
          </p:cNvSpPr>
          <p:nvPr/>
        </p:nvSpPr>
        <p:spPr>
          <a:xfrm>
            <a:off x="12553950" y="6096000"/>
            <a:ext cx="4924425" cy="78486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Stable incident identities and</a:t>
            </a:r>
          </a:p>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evidence timelines.</a:t>
            </a:r>
          </a:p>
        </p:txBody>
      </p:sp>
      <p:sp>
        <p:nvSpPr>
          <p:cNvPr id="29" name="Rectangle 28">
            <a:extLst>
              <a:ext uri="{FF2B5EF4-FFF2-40B4-BE49-F238E27FC236}">
                <a16:creationId xmlns:a16="http://schemas.microsoft.com/office/drawing/2014/main" id="{A3F887D8-1FD9-4EED-9983-A78B0BD7FA64}"/>
              </a:ext>
            </a:extLst>
          </p:cNvPr>
          <p:cNvSpPr>
            <a:spLocks noGrp="1"/>
          </p:cNvSpPr>
          <p:nvPr/>
        </p:nvSpPr>
        <p:spPr>
          <a:xfrm>
            <a:off x="12192000" y="716661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30" name="Rectangle 29">
            <a:extLst>
              <a:ext uri="{FF2B5EF4-FFF2-40B4-BE49-F238E27FC236}">
                <a16:creationId xmlns:a16="http://schemas.microsoft.com/office/drawing/2014/main" id="{774ED61C-2030-40A0-B85C-974EEC338619}"/>
              </a:ext>
            </a:extLst>
          </p:cNvPr>
          <p:cNvSpPr>
            <a:spLocks noGrp="1"/>
          </p:cNvSpPr>
          <p:nvPr/>
        </p:nvSpPr>
        <p:spPr>
          <a:xfrm>
            <a:off x="12553950" y="7166610"/>
            <a:ext cx="4924425" cy="78486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Append-only operator actions with</a:t>
            </a:r>
          </a:p>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actor, reason and time.</a:t>
            </a:r>
          </a:p>
        </p:txBody>
      </p:sp>
      <p:sp>
        <p:nvSpPr>
          <p:cNvPr id="31" name="Rectangle 30">
            <a:extLst>
              <a:ext uri="{FF2B5EF4-FFF2-40B4-BE49-F238E27FC236}">
                <a16:creationId xmlns:a16="http://schemas.microsoft.com/office/drawing/2014/main" id="{42BA968F-4A89-46D0-A418-17BCAE686778}"/>
              </a:ext>
            </a:extLst>
          </p:cNvPr>
          <p:cNvSpPr>
            <a:spLocks noGrp="1"/>
          </p:cNvSpPr>
          <p:nvPr/>
        </p:nvSpPr>
        <p:spPr>
          <a:xfrm>
            <a:off x="12192000" y="8237220"/>
            <a:ext cx="285750" cy="430530"/>
          </a:xfrm>
          <a:prstGeom prst="rect">
            <a:avLst/>
          </a:prstGeom>
          <a:noFill/>
          <a:ln w="0">
            <a:noFill/>
            <a:prstDash val="solid"/>
          </a:ln>
        </p:spPr>
        <p:txBody>
          <a:bodyPr wrap="none" lIns="0" tIns="0" rIns="0" bIns="0" anchor="t">
            <a:noAutofit/>
          </a:bodyPr>
          <a:lstStyle>
            <a:defPPr algn="l">
              <a:defRPr sz="2250" b="0">
                <a:solidFill>
                  <a:srgbClr val="087E98"/>
                </a:solidFill>
                <a:latin typeface="Nimbus Sans"/>
                <a:ea typeface="Nimbus Sans"/>
                <a:cs typeface="Nimbus Sans"/>
              </a:defRPr>
            </a:defPPr>
          </a:lstStyle>
          <a:p>
            <a:pPr algn="l">
              <a:defRPr sz="2250" b="0">
                <a:solidFill>
                  <a:srgbClr val="087E98"/>
                </a:solidFill>
                <a:latin typeface="Nimbus Sans"/>
                <a:ea typeface="Nimbus Sans"/>
                <a:cs typeface="Nimbus Sans"/>
              </a:defRPr>
            </a:pPr>
            <a:r>
              <a:rPr sz="2250" b="0">
                <a:solidFill>
                  <a:srgbClr val="087E98"/>
                </a:solidFill>
                <a:latin typeface="Nimbus Sans"/>
                <a:ea typeface="Nimbus Sans"/>
                <a:cs typeface="Nimbus Sans"/>
              </a:rPr>
              <a:t>•</a:t>
            </a:r>
          </a:p>
        </p:txBody>
      </p:sp>
      <p:sp>
        <p:nvSpPr>
          <p:cNvPr id="32" name="Rectangle 31">
            <a:extLst>
              <a:ext uri="{FF2B5EF4-FFF2-40B4-BE49-F238E27FC236}">
                <a16:creationId xmlns:a16="http://schemas.microsoft.com/office/drawing/2014/main" id="{77E444D8-FDCF-421A-BBAE-D2D06CB47EB7}"/>
              </a:ext>
            </a:extLst>
          </p:cNvPr>
          <p:cNvSpPr>
            <a:spLocks noGrp="1"/>
          </p:cNvSpPr>
          <p:nvPr/>
        </p:nvSpPr>
        <p:spPr>
          <a:xfrm>
            <a:off x="12553950" y="8237220"/>
            <a:ext cx="4924425" cy="784860"/>
          </a:xfrm>
          <a:prstGeom prst="rect">
            <a:avLst/>
          </a:prstGeom>
          <a:noFill/>
          <a:ln w="0">
            <a:noFill/>
            <a:prstDash val="solid"/>
          </a:ln>
        </p:spPr>
        <p:txBody>
          <a:bodyPr wrap="none" lIns="0" tIns="0" rIns="0" bIns="0" anchor="t">
            <a:noAutofit/>
          </a:bodyPr>
          <a:lstStyle>
            <a:defPPr algn="l">
              <a:defRPr sz="2250" b="0">
                <a:solidFill>
                  <a:srgbClr val="172B3A"/>
                </a:solidFill>
                <a:latin typeface="Nimbus Sans"/>
                <a:ea typeface="Nimbus Sans"/>
                <a:cs typeface="Nimbus Sans"/>
              </a:defRPr>
            </a:defPPr>
          </a:lstStyle>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Traceable data, model and rule</a:t>
            </a:r>
          </a:p>
          <a:p>
            <a:pPr algn="l">
              <a:defRPr sz="2250" b="0">
                <a:solidFill>
                  <a:srgbClr val="172B3A"/>
                </a:solidFill>
                <a:latin typeface="Nimbus Sans"/>
                <a:ea typeface="Nimbus Sans"/>
                <a:cs typeface="Nimbus Sans"/>
              </a:defRPr>
            </a:pPr>
            <a:r>
              <a:rPr sz="2250" b="0">
                <a:solidFill>
                  <a:srgbClr val="172B3A"/>
                </a:solidFill>
                <a:latin typeface="Nimbus Sans"/>
                <a:ea typeface="Nimbus Sans"/>
                <a:cs typeface="Nimbus Sans"/>
              </a:rPr>
              <a:t>versions.</a:t>
            </a:r>
          </a:p>
        </p:txBody>
      </p:sp>
      <p:pic>
        <p:nvPicPr>
          <p:cNvPr id="36" name="Picture 35">
            <a:extLst>
              <a:ext uri="{FF2B5EF4-FFF2-40B4-BE49-F238E27FC236}">
                <a16:creationId xmlns:a16="http://schemas.microsoft.com/office/drawing/2014/main" id="{1A33BDFC-A501-A7C2-B62B-B30015A8B6C7}"/>
              </a:ext>
            </a:extLst>
          </p:cNvPr>
          <p:cNvPicPr>
            <a:picLocks noChangeAspect="1"/>
          </p:cNvPicPr>
          <p:nvPr/>
        </p:nvPicPr>
        <p:blipFill>
          <a:blip r:embed="rId3"/>
          <a:srcRect b="24347"/>
          <a:stretch>
            <a:fillRect/>
          </a:stretch>
        </p:blipFill>
        <p:spPr>
          <a:xfrm>
            <a:off x="683956" y="3025521"/>
            <a:ext cx="5364419" cy="2927604"/>
          </a:xfrm>
          <a:prstGeom prst="rect">
            <a:avLst/>
          </a:prstGeom>
        </p:spPr>
      </p:pic>
      <p:pic>
        <p:nvPicPr>
          <p:cNvPr id="38" name="Picture 37">
            <a:extLst>
              <a:ext uri="{FF2B5EF4-FFF2-40B4-BE49-F238E27FC236}">
                <a16:creationId xmlns:a16="http://schemas.microsoft.com/office/drawing/2014/main" id="{5A1B9205-6591-1BEC-77CF-0098046FC00C}"/>
              </a:ext>
            </a:extLst>
          </p:cNvPr>
          <p:cNvPicPr>
            <a:picLocks noChangeAspect="1"/>
          </p:cNvPicPr>
          <p:nvPr/>
        </p:nvPicPr>
        <p:blipFill>
          <a:blip r:embed="rId4"/>
          <a:stretch>
            <a:fillRect/>
          </a:stretch>
        </p:blipFill>
        <p:spPr>
          <a:xfrm>
            <a:off x="6477000" y="2907595"/>
            <a:ext cx="4924424" cy="3188405"/>
          </a:xfrm>
          <a:prstGeom prst="rect">
            <a:avLst/>
          </a:prstGeom>
        </p:spPr>
      </p:pic>
      <p:pic>
        <p:nvPicPr>
          <p:cNvPr id="40" name="Picture 39">
            <a:extLst>
              <a:ext uri="{FF2B5EF4-FFF2-40B4-BE49-F238E27FC236}">
                <a16:creationId xmlns:a16="http://schemas.microsoft.com/office/drawing/2014/main" id="{F2DCAB6F-DCE5-E64E-D73E-38B500EBD24A}"/>
              </a:ext>
            </a:extLst>
          </p:cNvPr>
          <p:cNvPicPr>
            <a:picLocks noChangeAspect="1"/>
          </p:cNvPicPr>
          <p:nvPr/>
        </p:nvPicPr>
        <p:blipFill>
          <a:blip r:embed="rId5"/>
          <a:stretch>
            <a:fillRect/>
          </a:stretch>
        </p:blipFill>
        <p:spPr>
          <a:xfrm>
            <a:off x="12046053" y="3140392"/>
            <a:ext cx="6064966" cy="2733675"/>
          </a:xfrm>
          <a:prstGeom prst="rect">
            <a:avLst/>
          </a:prstGeom>
        </p:spPr>
      </p:pic>
    </p:spTree>
    <p:extLst>
      <p:ext uri="{BB962C8B-B14F-4D97-AF65-F5344CB8AC3E}">
        <p14:creationId xmlns:p14="http://schemas.microsoft.com/office/powerpoint/2010/main" val="841002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A35B9101-E8A5-4F37-BB0F-0A674F98874E}"/>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BC63F0E6-C2D4-4DBA-B1B8-961767C3B8A6}"/>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07</a:t>
            </a:r>
          </a:p>
        </p:txBody>
      </p:sp>
      <p:sp>
        <p:nvSpPr>
          <p:cNvPr id="3" name="Rectangle 2">
            <a:extLst>
              <a:ext uri="{FF2B5EF4-FFF2-40B4-BE49-F238E27FC236}">
                <a16:creationId xmlns:a16="http://schemas.microsoft.com/office/drawing/2014/main" id="{E3DEBBAF-2C85-439A-831D-2B493B23F1C7}"/>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a:solidFill>
                  <a:srgbClr val="172B3A"/>
                </a:solidFill>
                <a:latin typeface="Nimbus Sans"/>
                <a:ea typeface="Nimbus Sans"/>
                <a:cs typeface="Nimbus Sans"/>
              </a:rPr>
              <a:t>Anomalies, reports and protection</a:t>
            </a:r>
          </a:p>
        </p:txBody>
      </p:sp>
      <p:sp>
        <p:nvSpPr>
          <p:cNvPr id="4" name="Rectangle 3">
            <a:extLst>
              <a:ext uri="{FF2B5EF4-FFF2-40B4-BE49-F238E27FC236}">
                <a16:creationId xmlns:a16="http://schemas.microsoft.com/office/drawing/2014/main" id="{86DDEA44-86D3-4981-A20F-DCABC3ED6D73}"/>
              </a:ext>
            </a:extLst>
          </p:cNvPr>
          <p:cNvSpPr>
            <a:spLocks noGrp="1"/>
          </p:cNvSpPr>
          <p:nvPr/>
        </p:nvSpPr>
        <p:spPr>
          <a:xfrm>
            <a:off x="762000" y="1838325"/>
            <a:ext cx="16764000" cy="9525"/>
          </a:xfrm>
          <a:prstGeom prst="rect">
            <a:avLst/>
          </a:prstGeom>
          <a:noFill/>
          <a:ln w="14288">
            <a:solidFill>
              <a:srgbClr val="D9E2E7"/>
            </a:solidFill>
            <a:prstDash val="solid"/>
          </a:ln>
        </p:spPr>
        <p:txBody>
          <a:bodyPr/>
          <a:lstStyle/>
          <a:p>
            <a:endParaRPr lang="en-US"/>
          </a:p>
        </p:txBody>
      </p:sp>
      <p:sp>
        <p:nvSpPr>
          <p:cNvPr id="6" name="Rectangle 5">
            <a:extLst>
              <a:ext uri="{FF2B5EF4-FFF2-40B4-BE49-F238E27FC236}">
                <a16:creationId xmlns:a16="http://schemas.microsoft.com/office/drawing/2014/main" id="{D02ECE0A-C30B-420F-ABF4-6FDF4F28E7B3}"/>
              </a:ext>
            </a:extLst>
          </p:cNvPr>
          <p:cNvSpPr>
            <a:spLocks noGrp="1"/>
          </p:cNvSpPr>
          <p:nvPr/>
        </p:nvSpPr>
        <p:spPr>
          <a:xfrm>
            <a:off x="762000" y="2333625"/>
            <a:ext cx="7858125"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Persistent anomaly episodes</a:t>
            </a:r>
          </a:p>
        </p:txBody>
      </p:sp>
      <p:sp>
        <p:nvSpPr>
          <p:cNvPr id="7" name="Rectangle 6">
            <a:extLst>
              <a:ext uri="{FF2B5EF4-FFF2-40B4-BE49-F238E27FC236}">
                <a16:creationId xmlns:a16="http://schemas.microsoft.com/office/drawing/2014/main" id="{409E7EAD-C8C5-4B38-A6DC-8CA391A5CA18}"/>
              </a:ext>
            </a:extLst>
          </p:cNvPr>
          <p:cNvSpPr>
            <a:spLocks noGrp="1"/>
          </p:cNvSpPr>
          <p:nvPr/>
        </p:nvSpPr>
        <p:spPr>
          <a:xfrm>
            <a:off x="762000" y="2952750"/>
            <a:ext cx="7858125" cy="808482"/>
          </a:xfrm>
          <a:prstGeom prst="rect">
            <a:avLst/>
          </a:prstGeom>
          <a:noFill/>
          <a:ln w="0">
            <a:noFill/>
            <a:prstDash val="solid"/>
          </a:ln>
        </p:spPr>
        <p:txBody>
          <a:bodyPr wrap="none" lIns="0" tIns="0" rIns="0" bIns="0" anchor="t">
            <a:noAutofit/>
          </a:bodyPr>
          <a:lstStyle>
            <a:defPPr algn="l">
              <a:defRPr sz="2325" b="0">
                <a:solidFill>
                  <a:srgbClr val="536675"/>
                </a:solidFill>
                <a:latin typeface="Nimbus Sans"/>
                <a:ea typeface="Nimbus Sans"/>
                <a:cs typeface="Nimbus Sans"/>
              </a:defRPr>
            </a:defPPr>
          </a:lstStyle>
          <a:p>
            <a:pPr algn="l">
              <a:defRPr sz="2325" b="0">
                <a:solidFill>
                  <a:srgbClr val="536675"/>
                </a:solidFill>
                <a:latin typeface="Nimbus Sans"/>
                <a:ea typeface="Nimbus Sans"/>
                <a:cs typeface="Nimbus Sans"/>
              </a:defRPr>
            </a:pPr>
            <a:r>
              <a:rPr sz="2325" b="0">
                <a:solidFill>
                  <a:srgbClr val="536675"/>
                </a:solidFill>
                <a:latin typeface="Nimbus Sans"/>
                <a:ea typeface="Nimbus Sans"/>
                <a:cs typeface="Nimbus Sans"/>
              </a:rPr>
              <a:t>One identity as evidence evolves. Explicit persistence,</a:t>
            </a:r>
          </a:p>
          <a:p>
            <a:pPr algn="l">
              <a:defRPr sz="2325" b="0">
                <a:solidFill>
                  <a:srgbClr val="536675"/>
                </a:solidFill>
                <a:latin typeface="Nimbus Sans"/>
                <a:ea typeface="Nimbus Sans"/>
                <a:cs typeface="Nimbus Sans"/>
              </a:defRPr>
            </a:pPr>
            <a:r>
              <a:rPr sz="2325" b="0">
                <a:solidFill>
                  <a:srgbClr val="536675"/>
                </a:solidFill>
                <a:latin typeface="Nimbus Sans"/>
                <a:ea typeface="Nimbus Sans"/>
                <a:cs typeface="Nimbus Sans"/>
              </a:rPr>
              <a:t>recovery and missing-data handling.</a:t>
            </a:r>
          </a:p>
        </p:txBody>
      </p:sp>
      <p:sp>
        <p:nvSpPr>
          <p:cNvPr id="8" name="Rectangle 7">
            <a:extLst>
              <a:ext uri="{FF2B5EF4-FFF2-40B4-BE49-F238E27FC236}">
                <a16:creationId xmlns:a16="http://schemas.microsoft.com/office/drawing/2014/main" id="{B6E94C9B-7E4A-4129-BAFC-E18E85A83DD0}"/>
              </a:ext>
            </a:extLst>
          </p:cNvPr>
          <p:cNvSpPr>
            <a:spLocks noGrp="1"/>
          </p:cNvSpPr>
          <p:nvPr/>
        </p:nvSpPr>
        <p:spPr>
          <a:xfrm>
            <a:off x="762000" y="4238625"/>
            <a:ext cx="7858125" cy="1685925"/>
          </a:xfrm>
          <a:prstGeom prst="rect">
            <a:avLst/>
          </a:prstGeom>
          <a:solidFill>
            <a:srgbClr val="F7F9FA"/>
          </a:solidFill>
          <a:ln w="14288">
            <a:solidFill>
              <a:srgbClr val="D9E2E7"/>
            </a:solidFill>
            <a:prstDash val="solid"/>
          </a:ln>
        </p:spPr>
        <p:txBody>
          <a:bodyPr/>
          <a:lstStyle/>
          <a:p>
            <a:endParaRPr lang="en-US"/>
          </a:p>
        </p:txBody>
      </p:sp>
      <p:sp>
        <p:nvSpPr>
          <p:cNvPr id="9" name="Rectangle 8">
            <a:extLst>
              <a:ext uri="{FF2B5EF4-FFF2-40B4-BE49-F238E27FC236}">
                <a16:creationId xmlns:a16="http://schemas.microsoft.com/office/drawing/2014/main" id="{EE71E914-96C5-4484-92E6-F62C557CA4DD}"/>
              </a:ext>
            </a:extLst>
          </p:cNvPr>
          <p:cNvSpPr>
            <a:spLocks noGrp="1"/>
          </p:cNvSpPr>
          <p:nvPr/>
        </p:nvSpPr>
        <p:spPr>
          <a:xfrm>
            <a:off x="1028700" y="4581525"/>
            <a:ext cx="7324725" cy="1190625"/>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a:solidFill>
                  <a:srgbClr val="536675"/>
                </a:solidFill>
                <a:latin typeface="Nimbus Sans"/>
                <a:ea typeface="Nimbus Sans"/>
                <a:cs typeface="Nimbus Sans"/>
              </a:rPr>
              <a:t>[INSERT ACTUAL ANOMALY TIMELINE SCREENSHOT]</a:t>
            </a:r>
          </a:p>
        </p:txBody>
      </p:sp>
      <p:sp>
        <p:nvSpPr>
          <p:cNvPr id="10" name="Rectangle 9">
            <a:extLst>
              <a:ext uri="{FF2B5EF4-FFF2-40B4-BE49-F238E27FC236}">
                <a16:creationId xmlns:a16="http://schemas.microsoft.com/office/drawing/2014/main" id="{3B1A970C-3C95-44DB-BEAD-D083748699A2}"/>
              </a:ext>
            </a:extLst>
          </p:cNvPr>
          <p:cNvSpPr>
            <a:spLocks noGrp="1"/>
          </p:cNvSpPr>
          <p:nvPr/>
        </p:nvSpPr>
        <p:spPr>
          <a:xfrm>
            <a:off x="9667875" y="2333625"/>
            <a:ext cx="7858125"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Reproducible reports</a:t>
            </a:r>
          </a:p>
        </p:txBody>
      </p:sp>
      <p:sp>
        <p:nvSpPr>
          <p:cNvPr id="11" name="Rectangle 10">
            <a:extLst>
              <a:ext uri="{FF2B5EF4-FFF2-40B4-BE49-F238E27FC236}">
                <a16:creationId xmlns:a16="http://schemas.microsoft.com/office/drawing/2014/main" id="{39DACC82-8FE2-4266-AFB9-FEA61C28CE75}"/>
              </a:ext>
            </a:extLst>
          </p:cNvPr>
          <p:cNvSpPr>
            <a:spLocks noGrp="1"/>
          </p:cNvSpPr>
          <p:nvPr/>
        </p:nvSpPr>
        <p:spPr>
          <a:xfrm>
            <a:off x="9667875" y="2952750"/>
            <a:ext cx="7858125" cy="1174623"/>
          </a:xfrm>
          <a:prstGeom prst="rect">
            <a:avLst/>
          </a:prstGeom>
          <a:noFill/>
          <a:ln w="0">
            <a:noFill/>
            <a:prstDash val="solid"/>
          </a:ln>
        </p:spPr>
        <p:txBody>
          <a:bodyPr wrap="none" lIns="0" tIns="0" rIns="0" bIns="0" anchor="t">
            <a:noAutofit/>
          </a:bodyPr>
          <a:lstStyle>
            <a:defPPr algn="l">
              <a:defRPr sz="2325" b="0">
                <a:solidFill>
                  <a:srgbClr val="536675"/>
                </a:solidFill>
                <a:latin typeface="Nimbus Sans"/>
                <a:ea typeface="Nimbus Sans"/>
                <a:cs typeface="Nimbus Sans"/>
              </a:defRPr>
            </a:defPPr>
          </a:lstStyle>
          <a:p>
            <a:pPr algn="l">
              <a:defRPr sz="2325" b="0">
                <a:solidFill>
                  <a:srgbClr val="536675"/>
                </a:solidFill>
                <a:latin typeface="Nimbus Sans"/>
                <a:ea typeface="Nimbus Sans"/>
                <a:cs typeface="Nimbus Sans"/>
              </a:defRPr>
            </a:pPr>
            <a:r>
              <a:rPr sz="2325" b="0">
                <a:solidFill>
                  <a:srgbClr val="536675"/>
                </a:solidFill>
                <a:latin typeface="Nimbus Sans"/>
                <a:ea typeface="Nimbus Sans"/>
                <a:cs typeface="Nimbus Sans"/>
              </a:rPr>
              <a:t>Dashboard and JSON / CSV / PDF share one</a:t>
            </a:r>
          </a:p>
          <a:p>
            <a:pPr algn="l">
              <a:defRPr sz="2325" b="0">
                <a:solidFill>
                  <a:srgbClr val="536675"/>
                </a:solidFill>
                <a:latin typeface="Nimbus Sans"/>
                <a:ea typeface="Nimbus Sans"/>
                <a:cs typeface="Nimbus Sans"/>
              </a:defRPr>
            </a:pPr>
            <a:r>
              <a:rPr sz="2325" b="0">
                <a:solidFill>
                  <a:srgbClr val="536675"/>
                </a:solidFill>
                <a:latin typeface="Nimbus Sans"/>
                <a:ea typeface="Nimbus Sans"/>
                <a:cs typeface="Nimbus Sans"/>
              </a:rPr>
              <a:t>FactBundle. Sensor quality stays separate from dataset</a:t>
            </a:r>
          </a:p>
          <a:p>
            <a:pPr algn="l">
              <a:defRPr sz="2325" b="0">
                <a:solidFill>
                  <a:srgbClr val="536675"/>
                </a:solidFill>
                <a:latin typeface="Nimbus Sans"/>
                <a:ea typeface="Nimbus Sans"/>
                <a:cs typeface="Nimbus Sans"/>
              </a:defRPr>
            </a:pPr>
            <a:r>
              <a:rPr sz="2325" b="0">
                <a:solidFill>
                  <a:srgbClr val="536675"/>
                </a:solidFill>
                <a:latin typeface="Nimbus Sans"/>
                <a:ea typeface="Nimbus Sans"/>
                <a:cs typeface="Nimbus Sans"/>
              </a:rPr>
              <a:t>partition.</a:t>
            </a:r>
          </a:p>
        </p:txBody>
      </p:sp>
      <p:sp>
        <p:nvSpPr>
          <p:cNvPr id="14" name="Rectangle 13">
            <a:extLst>
              <a:ext uri="{FF2B5EF4-FFF2-40B4-BE49-F238E27FC236}">
                <a16:creationId xmlns:a16="http://schemas.microsoft.com/office/drawing/2014/main" id="{A99073D7-B049-4E4D-82BB-D1EDDDD5A96F}"/>
              </a:ext>
            </a:extLst>
          </p:cNvPr>
          <p:cNvSpPr>
            <a:spLocks noGrp="1"/>
          </p:cNvSpPr>
          <p:nvPr/>
        </p:nvSpPr>
        <p:spPr>
          <a:xfrm>
            <a:off x="762000" y="6438900"/>
            <a:ext cx="16764000"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Recorded protection-trip replay</a:t>
            </a:r>
          </a:p>
        </p:txBody>
      </p:sp>
      <p:sp>
        <p:nvSpPr>
          <p:cNvPr id="15" name="Rectangle 14">
            <a:extLst>
              <a:ext uri="{FF2B5EF4-FFF2-40B4-BE49-F238E27FC236}">
                <a16:creationId xmlns:a16="http://schemas.microsoft.com/office/drawing/2014/main" id="{A43712F1-694B-49EA-B6DA-F7237726E518}"/>
              </a:ext>
            </a:extLst>
          </p:cNvPr>
          <p:cNvSpPr>
            <a:spLocks noGrp="1"/>
          </p:cNvSpPr>
          <p:nvPr/>
        </p:nvSpPr>
        <p:spPr>
          <a:xfrm>
            <a:off x="762000" y="7200900"/>
            <a:ext cx="2524125" cy="1676400"/>
          </a:xfrm>
          <a:prstGeom prst="rect">
            <a:avLst/>
          </a:prstGeom>
          <a:noFill/>
          <a:ln w="14288">
            <a:solidFill>
              <a:srgbClr val="986000"/>
            </a:solidFill>
            <a:prstDash val="solid"/>
          </a:ln>
        </p:spPr>
        <p:txBody>
          <a:bodyPr/>
          <a:lstStyle/>
          <a:p>
            <a:endParaRPr lang="en-US"/>
          </a:p>
        </p:txBody>
      </p:sp>
      <p:sp>
        <p:nvSpPr>
          <p:cNvPr id="16" name="Rectangle 15">
            <a:extLst>
              <a:ext uri="{FF2B5EF4-FFF2-40B4-BE49-F238E27FC236}">
                <a16:creationId xmlns:a16="http://schemas.microsoft.com/office/drawing/2014/main" id="{647FE3AD-74C6-4F7F-8078-97BE2C238A4A}"/>
              </a:ext>
            </a:extLst>
          </p:cNvPr>
          <p:cNvSpPr>
            <a:spLocks noGrp="1"/>
          </p:cNvSpPr>
          <p:nvPr/>
        </p:nvSpPr>
        <p:spPr>
          <a:xfrm>
            <a:off x="895350" y="7362825"/>
            <a:ext cx="2257425" cy="347853"/>
          </a:xfrm>
          <a:prstGeom prst="rect">
            <a:avLst/>
          </a:prstGeom>
          <a:noFill/>
          <a:ln w="0">
            <a:noFill/>
            <a:prstDash val="solid"/>
          </a:ln>
        </p:spPr>
        <p:txBody>
          <a:bodyPr wrap="none" lIns="0" tIns="0" rIns="0" bIns="0" anchor="t">
            <a:noAutofit/>
          </a:bodyPr>
          <a:lstStyle>
            <a:defPPr algn="l">
              <a:defRPr sz="1725" b="0">
                <a:solidFill>
                  <a:srgbClr val="172B3A"/>
                </a:solidFill>
                <a:latin typeface="Nimbus Sans"/>
                <a:ea typeface="Nimbus Sans"/>
                <a:cs typeface="Nimbus Sans"/>
              </a:defRPr>
            </a:defPPr>
          </a:lstStyle>
          <a:p>
            <a:pPr algn="l">
              <a:defRPr sz="1725" b="0">
                <a:solidFill>
                  <a:srgbClr val="172B3A"/>
                </a:solidFill>
                <a:latin typeface="Nimbus Sans"/>
                <a:ea typeface="Nimbus Sans"/>
                <a:cs typeface="Nimbus Sans"/>
              </a:defRPr>
            </a:pPr>
            <a:r>
              <a:rPr sz="1725" b="0">
                <a:solidFill>
                  <a:srgbClr val="172B3A"/>
                </a:solidFill>
                <a:latin typeface="Nimbus Sans"/>
                <a:ea typeface="Nimbus Sans"/>
                <a:cs typeface="Nimbus Sans"/>
              </a:rPr>
              <a:t>07:30</a:t>
            </a:r>
          </a:p>
        </p:txBody>
      </p:sp>
      <p:sp>
        <p:nvSpPr>
          <p:cNvPr id="17" name="Rectangle 16">
            <a:extLst>
              <a:ext uri="{FF2B5EF4-FFF2-40B4-BE49-F238E27FC236}">
                <a16:creationId xmlns:a16="http://schemas.microsoft.com/office/drawing/2014/main" id="{BBF663F7-16DD-49C5-832B-FF99C80F66CA}"/>
              </a:ext>
            </a:extLst>
          </p:cNvPr>
          <p:cNvSpPr>
            <a:spLocks noGrp="1"/>
          </p:cNvSpPr>
          <p:nvPr/>
        </p:nvSpPr>
        <p:spPr>
          <a:xfrm>
            <a:off x="895350" y="7839075"/>
            <a:ext cx="2257425" cy="430530"/>
          </a:xfrm>
          <a:prstGeom prst="rect">
            <a:avLst/>
          </a:prstGeom>
          <a:noFill/>
          <a:ln w="0">
            <a:noFill/>
            <a:prstDash val="solid"/>
          </a:ln>
        </p:spPr>
        <p:txBody>
          <a:bodyPr wrap="none" lIns="0" tIns="0" rIns="0" bIns="0" anchor="t">
            <a:noAutofit/>
          </a:bodyPr>
          <a:lstStyle>
            <a:defPPr algn="l">
              <a:defRPr sz="2250" b="1">
                <a:solidFill>
                  <a:srgbClr val="986000"/>
                </a:solidFill>
                <a:latin typeface="Nimbus Sans"/>
                <a:ea typeface="Nimbus Sans"/>
                <a:cs typeface="Nimbus Sans"/>
              </a:defRPr>
            </a:defPPr>
          </a:lstStyle>
          <a:p>
            <a:pPr algn="l">
              <a:defRPr sz="2250" b="1">
                <a:solidFill>
                  <a:srgbClr val="986000"/>
                </a:solidFill>
                <a:latin typeface="Nimbus Sans"/>
                <a:ea typeface="Nimbus Sans"/>
                <a:cs typeface="Nimbus Sans"/>
              </a:defRPr>
            </a:pPr>
            <a:r>
              <a:rPr sz="2250" b="1">
                <a:solidFill>
                  <a:srgbClr val="986000"/>
                </a:solidFill>
                <a:latin typeface="Nimbus Sans"/>
                <a:ea typeface="Nimbus Sans"/>
                <a:cs typeface="Nimbus Sans"/>
              </a:rPr>
              <a:t>OTHI 19</a:t>
            </a:r>
          </a:p>
        </p:txBody>
      </p:sp>
      <p:sp>
        <p:nvSpPr>
          <p:cNvPr id="18" name="Rectangle 17">
            <a:extLst>
              <a:ext uri="{FF2B5EF4-FFF2-40B4-BE49-F238E27FC236}">
                <a16:creationId xmlns:a16="http://schemas.microsoft.com/office/drawing/2014/main" id="{DF3950AE-2A95-498D-A58B-4E8C6BEDB897}"/>
              </a:ext>
            </a:extLst>
          </p:cNvPr>
          <p:cNvSpPr>
            <a:spLocks noGrp="1"/>
          </p:cNvSpPr>
          <p:nvPr/>
        </p:nvSpPr>
        <p:spPr>
          <a:xfrm>
            <a:off x="895350" y="8248650"/>
            <a:ext cx="2257425"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Overload evidence</a:t>
            </a:r>
          </a:p>
        </p:txBody>
      </p:sp>
      <p:sp>
        <p:nvSpPr>
          <p:cNvPr id="19" name="Rectangle 18">
            <a:extLst>
              <a:ext uri="{FF2B5EF4-FFF2-40B4-BE49-F238E27FC236}">
                <a16:creationId xmlns:a16="http://schemas.microsoft.com/office/drawing/2014/main" id="{359D1A8F-016B-4A42-A766-16EE2B589761}"/>
              </a:ext>
            </a:extLst>
          </p:cNvPr>
          <p:cNvSpPr>
            <a:spLocks noGrp="1"/>
          </p:cNvSpPr>
          <p:nvPr/>
        </p:nvSpPr>
        <p:spPr>
          <a:xfrm>
            <a:off x="3581400" y="7200900"/>
            <a:ext cx="2524125" cy="1676400"/>
          </a:xfrm>
          <a:prstGeom prst="rect">
            <a:avLst/>
          </a:prstGeom>
          <a:noFill/>
          <a:ln w="14288">
            <a:solidFill>
              <a:srgbClr val="C93037"/>
            </a:solidFill>
            <a:prstDash val="solid"/>
          </a:ln>
        </p:spPr>
        <p:txBody>
          <a:bodyPr/>
          <a:lstStyle/>
          <a:p>
            <a:endParaRPr lang="en-US"/>
          </a:p>
        </p:txBody>
      </p:sp>
      <p:sp>
        <p:nvSpPr>
          <p:cNvPr id="20" name="Rectangle 19">
            <a:extLst>
              <a:ext uri="{FF2B5EF4-FFF2-40B4-BE49-F238E27FC236}">
                <a16:creationId xmlns:a16="http://schemas.microsoft.com/office/drawing/2014/main" id="{4ADD671B-7F93-45EE-8714-64B6E425693C}"/>
              </a:ext>
            </a:extLst>
          </p:cNvPr>
          <p:cNvSpPr>
            <a:spLocks noGrp="1"/>
          </p:cNvSpPr>
          <p:nvPr/>
        </p:nvSpPr>
        <p:spPr>
          <a:xfrm>
            <a:off x="3714750" y="7362825"/>
            <a:ext cx="2257425" cy="347853"/>
          </a:xfrm>
          <a:prstGeom prst="rect">
            <a:avLst/>
          </a:prstGeom>
          <a:noFill/>
          <a:ln w="0">
            <a:noFill/>
            <a:prstDash val="solid"/>
          </a:ln>
        </p:spPr>
        <p:txBody>
          <a:bodyPr wrap="none" lIns="0" tIns="0" rIns="0" bIns="0" anchor="t">
            <a:noAutofit/>
          </a:bodyPr>
          <a:lstStyle>
            <a:defPPr algn="l">
              <a:defRPr sz="1725" b="0">
                <a:solidFill>
                  <a:srgbClr val="172B3A"/>
                </a:solidFill>
                <a:latin typeface="Nimbus Sans"/>
                <a:ea typeface="Nimbus Sans"/>
                <a:cs typeface="Nimbus Sans"/>
              </a:defRPr>
            </a:defPPr>
          </a:lstStyle>
          <a:p>
            <a:pPr algn="l">
              <a:defRPr sz="1725" b="0">
                <a:solidFill>
                  <a:srgbClr val="172B3A"/>
                </a:solidFill>
                <a:latin typeface="Nimbus Sans"/>
                <a:ea typeface="Nimbus Sans"/>
                <a:cs typeface="Nimbus Sans"/>
              </a:defRPr>
            </a:pPr>
            <a:r>
              <a:rPr sz="1725" b="0">
                <a:solidFill>
                  <a:srgbClr val="172B3A"/>
                </a:solidFill>
                <a:latin typeface="Nimbus Sans"/>
                <a:ea typeface="Nimbus Sans"/>
                <a:cs typeface="Nimbus Sans"/>
              </a:rPr>
              <a:t>08:00 · TRIP</a:t>
            </a:r>
          </a:p>
        </p:txBody>
      </p:sp>
      <p:sp>
        <p:nvSpPr>
          <p:cNvPr id="21" name="Rectangle 20">
            <a:extLst>
              <a:ext uri="{FF2B5EF4-FFF2-40B4-BE49-F238E27FC236}">
                <a16:creationId xmlns:a16="http://schemas.microsoft.com/office/drawing/2014/main" id="{C9E7A052-6CEC-4347-AF2D-7D505F4322C3}"/>
              </a:ext>
            </a:extLst>
          </p:cNvPr>
          <p:cNvSpPr>
            <a:spLocks noGrp="1"/>
          </p:cNvSpPr>
          <p:nvPr/>
        </p:nvSpPr>
        <p:spPr>
          <a:xfrm>
            <a:off x="3714750" y="7839075"/>
            <a:ext cx="2257425" cy="430530"/>
          </a:xfrm>
          <a:prstGeom prst="rect">
            <a:avLst/>
          </a:prstGeom>
          <a:noFill/>
          <a:ln w="0">
            <a:noFill/>
            <a:prstDash val="solid"/>
          </a:ln>
        </p:spPr>
        <p:txBody>
          <a:bodyPr wrap="none" lIns="0" tIns="0" rIns="0" bIns="0" anchor="t">
            <a:noAutofit/>
          </a:bodyPr>
          <a:lstStyle>
            <a:defPPr algn="l">
              <a:defRPr sz="2250" b="1">
                <a:solidFill>
                  <a:srgbClr val="C93037"/>
                </a:solidFill>
                <a:latin typeface="Nimbus Sans"/>
                <a:ea typeface="Nimbus Sans"/>
                <a:cs typeface="Nimbus Sans"/>
              </a:defRPr>
            </a:defPPr>
          </a:lstStyle>
          <a:p>
            <a:pPr algn="l">
              <a:defRPr sz="2250" b="1">
                <a:solidFill>
                  <a:srgbClr val="C93037"/>
                </a:solidFill>
                <a:latin typeface="Nimbus Sans"/>
                <a:ea typeface="Nimbus Sans"/>
                <a:cs typeface="Nimbus Sans"/>
              </a:defRPr>
            </a:pPr>
            <a:r>
              <a:rPr sz="2250" b="1">
                <a:solidFill>
                  <a:srgbClr val="C93037"/>
                </a:solidFill>
                <a:latin typeface="Nimbus Sans"/>
                <a:ea typeface="Nimbus Sans"/>
                <a:cs typeface="Nimbus Sans"/>
              </a:rPr>
              <a:t>OTHI 0</a:t>
            </a:r>
          </a:p>
        </p:txBody>
      </p:sp>
      <p:sp>
        <p:nvSpPr>
          <p:cNvPr id="22" name="Rectangle 21">
            <a:extLst>
              <a:ext uri="{FF2B5EF4-FFF2-40B4-BE49-F238E27FC236}">
                <a16:creationId xmlns:a16="http://schemas.microsoft.com/office/drawing/2014/main" id="{DA1C03D5-F65D-404D-81E3-825A41836A7E}"/>
              </a:ext>
            </a:extLst>
          </p:cNvPr>
          <p:cNvSpPr>
            <a:spLocks noGrp="1"/>
          </p:cNvSpPr>
          <p:nvPr/>
        </p:nvSpPr>
        <p:spPr>
          <a:xfrm>
            <a:off x="3714750" y="8248650"/>
            <a:ext cx="2257425"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OTI trip, breaker open</a:t>
            </a:r>
          </a:p>
        </p:txBody>
      </p:sp>
      <p:sp>
        <p:nvSpPr>
          <p:cNvPr id="23" name="Rectangle 22">
            <a:extLst>
              <a:ext uri="{FF2B5EF4-FFF2-40B4-BE49-F238E27FC236}">
                <a16:creationId xmlns:a16="http://schemas.microsoft.com/office/drawing/2014/main" id="{55B1FD29-8ACC-4447-A221-45022052F942}"/>
              </a:ext>
            </a:extLst>
          </p:cNvPr>
          <p:cNvSpPr>
            <a:spLocks noGrp="1"/>
          </p:cNvSpPr>
          <p:nvPr/>
        </p:nvSpPr>
        <p:spPr>
          <a:xfrm>
            <a:off x="6400800" y="7200900"/>
            <a:ext cx="2524125" cy="1676400"/>
          </a:xfrm>
          <a:prstGeom prst="rect">
            <a:avLst/>
          </a:prstGeom>
          <a:noFill/>
          <a:ln w="14288">
            <a:solidFill>
              <a:srgbClr val="C93037"/>
            </a:solidFill>
            <a:prstDash val="solid"/>
          </a:ln>
        </p:spPr>
        <p:txBody>
          <a:bodyPr/>
          <a:lstStyle/>
          <a:p>
            <a:endParaRPr lang="en-US"/>
          </a:p>
        </p:txBody>
      </p:sp>
      <p:sp>
        <p:nvSpPr>
          <p:cNvPr id="24" name="Rectangle 23">
            <a:extLst>
              <a:ext uri="{FF2B5EF4-FFF2-40B4-BE49-F238E27FC236}">
                <a16:creationId xmlns:a16="http://schemas.microsoft.com/office/drawing/2014/main" id="{A1E9568C-D4B0-4B3C-83A0-5B5A5F867FBE}"/>
              </a:ext>
            </a:extLst>
          </p:cNvPr>
          <p:cNvSpPr>
            <a:spLocks noGrp="1"/>
          </p:cNvSpPr>
          <p:nvPr/>
        </p:nvSpPr>
        <p:spPr>
          <a:xfrm>
            <a:off x="6534150" y="7362825"/>
            <a:ext cx="2257425" cy="347853"/>
          </a:xfrm>
          <a:prstGeom prst="rect">
            <a:avLst/>
          </a:prstGeom>
          <a:noFill/>
          <a:ln w="0">
            <a:noFill/>
            <a:prstDash val="solid"/>
          </a:ln>
        </p:spPr>
        <p:txBody>
          <a:bodyPr wrap="none" lIns="0" tIns="0" rIns="0" bIns="0" anchor="t">
            <a:noAutofit/>
          </a:bodyPr>
          <a:lstStyle>
            <a:defPPr algn="l">
              <a:defRPr sz="1725" b="0">
                <a:solidFill>
                  <a:srgbClr val="172B3A"/>
                </a:solidFill>
                <a:latin typeface="Nimbus Sans"/>
                <a:ea typeface="Nimbus Sans"/>
                <a:cs typeface="Nimbus Sans"/>
              </a:defRPr>
            </a:defPPr>
          </a:lstStyle>
          <a:p>
            <a:pPr algn="l">
              <a:defRPr sz="1725" b="0">
                <a:solidFill>
                  <a:srgbClr val="172B3A"/>
                </a:solidFill>
                <a:latin typeface="Nimbus Sans"/>
                <a:ea typeface="Nimbus Sans"/>
                <a:cs typeface="Nimbus Sans"/>
              </a:defRPr>
            </a:pPr>
            <a:r>
              <a:rPr sz="1725" b="0">
                <a:solidFill>
                  <a:srgbClr val="172B3A"/>
                </a:solidFill>
                <a:latin typeface="Nimbus Sans"/>
                <a:ea typeface="Nimbus Sans"/>
                <a:cs typeface="Nimbus Sans"/>
              </a:rPr>
              <a:t>Operator ACK</a:t>
            </a:r>
          </a:p>
        </p:txBody>
      </p:sp>
      <p:sp>
        <p:nvSpPr>
          <p:cNvPr id="25" name="Rectangle 24">
            <a:extLst>
              <a:ext uri="{FF2B5EF4-FFF2-40B4-BE49-F238E27FC236}">
                <a16:creationId xmlns:a16="http://schemas.microsoft.com/office/drawing/2014/main" id="{4982DC7D-0588-4063-9193-BC0498B8E0A8}"/>
              </a:ext>
            </a:extLst>
          </p:cNvPr>
          <p:cNvSpPr>
            <a:spLocks noGrp="1"/>
          </p:cNvSpPr>
          <p:nvPr/>
        </p:nvSpPr>
        <p:spPr>
          <a:xfrm>
            <a:off x="6534150" y="7839075"/>
            <a:ext cx="2257425" cy="430530"/>
          </a:xfrm>
          <a:prstGeom prst="rect">
            <a:avLst/>
          </a:prstGeom>
          <a:noFill/>
          <a:ln w="0">
            <a:noFill/>
            <a:prstDash val="solid"/>
          </a:ln>
        </p:spPr>
        <p:txBody>
          <a:bodyPr wrap="none" lIns="0" tIns="0" rIns="0" bIns="0" anchor="t">
            <a:noAutofit/>
          </a:bodyPr>
          <a:lstStyle>
            <a:defPPr algn="l">
              <a:defRPr sz="2250" b="1">
                <a:solidFill>
                  <a:srgbClr val="C93037"/>
                </a:solidFill>
                <a:latin typeface="Nimbus Sans"/>
                <a:ea typeface="Nimbus Sans"/>
                <a:cs typeface="Nimbus Sans"/>
              </a:defRPr>
            </a:defPPr>
          </a:lstStyle>
          <a:p>
            <a:pPr algn="l">
              <a:defRPr sz="2250" b="1">
                <a:solidFill>
                  <a:srgbClr val="C93037"/>
                </a:solidFill>
                <a:latin typeface="Nimbus Sans"/>
                <a:ea typeface="Nimbus Sans"/>
                <a:cs typeface="Nimbus Sans"/>
              </a:defRPr>
            </a:pPr>
            <a:r>
              <a:rPr sz="2250" b="1">
                <a:solidFill>
                  <a:srgbClr val="C93037"/>
                </a:solidFill>
                <a:latin typeface="Nimbus Sans"/>
                <a:ea typeface="Nimbus Sans"/>
                <a:cs typeface="Nimbus Sans"/>
              </a:rPr>
              <a:t>OTHI stays 0</a:t>
            </a:r>
          </a:p>
        </p:txBody>
      </p:sp>
      <p:sp>
        <p:nvSpPr>
          <p:cNvPr id="26" name="Rectangle 25">
            <a:extLst>
              <a:ext uri="{FF2B5EF4-FFF2-40B4-BE49-F238E27FC236}">
                <a16:creationId xmlns:a16="http://schemas.microsoft.com/office/drawing/2014/main" id="{62CD35EA-6096-4103-A79B-5403908F67AE}"/>
              </a:ext>
            </a:extLst>
          </p:cNvPr>
          <p:cNvSpPr>
            <a:spLocks noGrp="1"/>
          </p:cNvSpPr>
          <p:nvPr/>
        </p:nvSpPr>
        <p:spPr>
          <a:xfrm>
            <a:off x="6534150" y="8248650"/>
            <a:ext cx="2257425"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Latch stays active</a:t>
            </a:r>
          </a:p>
        </p:txBody>
      </p:sp>
      <p:sp>
        <p:nvSpPr>
          <p:cNvPr id="27" name="Rectangle 26">
            <a:extLst>
              <a:ext uri="{FF2B5EF4-FFF2-40B4-BE49-F238E27FC236}">
                <a16:creationId xmlns:a16="http://schemas.microsoft.com/office/drawing/2014/main" id="{0F5F84E0-47FC-4005-A91B-F74A029B7A93}"/>
              </a:ext>
            </a:extLst>
          </p:cNvPr>
          <p:cNvSpPr>
            <a:spLocks noGrp="1"/>
          </p:cNvSpPr>
          <p:nvPr/>
        </p:nvSpPr>
        <p:spPr>
          <a:xfrm>
            <a:off x="9220200" y="7200900"/>
            <a:ext cx="2524125" cy="1676400"/>
          </a:xfrm>
          <a:prstGeom prst="rect">
            <a:avLst/>
          </a:prstGeom>
          <a:noFill/>
          <a:ln w="14288">
            <a:solidFill>
              <a:srgbClr val="C93037"/>
            </a:solidFill>
            <a:prstDash val="solid"/>
          </a:ln>
        </p:spPr>
        <p:txBody>
          <a:bodyPr/>
          <a:lstStyle/>
          <a:p>
            <a:endParaRPr lang="en-US"/>
          </a:p>
        </p:txBody>
      </p:sp>
      <p:sp>
        <p:nvSpPr>
          <p:cNvPr id="28" name="Rectangle 27">
            <a:extLst>
              <a:ext uri="{FF2B5EF4-FFF2-40B4-BE49-F238E27FC236}">
                <a16:creationId xmlns:a16="http://schemas.microsoft.com/office/drawing/2014/main" id="{E087FA47-FBE5-4CD9-8546-BBD4FFCF5CF4}"/>
              </a:ext>
            </a:extLst>
          </p:cNvPr>
          <p:cNvSpPr>
            <a:spLocks noGrp="1"/>
          </p:cNvSpPr>
          <p:nvPr/>
        </p:nvSpPr>
        <p:spPr>
          <a:xfrm>
            <a:off x="9353550" y="7362825"/>
            <a:ext cx="2257425" cy="347853"/>
          </a:xfrm>
          <a:prstGeom prst="rect">
            <a:avLst/>
          </a:prstGeom>
          <a:noFill/>
          <a:ln w="0">
            <a:noFill/>
            <a:prstDash val="solid"/>
          </a:ln>
        </p:spPr>
        <p:txBody>
          <a:bodyPr wrap="none" lIns="0" tIns="0" rIns="0" bIns="0" anchor="t">
            <a:noAutofit/>
          </a:bodyPr>
          <a:lstStyle>
            <a:defPPr algn="l">
              <a:defRPr sz="1725" b="0">
                <a:solidFill>
                  <a:srgbClr val="172B3A"/>
                </a:solidFill>
                <a:latin typeface="Nimbus Sans"/>
                <a:ea typeface="Nimbus Sans"/>
                <a:cs typeface="Nimbus Sans"/>
              </a:defRPr>
            </a:defPPr>
          </a:lstStyle>
          <a:p>
            <a:pPr algn="l">
              <a:defRPr sz="1725" b="0">
                <a:solidFill>
                  <a:srgbClr val="172B3A"/>
                </a:solidFill>
                <a:latin typeface="Nimbus Sans"/>
                <a:ea typeface="Nimbus Sans"/>
                <a:cs typeface="Nimbus Sans"/>
              </a:defRPr>
            </a:pPr>
            <a:r>
              <a:rPr sz="1725" b="0">
                <a:solidFill>
                  <a:srgbClr val="172B3A"/>
                </a:solidFill>
                <a:latin typeface="Nimbus Sans"/>
                <a:ea typeface="Nimbus Sans"/>
                <a:cs typeface="Nimbus Sans"/>
              </a:rPr>
              <a:t>10:30 · Reclose</a:t>
            </a:r>
          </a:p>
        </p:txBody>
      </p:sp>
      <p:sp>
        <p:nvSpPr>
          <p:cNvPr id="29" name="Rectangle 28">
            <a:extLst>
              <a:ext uri="{FF2B5EF4-FFF2-40B4-BE49-F238E27FC236}">
                <a16:creationId xmlns:a16="http://schemas.microsoft.com/office/drawing/2014/main" id="{D3854F76-4FA8-43FF-863A-8A0B3B180831}"/>
              </a:ext>
            </a:extLst>
          </p:cNvPr>
          <p:cNvSpPr>
            <a:spLocks noGrp="1"/>
          </p:cNvSpPr>
          <p:nvPr/>
        </p:nvSpPr>
        <p:spPr>
          <a:xfrm>
            <a:off x="9353550" y="7839075"/>
            <a:ext cx="2257425" cy="430530"/>
          </a:xfrm>
          <a:prstGeom prst="rect">
            <a:avLst/>
          </a:prstGeom>
          <a:noFill/>
          <a:ln w="0">
            <a:noFill/>
            <a:prstDash val="solid"/>
          </a:ln>
        </p:spPr>
        <p:txBody>
          <a:bodyPr wrap="none" lIns="0" tIns="0" rIns="0" bIns="0" anchor="t">
            <a:noAutofit/>
          </a:bodyPr>
          <a:lstStyle>
            <a:defPPr algn="l">
              <a:defRPr sz="2250" b="1">
                <a:solidFill>
                  <a:srgbClr val="C93037"/>
                </a:solidFill>
                <a:latin typeface="Nimbus Sans"/>
                <a:ea typeface="Nimbus Sans"/>
                <a:cs typeface="Nimbus Sans"/>
              </a:defRPr>
            </a:defPPr>
          </a:lstStyle>
          <a:p>
            <a:pPr algn="l">
              <a:defRPr sz="2250" b="1">
                <a:solidFill>
                  <a:srgbClr val="C93037"/>
                </a:solidFill>
                <a:latin typeface="Nimbus Sans"/>
                <a:ea typeface="Nimbus Sans"/>
                <a:cs typeface="Nimbus Sans"/>
              </a:defRPr>
            </a:pPr>
            <a:r>
              <a:rPr sz="2250" b="1">
                <a:solidFill>
                  <a:srgbClr val="C93037"/>
                </a:solidFill>
                <a:latin typeface="Nimbus Sans"/>
                <a:ea typeface="Nimbus Sans"/>
                <a:cs typeface="Nimbus Sans"/>
              </a:rPr>
              <a:t>OTHI stays 0</a:t>
            </a:r>
          </a:p>
        </p:txBody>
      </p:sp>
      <p:sp>
        <p:nvSpPr>
          <p:cNvPr id="30" name="Rectangle 29">
            <a:extLst>
              <a:ext uri="{FF2B5EF4-FFF2-40B4-BE49-F238E27FC236}">
                <a16:creationId xmlns:a16="http://schemas.microsoft.com/office/drawing/2014/main" id="{2B221BB2-1C98-4E7A-9280-FDAD94A9411A}"/>
              </a:ext>
            </a:extLst>
          </p:cNvPr>
          <p:cNvSpPr>
            <a:spLocks noGrp="1"/>
          </p:cNvSpPr>
          <p:nvPr/>
        </p:nvSpPr>
        <p:spPr>
          <a:xfrm>
            <a:off x="9353550" y="8248650"/>
            <a:ext cx="2257425" cy="595884"/>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Load returns, still</a:t>
            </a:r>
          </a:p>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latched</a:t>
            </a:r>
          </a:p>
        </p:txBody>
      </p:sp>
      <p:sp>
        <p:nvSpPr>
          <p:cNvPr id="31" name="Rectangle 30">
            <a:extLst>
              <a:ext uri="{FF2B5EF4-FFF2-40B4-BE49-F238E27FC236}">
                <a16:creationId xmlns:a16="http://schemas.microsoft.com/office/drawing/2014/main" id="{3050414E-44C4-4AEF-A4EA-2968156B30A8}"/>
              </a:ext>
            </a:extLst>
          </p:cNvPr>
          <p:cNvSpPr>
            <a:spLocks noGrp="1"/>
          </p:cNvSpPr>
          <p:nvPr/>
        </p:nvSpPr>
        <p:spPr>
          <a:xfrm>
            <a:off x="12039600" y="7200900"/>
            <a:ext cx="2524125" cy="1676400"/>
          </a:xfrm>
          <a:prstGeom prst="rect">
            <a:avLst/>
          </a:prstGeom>
          <a:noFill/>
          <a:ln w="14288">
            <a:solidFill>
              <a:srgbClr val="986000"/>
            </a:solidFill>
            <a:prstDash val="solid"/>
          </a:ln>
        </p:spPr>
        <p:txBody>
          <a:bodyPr/>
          <a:lstStyle/>
          <a:p>
            <a:endParaRPr lang="en-US"/>
          </a:p>
        </p:txBody>
      </p:sp>
      <p:sp>
        <p:nvSpPr>
          <p:cNvPr id="32" name="Rectangle 31">
            <a:extLst>
              <a:ext uri="{FF2B5EF4-FFF2-40B4-BE49-F238E27FC236}">
                <a16:creationId xmlns:a16="http://schemas.microsoft.com/office/drawing/2014/main" id="{5DB76BE8-84BB-46D6-8188-A7DB0F69A8B6}"/>
              </a:ext>
            </a:extLst>
          </p:cNvPr>
          <p:cNvSpPr>
            <a:spLocks noGrp="1"/>
          </p:cNvSpPr>
          <p:nvPr/>
        </p:nvSpPr>
        <p:spPr>
          <a:xfrm>
            <a:off x="12172950" y="7362825"/>
            <a:ext cx="2257425" cy="347853"/>
          </a:xfrm>
          <a:prstGeom prst="rect">
            <a:avLst/>
          </a:prstGeom>
          <a:noFill/>
          <a:ln w="0">
            <a:noFill/>
            <a:prstDash val="solid"/>
          </a:ln>
        </p:spPr>
        <p:txBody>
          <a:bodyPr wrap="none" lIns="0" tIns="0" rIns="0" bIns="0" anchor="t">
            <a:noAutofit/>
          </a:bodyPr>
          <a:lstStyle>
            <a:defPPr algn="l">
              <a:defRPr sz="1725" b="0">
                <a:solidFill>
                  <a:srgbClr val="172B3A"/>
                </a:solidFill>
                <a:latin typeface="Nimbus Sans"/>
                <a:ea typeface="Nimbus Sans"/>
                <a:cs typeface="Nimbus Sans"/>
              </a:defRPr>
            </a:defPPr>
          </a:lstStyle>
          <a:p>
            <a:pPr algn="l">
              <a:defRPr sz="1725" b="0">
                <a:solidFill>
                  <a:srgbClr val="172B3A"/>
                </a:solidFill>
                <a:latin typeface="Nimbus Sans"/>
                <a:ea typeface="Nimbus Sans"/>
                <a:cs typeface="Nimbus Sans"/>
              </a:defRPr>
            </a:pPr>
            <a:r>
              <a:rPr sz="1725" b="0">
                <a:solidFill>
                  <a:srgbClr val="172B3A"/>
                </a:solidFill>
                <a:latin typeface="Nimbus Sans"/>
                <a:ea typeface="Nimbus Sans"/>
                <a:cs typeface="Nimbus Sans"/>
              </a:rPr>
              <a:t>Authorised resolution</a:t>
            </a:r>
          </a:p>
        </p:txBody>
      </p:sp>
      <p:sp>
        <p:nvSpPr>
          <p:cNvPr id="33" name="Rectangle 32">
            <a:extLst>
              <a:ext uri="{FF2B5EF4-FFF2-40B4-BE49-F238E27FC236}">
                <a16:creationId xmlns:a16="http://schemas.microsoft.com/office/drawing/2014/main" id="{607F2FEF-2B13-42B1-9DEB-AF006D2DD167}"/>
              </a:ext>
            </a:extLst>
          </p:cNvPr>
          <p:cNvSpPr>
            <a:spLocks noGrp="1"/>
          </p:cNvSpPr>
          <p:nvPr/>
        </p:nvSpPr>
        <p:spPr>
          <a:xfrm>
            <a:off x="12172950" y="7839075"/>
            <a:ext cx="2257425" cy="430530"/>
          </a:xfrm>
          <a:prstGeom prst="rect">
            <a:avLst/>
          </a:prstGeom>
          <a:noFill/>
          <a:ln w="0">
            <a:noFill/>
            <a:prstDash val="solid"/>
          </a:ln>
        </p:spPr>
        <p:txBody>
          <a:bodyPr wrap="none" lIns="0" tIns="0" rIns="0" bIns="0" anchor="t">
            <a:noAutofit/>
          </a:bodyPr>
          <a:lstStyle>
            <a:defPPr algn="l">
              <a:defRPr sz="2250" b="1">
                <a:solidFill>
                  <a:srgbClr val="986000"/>
                </a:solidFill>
                <a:latin typeface="Nimbus Sans"/>
                <a:ea typeface="Nimbus Sans"/>
                <a:cs typeface="Nimbus Sans"/>
              </a:defRPr>
            </a:defPPr>
          </a:lstStyle>
          <a:p>
            <a:pPr algn="l">
              <a:defRPr sz="2250" b="1">
                <a:solidFill>
                  <a:srgbClr val="986000"/>
                </a:solidFill>
                <a:latin typeface="Nimbus Sans"/>
                <a:ea typeface="Nimbus Sans"/>
                <a:cs typeface="Nimbus Sans"/>
              </a:defRPr>
            </a:pPr>
            <a:r>
              <a:rPr sz="2250" b="1">
                <a:solidFill>
                  <a:srgbClr val="986000"/>
                </a:solidFill>
                <a:latin typeface="Nimbus Sans"/>
                <a:ea typeface="Nimbus Sans"/>
                <a:cs typeface="Nimbus Sans"/>
              </a:rPr>
              <a:t>RESOLVE</a:t>
            </a:r>
          </a:p>
        </p:txBody>
      </p:sp>
      <p:sp>
        <p:nvSpPr>
          <p:cNvPr id="34" name="Rectangle 33">
            <a:extLst>
              <a:ext uri="{FF2B5EF4-FFF2-40B4-BE49-F238E27FC236}">
                <a16:creationId xmlns:a16="http://schemas.microsoft.com/office/drawing/2014/main" id="{D90C76E1-DE98-456C-9E8C-65D431C47249}"/>
              </a:ext>
            </a:extLst>
          </p:cNvPr>
          <p:cNvSpPr>
            <a:spLocks noGrp="1"/>
          </p:cNvSpPr>
          <p:nvPr/>
        </p:nvSpPr>
        <p:spPr>
          <a:xfrm>
            <a:off x="12172950" y="8248650"/>
            <a:ext cx="2257425" cy="595884"/>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Documented reason</a:t>
            </a:r>
          </a:p>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code</a:t>
            </a:r>
          </a:p>
        </p:txBody>
      </p:sp>
      <p:sp>
        <p:nvSpPr>
          <p:cNvPr id="35" name="Rectangle 34">
            <a:extLst>
              <a:ext uri="{FF2B5EF4-FFF2-40B4-BE49-F238E27FC236}">
                <a16:creationId xmlns:a16="http://schemas.microsoft.com/office/drawing/2014/main" id="{AB8507F9-4799-4165-8F1D-5919D011EC43}"/>
              </a:ext>
            </a:extLst>
          </p:cNvPr>
          <p:cNvSpPr>
            <a:spLocks noGrp="1"/>
          </p:cNvSpPr>
          <p:nvPr/>
        </p:nvSpPr>
        <p:spPr>
          <a:xfrm>
            <a:off x="14859000" y="7200900"/>
            <a:ext cx="2524125" cy="1676400"/>
          </a:xfrm>
          <a:prstGeom prst="rect">
            <a:avLst/>
          </a:prstGeom>
          <a:noFill/>
          <a:ln w="14288">
            <a:solidFill>
              <a:srgbClr val="087E98"/>
            </a:solidFill>
            <a:prstDash val="solid"/>
          </a:ln>
        </p:spPr>
        <p:txBody>
          <a:bodyPr/>
          <a:lstStyle/>
          <a:p>
            <a:endParaRPr lang="en-US"/>
          </a:p>
        </p:txBody>
      </p:sp>
      <p:sp>
        <p:nvSpPr>
          <p:cNvPr id="36" name="Rectangle 35">
            <a:extLst>
              <a:ext uri="{FF2B5EF4-FFF2-40B4-BE49-F238E27FC236}">
                <a16:creationId xmlns:a16="http://schemas.microsoft.com/office/drawing/2014/main" id="{069F3B50-60C6-484B-A6FF-7CD7D3610FC7}"/>
              </a:ext>
            </a:extLst>
          </p:cNvPr>
          <p:cNvSpPr>
            <a:spLocks noGrp="1"/>
          </p:cNvSpPr>
          <p:nvPr/>
        </p:nvSpPr>
        <p:spPr>
          <a:xfrm>
            <a:off x="14992350" y="7362825"/>
            <a:ext cx="2257425" cy="347853"/>
          </a:xfrm>
          <a:prstGeom prst="rect">
            <a:avLst/>
          </a:prstGeom>
          <a:noFill/>
          <a:ln w="0">
            <a:noFill/>
            <a:prstDash val="solid"/>
          </a:ln>
        </p:spPr>
        <p:txBody>
          <a:bodyPr wrap="none" lIns="0" tIns="0" rIns="0" bIns="0" anchor="t">
            <a:noAutofit/>
          </a:bodyPr>
          <a:lstStyle>
            <a:defPPr algn="l">
              <a:defRPr sz="1725" b="0">
                <a:solidFill>
                  <a:srgbClr val="172B3A"/>
                </a:solidFill>
                <a:latin typeface="Nimbus Sans"/>
                <a:ea typeface="Nimbus Sans"/>
                <a:cs typeface="Nimbus Sans"/>
              </a:defRPr>
            </a:defPPr>
          </a:lstStyle>
          <a:p>
            <a:pPr algn="l">
              <a:defRPr sz="1725" b="0">
                <a:solidFill>
                  <a:srgbClr val="172B3A"/>
                </a:solidFill>
                <a:latin typeface="Nimbus Sans"/>
                <a:ea typeface="Nimbus Sans"/>
                <a:cs typeface="Nimbus Sans"/>
              </a:defRPr>
            </a:pPr>
            <a:r>
              <a:rPr sz="1725" b="0">
                <a:solidFill>
                  <a:srgbClr val="172B3A"/>
                </a:solidFill>
                <a:latin typeface="Nimbus Sans"/>
                <a:ea typeface="Nimbus Sans"/>
                <a:cs typeface="Nimbus Sans"/>
              </a:rPr>
              <a:t>Next frame</a:t>
            </a:r>
          </a:p>
        </p:txBody>
      </p:sp>
      <p:sp>
        <p:nvSpPr>
          <p:cNvPr id="37" name="Rectangle 36">
            <a:extLst>
              <a:ext uri="{FF2B5EF4-FFF2-40B4-BE49-F238E27FC236}">
                <a16:creationId xmlns:a16="http://schemas.microsoft.com/office/drawing/2014/main" id="{8A96B0C6-CE82-498F-9D77-415DF94ADF9E}"/>
              </a:ext>
            </a:extLst>
          </p:cNvPr>
          <p:cNvSpPr>
            <a:spLocks noGrp="1"/>
          </p:cNvSpPr>
          <p:nvPr/>
        </p:nvSpPr>
        <p:spPr>
          <a:xfrm>
            <a:off x="14992350" y="7839075"/>
            <a:ext cx="2257425" cy="430530"/>
          </a:xfrm>
          <a:prstGeom prst="rect">
            <a:avLst/>
          </a:prstGeom>
          <a:noFill/>
          <a:ln w="0">
            <a:noFill/>
            <a:prstDash val="solid"/>
          </a:ln>
        </p:spPr>
        <p:txBody>
          <a:bodyPr wrap="none" lIns="0" tIns="0" rIns="0" bIns="0" anchor="t">
            <a:noAutofit/>
          </a:bodyPr>
          <a:lstStyle>
            <a:defPPr algn="l">
              <a:defRPr sz="2250" b="1">
                <a:solidFill>
                  <a:srgbClr val="087E98"/>
                </a:solidFill>
                <a:latin typeface="Nimbus Sans"/>
                <a:ea typeface="Nimbus Sans"/>
                <a:cs typeface="Nimbus Sans"/>
              </a:defRPr>
            </a:defPPr>
          </a:lstStyle>
          <a:p>
            <a:pPr algn="l">
              <a:defRPr sz="2250" b="1">
                <a:solidFill>
                  <a:srgbClr val="087E98"/>
                </a:solidFill>
                <a:latin typeface="Nimbus Sans"/>
                <a:ea typeface="Nimbus Sans"/>
                <a:cs typeface="Nimbus Sans"/>
              </a:defRPr>
            </a:pPr>
            <a:r>
              <a:rPr sz="2250" b="1">
                <a:solidFill>
                  <a:srgbClr val="087E98"/>
                </a:solidFill>
                <a:latin typeface="Nimbus Sans"/>
                <a:ea typeface="Nimbus Sans"/>
                <a:cs typeface="Nimbus Sans"/>
              </a:rPr>
              <a:t>OTHI 100</a:t>
            </a:r>
          </a:p>
        </p:txBody>
      </p:sp>
      <p:sp>
        <p:nvSpPr>
          <p:cNvPr id="38" name="Rectangle 37">
            <a:extLst>
              <a:ext uri="{FF2B5EF4-FFF2-40B4-BE49-F238E27FC236}">
                <a16:creationId xmlns:a16="http://schemas.microsoft.com/office/drawing/2014/main" id="{FF8EA71C-87A9-433E-9BC5-0802732B8568}"/>
              </a:ext>
            </a:extLst>
          </p:cNvPr>
          <p:cNvSpPr>
            <a:spLocks noGrp="1"/>
          </p:cNvSpPr>
          <p:nvPr/>
        </p:nvSpPr>
        <p:spPr>
          <a:xfrm>
            <a:off x="14992350" y="8248650"/>
            <a:ext cx="2257425"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Health recovers</a:t>
            </a:r>
          </a:p>
        </p:txBody>
      </p:sp>
      <p:sp>
        <p:nvSpPr>
          <p:cNvPr id="39" name="Rectangle 38">
            <a:extLst>
              <a:ext uri="{FF2B5EF4-FFF2-40B4-BE49-F238E27FC236}">
                <a16:creationId xmlns:a16="http://schemas.microsoft.com/office/drawing/2014/main" id="{36CC6ECD-2783-4195-A766-4C0A9A5F2DE0}"/>
              </a:ext>
            </a:extLst>
          </p:cNvPr>
          <p:cNvSpPr>
            <a:spLocks noGrp="1"/>
          </p:cNvSpPr>
          <p:nvPr/>
        </p:nvSpPr>
        <p:spPr>
          <a:xfrm>
            <a:off x="762000" y="9354502"/>
            <a:ext cx="16764000" cy="371475"/>
          </a:xfrm>
          <a:prstGeom prst="rect">
            <a:avLst/>
          </a:prstGeom>
          <a:noFill/>
          <a:ln w="0">
            <a:noFill/>
            <a:prstDash val="solid"/>
          </a:ln>
        </p:spPr>
        <p:txBody>
          <a:bodyPr wrap="none" lIns="0" tIns="0" rIns="0" bIns="0" anchor="t">
            <a:noAutofit/>
          </a:bodyPr>
          <a:lstStyle>
            <a:defPPr algn="l">
              <a:defRPr sz="1875" b="0">
                <a:solidFill>
                  <a:srgbClr val="536675"/>
                </a:solidFill>
                <a:latin typeface="Nimbus Sans"/>
                <a:ea typeface="Nimbus Sans"/>
                <a:cs typeface="Nimbus Sans"/>
              </a:defRPr>
            </a:defPPr>
          </a:lstStyle>
          <a:p>
            <a:pPr algn="l">
              <a:defRPr sz="1875" b="0">
                <a:solidFill>
                  <a:srgbClr val="536675"/>
                </a:solidFill>
                <a:latin typeface="Nimbus Sans"/>
                <a:ea typeface="Nimbus Sans"/>
                <a:cs typeface="Nimbus Sans"/>
              </a:defRPr>
            </a:pPr>
            <a:r>
              <a:rPr sz="1875" b="0" dirty="0">
                <a:solidFill>
                  <a:srgbClr val="536675"/>
                </a:solidFill>
                <a:latin typeface="Nimbus Sans"/>
                <a:ea typeface="Nimbus Sans"/>
                <a:cs typeface="Nimbus Sans"/>
              </a:rPr>
              <a:t>DT-02 · </a:t>
            </a:r>
            <a:r>
              <a:rPr sz="1875" b="0" dirty="0" err="1">
                <a:solidFill>
                  <a:srgbClr val="536675"/>
                </a:solidFill>
                <a:latin typeface="Nimbus Sans"/>
                <a:ea typeface="Nimbus Sans"/>
                <a:cs typeface="Nimbus Sans"/>
              </a:rPr>
              <a:t>GridPulse</a:t>
            </a:r>
            <a:r>
              <a:rPr sz="1875" b="0" dirty="0">
                <a:solidFill>
                  <a:srgbClr val="536675"/>
                </a:solidFill>
                <a:latin typeface="Nimbus Sans"/>
                <a:ea typeface="Nimbus Sans"/>
                <a:cs typeface="Nimbus Sans"/>
              </a:rPr>
              <a:t> synthetic v1 · CAL · scripted </a:t>
            </a:r>
            <a:r>
              <a:rPr sz="1875" b="0" dirty="0" err="1">
                <a:solidFill>
                  <a:srgbClr val="536675"/>
                </a:solidFill>
                <a:latin typeface="Nimbus Sans"/>
                <a:ea typeface="Nimbus Sans"/>
                <a:cs typeface="Nimbus Sans"/>
              </a:rPr>
              <a:t>authorised</a:t>
            </a:r>
            <a:r>
              <a:rPr sz="1875" b="0" dirty="0">
                <a:solidFill>
                  <a:srgbClr val="536675"/>
                </a:solidFill>
                <a:latin typeface="Nimbus Sans"/>
                <a:ea typeface="Nimbus Sans"/>
                <a:cs typeface="Nimbus Sans"/>
              </a:rPr>
              <a:t> resolution. Synthetic data.</a:t>
            </a:r>
          </a:p>
        </p:txBody>
      </p:sp>
      <p:pic>
        <p:nvPicPr>
          <p:cNvPr id="43" name="Picture 42">
            <a:extLst>
              <a:ext uri="{FF2B5EF4-FFF2-40B4-BE49-F238E27FC236}">
                <a16:creationId xmlns:a16="http://schemas.microsoft.com/office/drawing/2014/main" id="{D15C101C-3D2F-494B-085C-5260239247F8}"/>
              </a:ext>
            </a:extLst>
          </p:cNvPr>
          <p:cNvPicPr>
            <a:picLocks noChangeAspect="1"/>
          </p:cNvPicPr>
          <p:nvPr/>
        </p:nvPicPr>
        <p:blipFill>
          <a:blip r:embed="rId3"/>
          <a:stretch>
            <a:fillRect/>
          </a:stretch>
        </p:blipFill>
        <p:spPr>
          <a:xfrm>
            <a:off x="629725" y="4025932"/>
            <a:ext cx="8802839" cy="2046827"/>
          </a:xfrm>
          <a:prstGeom prst="rect">
            <a:avLst/>
          </a:prstGeom>
        </p:spPr>
      </p:pic>
      <p:pic>
        <p:nvPicPr>
          <p:cNvPr id="45" name="Picture 44">
            <a:extLst>
              <a:ext uri="{FF2B5EF4-FFF2-40B4-BE49-F238E27FC236}">
                <a16:creationId xmlns:a16="http://schemas.microsoft.com/office/drawing/2014/main" id="{26FC948E-1F49-A450-A7E9-42EED4F34E68}"/>
              </a:ext>
            </a:extLst>
          </p:cNvPr>
          <p:cNvPicPr>
            <a:picLocks noChangeAspect="1"/>
          </p:cNvPicPr>
          <p:nvPr/>
        </p:nvPicPr>
        <p:blipFill>
          <a:blip r:embed="rId4"/>
          <a:stretch>
            <a:fillRect/>
          </a:stretch>
        </p:blipFill>
        <p:spPr>
          <a:xfrm>
            <a:off x="11101565" y="3895249"/>
            <a:ext cx="4990744" cy="3067050"/>
          </a:xfrm>
          <a:prstGeom prst="rect">
            <a:avLst/>
          </a:prstGeom>
        </p:spPr>
      </p:pic>
    </p:spTree>
    <p:extLst>
      <p:ext uri="{BB962C8B-B14F-4D97-AF65-F5344CB8AC3E}">
        <p14:creationId xmlns:p14="http://schemas.microsoft.com/office/powerpoint/2010/main" val="757179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6876CCA-C185-44E4-ACAA-6CBCB04D57BF}"/>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4C142475-24F3-4A05-A137-AB4833AB8915}"/>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08</a:t>
            </a:r>
          </a:p>
        </p:txBody>
      </p:sp>
      <p:sp>
        <p:nvSpPr>
          <p:cNvPr id="3" name="Rectangle 2">
            <a:extLst>
              <a:ext uri="{FF2B5EF4-FFF2-40B4-BE49-F238E27FC236}">
                <a16:creationId xmlns:a16="http://schemas.microsoft.com/office/drawing/2014/main" id="{E36FB72B-C93E-44F4-86F9-33ECDD699C7E}"/>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a:solidFill>
                  <a:srgbClr val="172B3A"/>
                </a:solidFill>
                <a:latin typeface="Nimbus Sans"/>
                <a:ea typeface="Nimbus Sans"/>
                <a:cs typeface="Nimbus Sans"/>
              </a:rPr>
              <a:t>Roadmap to operational use</a:t>
            </a:r>
          </a:p>
        </p:txBody>
      </p:sp>
      <p:sp>
        <p:nvSpPr>
          <p:cNvPr id="4" name="Rectangle 3">
            <a:extLst>
              <a:ext uri="{FF2B5EF4-FFF2-40B4-BE49-F238E27FC236}">
                <a16:creationId xmlns:a16="http://schemas.microsoft.com/office/drawing/2014/main" id="{B2D79BFA-4E3B-472B-B928-6B3D1EEDA2BC}"/>
              </a:ext>
            </a:extLst>
          </p:cNvPr>
          <p:cNvSpPr>
            <a:spLocks noGrp="1"/>
          </p:cNvSpPr>
          <p:nvPr/>
        </p:nvSpPr>
        <p:spPr>
          <a:xfrm>
            <a:off x="762000" y="1838325"/>
            <a:ext cx="16764000" cy="9525"/>
          </a:xfrm>
          <a:prstGeom prst="rect">
            <a:avLst/>
          </a:prstGeom>
          <a:noFill/>
          <a:ln w="14288">
            <a:solidFill>
              <a:srgbClr val="D9E2E7"/>
            </a:solidFill>
            <a:prstDash val="solid"/>
          </a:ln>
        </p:spPr>
        <p:txBody>
          <a:bodyPr/>
          <a:lstStyle/>
          <a:p>
            <a:endParaRPr lang="en-US"/>
          </a:p>
        </p:txBody>
      </p:sp>
      <p:sp>
        <p:nvSpPr>
          <p:cNvPr id="9" name="Rectangle 8">
            <a:extLst>
              <a:ext uri="{FF2B5EF4-FFF2-40B4-BE49-F238E27FC236}">
                <a16:creationId xmlns:a16="http://schemas.microsoft.com/office/drawing/2014/main" id="{5265ACF7-EDBF-4508-8F59-BC38116A6717}"/>
              </a:ext>
            </a:extLst>
          </p:cNvPr>
          <p:cNvSpPr>
            <a:spLocks noGrp="1"/>
          </p:cNvSpPr>
          <p:nvPr/>
        </p:nvSpPr>
        <p:spPr>
          <a:xfrm>
            <a:off x="762000" y="2460498"/>
            <a:ext cx="5286375"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Industrial sources</a:t>
            </a:r>
          </a:p>
        </p:txBody>
      </p:sp>
      <p:sp>
        <p:nvSpPr>
          <p:cNvPr id="10" name="Rectangle 9">
            <a:extLst>
              <a:ext uri="{FF2B5EF4-FFF2-40B4-BE49-F238E27FC236}">
                <a16:creationId xmlns:a16="http://schemas.microsoft.com/office/drawing/2014/main" id="{C1BB6169-240B-48F4-91B1-E23B2C50DA55}"/>
              </a:ext>
            </a:extLst>
          </p:cNvPr>
          <p:cNvSpPr>
            <a:spLocks noGrp="1"/>
          </p:cNvSpPr>
          <p:nvPr/>
        </p:nvSpPr>
        <p:spPr>
          <a:xfrm>
            <a:off x="762000" y="3041523"/>
            <a:ext cx="5286375" cy="359664"/>
          </a:xfrm>
          <a:prstGeom prst="rect">
            <a:avLst/>
          </a:prstGeom>
          <a:noFill/>
          <a:ln w="0">
            <a:noFill/>
            <a:prstDash val="solid"/>
          </a:ln>
        </p:spPr>
        <p:txBody>
          <a:bodyPr wrap="none" lIns="0" tIns="0" rIns="0" bIns="0" anchor="t">
            <a:noAutofit/>
          </a:bodyPr>
          <a:lstStyle>
            <a:defPPr algn="l">
              <a:defRPr sz="1800" b="0">
                <a:solidFill>
                  <a:srgbClr val="536675"/>
                </a:solidFill>
                <a:latin typeface="Nimbus Sans"/>
                <a:ea typeface="Nimbus Sans"/>
                <a:cs typeface="Nimbus Sans"/>
              </a:defRPr>
            </a:defPPr>
          </a:lstStyle>
          <a:p>
            <a:pPr algn="l">
              <a:defRPr sz="1800" b="0">
                <a:solidFill>
                  <a:srgbClr val="536675"/>
                </a:solidFill>
                <a:latin typeface="Nimbus Sans"/>
                <a:ea typeface="Nimbus Sans"/>
                <a:cs typeface="Nimbus Sans"/>
              </a:defRPr>
            </a:pPr>
            <a:r>
              <a:rPr sz="1800" b="0">
                <a:solidFill>
                  <a:srgbClr val="536675"/>
                </a:solidFill>
                <a:latin typeface="Nimbus Sans"/>
                <a:ea typeface="Nimbus Sans"/>
                <a:cs typeface="Nimbus Sans"/>
              </a:rPr>
              <a:t>PROPOSED / FUTURE</a:t>
            </a:r>
          </a:p>
        </p:txBody>
      </p:sp>
      <p:sp>
        <p:nvSpPr>
          <p:cNvPr id="11" name="Rectangle 10">
            <a:extLst>
              <a:ext uri="{FF2B5EF4-FFF2-40B4-BE49-F238E27FC236}">
                <a16:creationId xmlns:a16="http://schemas.microsoft.com/office/drawing/2014/main" id="{849C7458-6F14-40D9-8F04-E856342B433E}"/>
              </a:ext>
            </a:extLst>
          </p:cNvPr>
          <p:cNvSpPr>
            <a:spLocks noGrp="1"/>
          </p:cNvSpPr>
          <p:nvPr/>
        </p:nvSpPr>
        <p:spPr>
          <a:xfrm>
            <a:off x="762000" y="3746373"/>
            <a:ext cx="285750" cy="442341"/>
          </a:xfrm>
          <a:prstGeom prst="rect">
            <a:avLst/>
          </a:prstGeom>
          <a:noFill/>
          <a:ln w="0">
            <a:noFill/>
            <a:prstDash val="solid"/>
          </a:ln>
        </p:spPr>
        <p:txBody>
          <a:bodyPr wrap="none" lIns="0" tIns="0" rIns="0" bIns="0" anchor="t">
            <a:noAutofit/>
          </a:bodyPr>
          <a:lstStyle>
            <a:defPPr algn="l">
              <a:defRPr sz="2325" b="0">
                <a:solidFill>
                  <a:srgbClr val="087E98"/>
                </a:solidFill>
                <a:latin typeface="Nimbus Sans"/>
                <a:ea typeface="Nimbus Sans"/>
                <a:cs typeface="Nimbus Sans"/>
              </a:defRPr>
            </a:defPPr>
          </a:lstStyle>
          <a:p>
            <a:pPr algn="l">
              <a:defRPr sz="2325" b="0">
                <a:solidFill>
                  <a:srgbClr val="087E98"/>
                </a:solidFill>
                <a:latin typeface="Nimbus Sans"/>
                <a:ea typeface="Nimbus Sans"/>
                <a:cs typeface="Nimbus Sans"/>
              </a:defRPr>
            </a:pPr>
            <a:r>
              <a:rPr sz="2325" b="0">
                <a:solidFill>
                  <a:srgbClr val="087E98"/>
                </a:solidFill>
                <a:latin typeface="Nimbus Sans"/>
                <a:ea typeface="Nimbus Sans"/>
                <a:cs typeface="Nimbus Sans"/>
              </a:rPr>
              <a:t>•</a:t>
            </a:r>
          </a:p>
        </p:txBody>
      </p:sp>
      <p:sp>
        <p:nvSpPr>
          <p:cNvPr id="12" name="Rectangle 11">
            <a:extLst>
              <a:ext uri="{FF2B5EF4-FFF2-40B4-BE49-F238E27FC236}">
                <a16:creationId xmlns:a16="http://schemas.microsoft.com/office/drawing/2014/main" id="{DFA2FD19-DC27-4972-ABAC-9B95DA8A7D20}"/>
              </a:ext>
            </a:extLst>
          </p:cNvPr>
          <p:cNvSpPr>
            <a:spLocks noGrp="1"/>
          </p:cNvSpPr>
          <p:nvPr/>
        </p:nvSpPr>
        <p:spPr>
          <a:xfrm>
            <a:off x="1123950" y="3746373"/>
            <a:ext cx="4924425" cy="808482"/>
          </a:xfrm>
          <a:prstGeom prst="rect">
            <a:avLst/>
          </a:prstGeom>
          <a:noFill/>
          <a:ln w="0">
            <a:noFill/>
            <a:prstDash val="solid"/>
          </a:ln>
        </p:spPr>
        <p:txBody>
          <a:bodyPr wrap="none" lIns="0" tIns="0" rIns="0" bIns="0" anchor="t">
            <a:noAutofit/>
          </a:bodyPr>
          <a:lstStyle>
            <a:defPPr algn="l">
              <a:defRPr sz="2325" b="0">
                <a:solidFill>
                  <a:srgbClr val="172B3A"/>
                </a:solidFill>
                <a:latin typeface="Nimbus Sans"/>
                <a:ea typeface="Nimbus Sans"/>
                <a:cs typeface="Nimbus Sans"/>
              </a:defRPr>
            </a:defPPr>
          </a:lstStyle>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MQTT, OPC UA and Modbus</a:t>
            </a:r>
          </a:p>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source adapters.</a:t>
            </a:r>
          </a:p>
        </p:txBody>
      </p:sp>
      <p:sp>
        <p:nvSpPr>
          <p:cNvPr id="13" name="Rectangle 12">
            <a:extLst>
              <a:ext uri="{FF2B5EF4-FFF2-40B4-BE49-F238E27FC236}">
                <a16:creationId xmlns:a16="http://schemas.microsoft.com/office/drawing/2014/main" id="{C2BDCAF8-C45B-4B85-ADF5-921B65B8BAC5}"/>
              </a:ext>
            </a:extLst>
          </p:cNvPr>
          <p:cNvSpPr>
            <a:spLocks noGrp="1"/>
          </p:cNvSpPr>
          <p:nvPr/>
        </p:nvSpPr>
        <p:spPr>
          <a:xfrm>
            <a:off x="762000" y="4869180"/>
            <a:ext cx="285750" cy="442341"/>
          </a:xfrm>
          <a:prstGeom prst="rect">
            <a:avLst/>
          </a:prstGeom>
          <a:noFill/>
          <a:ln w="0">
            <a:noFill/>
            <a:prstDash val="solid"/>
          </a:ln>
        </p:spPr>
        <p:txBody>
          <a:bodyPr wrap="none" lIns="0" tIns="0" rIns="0" bIns="0" anchor="t">
            <a:noAutofit/>
          </a:bodyPr>
          <a:lstStyle>
            <a:defPPr algn="l">
              <a:defRPr sz="2325" b="0">
                <a:solidFill>
                  <a:srgbClr val="087E98"/>
                </a:solidFill>
                <a:latin typeface="Nimbus Sans"/>
                <a:ea typeface="Nimbus Sans"/>
                <a:cs typeface="Nimbus Sans"/>
              </a:defRPr>
            </a:defPPr>
          </a:lstStyle>
          <a:p>
            <a:pPr algn="l">
              <a:defRPr sz="2325" b="0">
                <a:solidFill>
                  <a:srgbClr val="087E98"/>
                </a:solidFill>
                <a:latin typeface="Nimbus Sans"/>
                <a:ea typeface="Nimbus Sans"/>
                <a:cs typeface="Nimbus Sans"/>
              </a:defRPr>
            </a:pPr>
            <a:r>
              <a:rPr sz="2325" b="0">
                <a:solidFill>
                  <a:srgbClr val="087E98"/>
                </a:solidFill>
                <a:latin typeface="Nimbus Sans"/>
                <a:ea typeface="Nimbus Sans"/>
                <a:cs typeface="Nimbus Sans"/>
              </a:rPr>
              <a:t>•</a:t>
            </a:r>
          </a:p>
        </p:txBody>
      </p:sp>
      <p:sp>
        <p:nvSpPr>
          <p:cNvPr id="14" name="Rectangle 13">
            <a:extLst>
              <a:ext uri="{FF2B5EF4-FFF2-40B4-BE49-F238E27FC236}">
                <a16:creationId xmlns:a16="http://schemas.microsoft.com/office/drawing/2014/main" id="{BCFB5C5E-132A-4759-A426-539C3EA37487}"/>
              </a:ext>
            </a:extLst>
          </p:cNvPr>
          <p:cNvSpPr>
            <a:spLocks noGrp="1"/>
          </p:cNvSpPr>
          <p:nvPr/>
        </p:nvSpPr>
        <p:spPr>
          <a:xfrm>
            <a:off x="1123950" y="4869180"/>
            <a:ext cx="4924425" cy="1174623"/>
          </a:xfrm>
          <a:prstGeom prst="rect">
            <a:avLst/>
          </a:prstGeom>
          <a:noFill/>
          <a:ln w="0">
            <a:noFill/>
            <a:prstDash val="solid"/>
          </a:ln>
        </p:spPr>
        <p:txBody>
          <a:bodyPr wrap="none" lIns="0" tIns="0" rIns="0" bIns="0" anchor="t">
            <a:noAutofit/>
          </a:bodyPr>
          <a:lstStyle>
            <a:defPPr algn="l">
              <a:defRPr sz="2325" b="0">
                <a:solidFill>
                  <a:srgbClr val="172B3A"/>
                </a:solidFill>
                <a:latin typeface="Nimbus Sans"/>
                <a:ea typeface="Nimbus Sans"/>
                <a:cs typeface="Nimbus Sans"/>
              </a:defRPr>
            </a:defPPr>
          </a:lstStyle>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SCADA and edge gateways feed</a:t>
            </a:r>
          </a:p>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the canonical contract.</a:t>
            </a:r>
          </a:p>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[R17][R18][R19][R20]</a:t>
            </a:r>
          </a:p>
        </p:txBody>
      </p:sp>
      <p:sp>
        <p:nvSpPr>
          <p:cNvPr id="15" name="Rectangle 14">
            <a:extLst>
              <a:ext uri="{FF2B5EF4-FFF2-40B4-BE49-F238E27FC236}">
                <a16:creationId xmlns:a16="http://schemas.microsoft.com/office/drawing/2014/main" id="{F8C00D11-68D5-492E-AC06-655336A26498}"/>
              </a:ext>
            </a:extLst>
          </p:cNvPr>
          <p:cNvSpPr>
            <a:spLocks noGrp="1"/>
          </p:cNvSpPr>
          <p:nvPr/>
        </p:nvSpPr>
        <p:spPr>
          <a:xfrm>
            <a:off x="6477000" y="2460498"/>
            <a:ext cx="5286375"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Independent verification</a:t>
            </a:r>
          </a:p>
        </p:txBody>
      </p:sp>
      <p:sp>
        <p:nvSpPr>
          <p:cNvPr id="16" name="Rectangle 15">
            <a:extLst>
              <a:ext uri="{FF2B5EF4-FFF2-40B4-BE49-F238E27FC236}">
                <a16:creationId xmlns:a16="http://schemas.microsoft.com/office/drawing/2014/main" id="{BEAAAE47-581A-45DC-B442-6188010002E2}"/>
              </a:ext>
            </a:extLst>
          </p:cNvPr>
          <p:cNvSpPr>
            <a:spLocks noGrp="1"/>
          </p:cNvSpPr>
          <p:nvPr/>
        </p:nvSpPr>
        <p:spPr>
          <a:xfrm>
            <a:off x="6477000" y="3041523"/>
            <a:ext cx="5286375" cy="359664"/>
          </a:xfrm>
          <a:prstGeom prst="rect">
            <a:avLst/>
          </a:prstGeom>
          <a:noFill/>
          <a:ln w="0">
            <a:noFill/>
            <a:prstDash val="solid"/>
          </a:ln>
        </p:spPr>
        <p:txBody>
          <a:bodyPr wrap="none" lIns="0" tIns="0" rIns="0" bIns="0" anchor="t">
            <a:noAutofit/>
          </a:bodyPr>
          <a:lstStyle>
            <a:defPPr algn="l">
              <a:defRPr sz="1800" b="0">
                <a:solidFill>
                  <a:srgbClr val="536675"/>
                </a:solidFill>
                <a:latin typeface="Nimbus Sans"/>
                <a:ea typeface="Nimbus Sans"/>
                <a:cs typeface="Nimbus Sans"/>
              </a:defRPr>
            </a:defPPr>
          </a:lstStyle>
          <a:p>
            <a:pPr algn="l">
              <a:defRPr sz="1800" b="0">
                <a:solidFill>
                  <a:srgbClr val="536675"/>
                </a:solidFill>
                <a:latin typeface="Nimbus Sans"/>
                <a:ea typeface="Nimbus Sans"/>
                <a:cs typeface="Nimbus Sans"/>
              </a:defRPr>
            </a:pPr>
            <a:r>
              <a:rPr sz="1800" b="0">
                <a:solidFill>
                  <a:srgbClr val="536675"/>
                </a:solidFill>
                <a:latin typeface="Nimbus Sans"/>
                <a:ea typeface="Nimbus Sans"/>
                <a:cs typeface="Nimbus Sans"/>
              </a:rPr>
              <a:t>PROPOSED / FUTURE</a:t>
            </a:r>
          </a:p>
        </p:txBody>
      </p:sp>
      <p:sp>
        <p:nvSpPr>
          <p:cNvPr id="17" name="Rectangle 16">
            <a:extLst>
              <a:ext uri="{FF2B5EF4-FFF2-40B4-BE49-F238E27FC236}">
                <a16:creationId xmlns:a16="http://schemas.microsoft.com/office/drawing/2014/main" id="{7038F239-8927-4954-999E-EC82BC4C33B2}"/>
              </a:ext>
            </a:extLst>
          </p:cNvPr>
          <p:cNvSpPr>
            <a:spLocks noGrp="1"/>
          </p:cNvSpPr>
          <p:nvPr/>
        </p:nvSpPr>
        <p:spPr>
          <a:xfrm>
            <a:off x="6477000" y="3746373"/>
            <a:ext cx="285750" cy="442341"/>
          </a:xfrm>
          <a:prstGeom prst="rect">
            <a:avLst/>
          </a:prstGeom>
          <a:noFill/>
          <a:ln w="0">
            <a:noFill/>
            <a:prstDash val="solid"/>
          </a:ln>
        </p:spPr>
        <p:txBody>
          <a:bodyPr wrap="none" lIns="0" tIns="0" rIns="0" bIns="0" anchor="t">
            <a:noAutofit/>
          </a:bodyPr>
          <a:lstStyle>
            <a:defPPr algn="l">
              <a:defRPr sz="2325" b="0">
                <a:solidFill>
                  <a:srgbClr val="087E98"/>
                </a:solidFill>
                <a:latin typeface="Nimbus Sans"/>
                <a:ea typeface="Nimbus Sans"/>
                <a:cs typeface="Nimbus Sans"/>
              </a:defRPr>
            </a:defPPr>
          </a:lstStyle>
          <a:p>
            <a:pPr algn="l">
              <a:defRPr sz="2325" b="0">
                <a:solidFill>
                  <a:srgbClr val="087E98"/>
                </a:solidFill>
                <a:latin typeface="Nimbus Sans"/>
                <a:ea typeface="Nimbus Sans"/>
                <a:cs typeface="Nimbus Sans"/>
              </a:defRPr>
            </a:pPr>
            <a:r>
              <a:rPr sz="2325" b="0">
                <a:solidFill>
                  <a:srgbClr val="087E98"/>
                </a:solidFill>
                <a:latin typeface="Nimbus Sans"/>
                <a:ea typeface="Nimbus Sans"/>
                <a:cs typeface="Nimbus Sans"/>
              </a:rPr>
              <a:t>•</a:t>
            </a:r>
          </a:p>
        </p:txBody>
      </p:sp>
      <p:sp>
        <p:nvSpPr>
          <p:cNvPr id="18" name="Rectangle 17">
            <a:extLst>
              <a:ext uri="{FF2B5EF4-FFF2-40B4-BE49-F238E27FC236}">
                <a16:creationId xmlns:a16="http://schemas.microsoft.com/office/drawing/2014/main" id="{9BD96999-C22D-4A65-B98F-3F9B350B96D5}"/>
              </a:ext>
            </a:extLst>
          </p:cNvPr>
          <p:cNvSpPr>
            <a:spLocks noGrp="1"/>
          </p:cNvSpPr>
          <p:nvPr/>
        </p:nvSpPr>
        <p:spPr>
          <a:xfrm>
            <a:off x="6838950" y="3746373"/>
            <a:ext cx="4924425" cy="808482"/>
          </a:xfrm>
          <a:prstGeom prst="rect">
            <a:avLst/>
          </a:prstGeom>
          <a:noFill/>
          <a:ln w="0">
            <a:noFill/>
            <a:prstDash val="solid"/>
          </a:ln>
        </p:spPr>
        <p:txBody>
          <a:bodyPr wrap="none" lIns="0" tIns="0" rIns="0" bIns="0" anchor="t">
            <a:noAutofit/>
          </a:bodyPr>
          <a:lstStyle>
            <a:defPPr algn="l">
              <a:defRPr sz="2325" b="0">
                <a:solidFill>
                  <a:srgbClr val="172B3A"/>
                </a:solidFill>
                <a:latin typeface="Nimbus Sans"/>
                <a:ea typeface="Nimbus Sans"/>
                <a:cs typeface="Nimbus Sans"/>
              </a:defRPr>
            </a:defPPr>
          </a:lstStyle>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A MATLAB / Simulink reference</a:t>
            </a:r>
          </a:p>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model.</a:t>
            </a:r>
          </a:p>
        </p:txBody>
      </p:sp>
      <p:sp>
        <p:nvSpPr>
          <p:cNvPr id="19" name="Rectangle 18">
            <a:extLst>
              <a:ext uri="{FF2B5EF4-FFF2-40B4-BE49-F238E27FC236}">
                <a16:creationId xmlns:a16="http://schemas.microsoft.com/office/drawing/2014/main" id="{243C4F14-5865-412D-938C-F27E5A74134F}"/>
              </a:ext>
            </a:extLst>
          </p:cNvPr>
          <p:cNvSpPr>
            <a:spLocks noGrp="1"/>
          </p:cNvSpPr>
          <p:nvPr/>
        </p:nvSpPr>
        <p:spPr>
          <a:xfrm>
            <a:off x="6477000" y="4869180"/>
            <a:ext cx="285750" cy="442341"/>
          </a:xfrm>
          <a:prstGeom prst="rect">
            <a:avLst/>
          </a:prstGeom>
          <a:noFill/>
          <a:ln w="0">
            <a:noFill/>
            <a:prstDash val="solid"/>
          </a:ln>
        </p:spPr>
        <p:txBody>
          <a:bodyPr wrap="none" lIns="0" tIns="0" rIns="0" bIns="0" anchor="t">
            <a:noAutofit/>
          </a:bodyPr>
          <a:lstStyle>
            <a:defPPr algn="l">
              <a:defRPr sz="2325" b="0">
                <a:solidFill>
                  <a:srgbClr val="087E98"/>
                </a:solidFill>
                <a:latin typeface="Nimbus Sans"/>
                <a:ea typeface="Nimbus Sans"/>
                <a:cs typeface="Nimbus Sans"/>
              </a:defRPr>
            </a:defPPr>
          </a:lstStyle>
          <a:p>
            <a:pPr algn="l">
              <a:defRPr sz="2325" b="0">
                <a:solidFill>
                  <a:srgbClr val="087E98"/>
                </a:solidFill>
                <a:latin typeface="Nimbus Sans"/>
                <a:ea typeface="Nimbus Sans"/>
                <a:cs typeface="Nimbus Sans"/>
              </a:defRPr>
            </a:pPr>
            <a:r>
              <a:rPr sz="2325" b="0">
                <a:solidFill>
                  <a:srgbClr val="087E98"/>
                </a:solidFill>
                <a:latin typeface="Nimbus Sans"/>
                <a:ea typeface="Nimbus Sans"/>
                <a:cs typeface="Nimbus Sans"/>
              </a:rPr>
              <a:t>•</a:t>
            </a:r>
          </a:p>
        </p:txBody>
      </p:sp>
      <p:sp>
        <p:nvSpPr>
          <p:cNvPr id="20" name="Rectangle 19">
            <a:extLst>
              <a:ext uri="{FF2B5EF4-FFF2-40B4-BE49-F238E27FC236}">
                <a16:creationId xmlns:a16="http://schemas.microsoft.com/office/drawing/2014/main" id="{4B0C7617-AE5B-4BBE-8771-DF1142BA687C}"/>
              </a:ext>
            </a:extLst>
          </p:cNvPr>
          <p:cNvSpPr>
            <a:spLocks noGrp="1"/>
          </p:cNvSpPr>
          <p:nvPr/>
        </p:nvSpPr>
        <p:spPr>
          <a:xfrm>
            <a:off x="6838950" y="4869180"/>
            <a:ext cx="4924425" cy="1174623"/>
          </a:xfrm>
          <a:prstGeom prst="rect">
            <a:avLst/>
          </a:prstGeom>
          <a:noFill/>
          <a:ln w="0">
            <a:noFill/>
            <a:prstDash val="solid"/>
          </a:ln>
        </p:spPr>
        <p:txBody>
          <a:bodyPr wrap="none" lIns="0" tIns="0" rIns="0" bIns="0" anchor="t">
            <a:noAutofit/>
          </a:bodyPr>
          <a:lstStyle>
            <a:defPPr algn="l">
              <a:defRPr sz="2325" b="0">
                <a:solidFill>
                  <a:srgbClr val="172B3A"/>
                </a:solidFill>
                <a:latin typeface="Nimbus Sans"/>
                <a:ea typeface="Nimbus Sans"/>
                <a:cs typeface="Nimbus Sans"/>
              </a:defRPr>
            </a:defPPr>
          </a:lstStyle>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Compare identical load and</a:t>
            </a:r>
          </a:p>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ambient profiles, transients and</a:t>
            </a:r>
          </a:p>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steady-state rise.</a:t>
            </a:r>
          </a:p>
        </p:txBody>
      </p:sp>
      <p:sp>
        <p:nvSpPr>
          <p:cNvPr id="21" name="Rectangle 20">
            <a:extLst>
              <a:ext uri="{FF2B5EF4-FFF2-40B4-BE49-F238E27FC236}">
                <a16:creationId xmlns:a16="http://schemas.microsoft.com/office/drawing/2014/main" id="{FFEE22C2-B32F-4A7F-9456-C4B4FEEA5627}"/>
              </a:ext>
            </a:extLst>
          </p:cNvPr>
          <p:cNvSpPr>
            <a:spLocks noGrp="1"/>
          </p:cNvSpPr>
          <p:nvPr/>
        </p:nvSpPr>
        <p:spPr>
          <a:xfrm>
            <a:off x="12192000" y="2460498"/>
            <a:ext cx="5286375"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Detector requalification</a:t>
            </a:r>
          </a:p>
        </p:txBody>
      </p:sp>
      <p:sp>
        <p:nvSpPr>
          <p:cNvPr id="22" name="Rectangle 21">
            <a:extLst>
              <a:ext uri="{FF2B5EF4-FFF2-40B4-BE49-F238E27FC236}">
                <a16:creationId xmlns:a16="http://schemas.microsoft.com/office/drawing/2014/main" id="{A40AF82B-8D08-4BD4-A5CD-9526119408CD}"/>
              </a:ext>
            </a:extLst>
          </p:cNvPr>
          <p:cNvSpPr>
            <a:spLocks noGrp="1"/>
          </p:cNvSpPr>
          <p:nvPr/>
        </p:nvSpPr>
        <p:spPr>
          <a:xfrm>
            <a:off x="12192000" y="3041523"/>
            <a:ext cx="5286375" cy="359664"/>
          </a:xfrm>
          <a:prstGeom prst="rect">
            <a:avLst/>
          </a:prstGeom>
          <a:noFill/>
          <a:ln w="0">
            <a:noFill/>
            <a:prstDash val="solid"/>
          </a:ln>
        </p:spPr>
        <p:txBody>
          <a:bodyPr wrap="none" lIns="0" tIns="0" rIns="0" bIns="0" anchor="t">
            <a:noAutofit/>
          </a:bodyPr>
          <a:lstStyle>
            <a:defPPr algn="l">
              <a:defRPr sz="1800" b="0">
                <a:solidFill>
                  <a:srgbClr val="536675"/>
                </a:solidFill>
                <a:latin typeface="Nimbus Sans"/>
                <a:ea typeface="Nimbus Sans"/>
                <a:cs typeface="Nimbus Sans"/>
              </a:defRPr>
            </a:defPPr>
          </a:lstStyle>
          <a:p>
            <a:pPr algn="l">
              <a:defRPr sz="1800" b="0">
                <a:solidFill>
                  <a:srgbClr val="536675"/>
                </a:solidFill>
                <a:latin typeface="Nimbus Sans"/>
                <a:ea typeface="Nimbus Sans"/>
                <a:cs typeface="Nimbus Sans"/>
              </a:defRPr>
            </a:pPr>
            <a:r>
              <a:rPr sz="1800" b="0">
                <a:solidFill>
                  <a:srgbClr val="536675"/>
                </a:solidFill>
                <a:latin typeface="Nimbus Sans"/>
                <a:ea typeface="Nimbus Sans"/>
                <a:cs typeface="Nimbus Sans"/>
              </a:rPr>
              <a:t>PROPOSED / FUTURE</a:t>
            </a:r>
          </a:p>
        </p:txBody>
      </p:sp>
      <p:sp>
        <p:nvSpPr>
          <p:cNvPr id="23" name="Rectangle 22">
            <a:extLst>
              <a:ext uri="{FF2B5EF4-FFF2-40B4-BE49-F238E27FC236}">
                <a16:creationId xmlns:a16="http://schemas.microsoft.com/office/drawing/2014/main" id="{63BB834D-C9F3-4575-B636-1124CE17B334}"/>
              </a:ext>
            </a:extLst>
          </p:cNvPr>
          <p:cNvSpPr>
            <a:spLocks noGrp="1"/>
          </p:cNvSpPr>
          <p:nvPr/>
        </p:nvSpPr>
        <p:spPr>
          <a:xfrm>
            <a:off x="12192000" y="3746373"/>
            <a:ext cx="285750" cy="442341"/>
          </a:xfrm>
          <a:prstGeom prst="rect">
            <a:avLst/>
          </a:prstGeom>
          <a:noFill/>
          <a:ln w="0">
            <a:noFill/>
            <a:prstDash val="solid"/>
          </a:ln>
        </p:spPr>
        <p:txBody>
          <a:bodyPr wrap="none" lIns="0" tIns="0" rIns="0" bIns="0" anchor="t">
            <a:noAutofit/>
          </a:bodyPr>
          <a:lstStyle>
            <a:defPPr algn="l">
              <a:defRPr sz="2325" b="0">
                <a:solidFill>
                  <a:srgbClr val="087E98"/>
                </a:solidFill>
                <a:latin typeface="Nimbus Sans"/>
                <a:ea typeface="Nimbus Sans"/>
                <a:cs typeface="Nimbus Sans"/>
              </a:defRPr>
            </a:defPPr>
          </a:lstStyle>
          <a:p>
            <a:pPr algn="l">
              <a:defRPr sz="2325" b="0">
                <a:solidFill>
                  <a:srgbClr val="087E98"/>
                </a:solidFill>
                <a:latin typeface="Nimbus Sans"/>
                <a:ea typeface="Nimbus Sans"/>
                <a:cs typeface="Nimbus Sans"/>
              </a:defRPr>
            </a:pPr>
            <a:r>
              <a:rPr sz="2325" b="0">
                <a:solidFill>
                  <a:srgbClr val="087E98"/>
                </a:solidFill>
                <a:latin typeface="Nimbus Sans"/>
                <a:ea typeface="Nimbus Sans"/>
                <a:cs typeface="Nimbus Sans"/>
              </a:rPr>
              <a:t>•</a:t>
            </a:r>
          </a:p>
        </p:txBody>
      </p:sp>
      <p:sp>
        <p:nvSpPr>
          <p:cNvPr id="24" name="Rectangle 23">
            <a:extLst>
              <a:ext uri="{FF2B5EF4-FFF2-40B4-BE49-F238E27FC236}">
                <a16:creationId xmlns:a16="http://schemas.microsoft.com/office/drawing/2014/main" id="{5BF96CF7-178B-4E4E-AEAB-832D69A49A12}"/>
              </a:ext>
            </a:extLst>
          </p:cNvPr>
          <p:cNvSpPr>
            <a:spLocks noGrp="1"/>
          </p:cNvSpPr>
          <p:nvPr/>
        </p:nvSpPr>
        <p:spPr>
          <a:xfrm>
            <a:off x="12553950" y="3746373"/>
            <a:ext cx="4924425" cy="442341"/>
          </a:xfrm>
          <a:prstGeom prst="rect">
            <a:avLst/>
          </a:prstGeom>
          <a:noFill/>
          <a:ln w="0">
            <a:noFill/>
            <a:prstDash val="solid"/>
          </a:ln>
        </p:spPr>
        <p:txBody>
          <a:bodyPr wrap="none" lIns="0" tIns="0" rIns="0" bIns="0" anchor="t">
            <a:noAutofit/>
          </a:bodyPr>
          <a:lstStyle>
            <a:defPPr algn="l">
              <a:defRPr sz="2325" b="0">
                <a:solidFill>
                  <a:srgbClr val="172B3A"/>
                </a:solidFill>
                <a:latin typeface="Nimbus Sans"/>
                <a:ea typeface="Nimbus Sans"/>
                <a:cs typeface="Nimbus Sans"/>
              </a:defRPr>
            </a:defPPr>
          </a:lstStyle>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CUSUM on prewhitened residuals.</a:t>
            </a:r>
          </a:p>
        </p:txBody>
      </p:sp>
      <p:sp>
        <p:nvSpPr>
          <p:cNvPr id="25" name="Rectangle 24">
            <a:extLst>
              <a:ext uri="{FF2B5EF4-FFF2-40B4-BE49-F238E27FC236}">
                <a16:creationId xmlns:a16="http://schemas.microsoft.com/office/drawing/2014/main" id="{09077085-DB9C-426D-B9D4-393DA48B4F1A}"/>
              </a:ext>
            </a:extLst>
          </p:cNvPr>
          <p:cNvSpPr>
            <a:spLocks noGrp="1"/>
          </p:cNvSpPr>
          <p:nvPr/>
        </p:nvSpPr>
        <p:spPr>
          <a:xfrm>
            <a:off x="12192000" y="4503039"/>
            <a:ext cx="285750" cy="442341"/>
          </a:xfrm>
          <a:prstGeom prst="rect">
            <a:avLst/>
          </a:prstGeom>
          <a:noFill/>
          <a:ln w="0">
            <a:noFill/>
            <a:prstDash val="solid"/>
          </a:ln>
        </p:spPr>
        <p:txBody>
          <a:bodyPr wrap="none" lIns="0" tIns="0" rIns="0" bIns="0" anchor="t">
            <a:noAutofit/>
          </a:bodyPr>
          <a:lstStyle>
            <a:defPPr algn="l">
              <a:defRPr sz="2325" b="0">
                <a:solidFill>
                  <a:srgbClr val="087E98"/>
                </a:solidFill>
                <a:latin typeface="Nimbus Sans"/>
                <a:ea typeface="Nimbus Sans"/>
                <a:cs typeface="Nimbus Sans"/>
              </a:defRPr>
            </a:defPPr>
          </a:lstStyle>
          <a:p>
            <a:pPr algn="l">
              <a:defRPr sz="2325" b="0">
                <a:solidFill>
                  <a:srgbClr val="087E98"/>
                </a:solidFill>
                <a:latin typeface="Nimbus Sans"/>
                <a:ea typeface="Nimbus Sans"/>
                <a:cs typeface="Nimbus Sans"/>
              </a:defRPr>
            </a:pPr>
            <a:r>
              <a:rPr sz="2325" b="0">
                <a:solidFill>
                  <a:srgbClr val="087E98"/>
                </a:solidFill>
                <a:latin typeface="Nimbus Sans"/>
                <a:ea typeface="Nimbus Sans"/>
                <a:cs typeface="Nimbus Sans"/>
              </a:rPr>
              <a:t>•</a:t>
            </a:r>
          </a:p>
        </p:txBody>
      </p:sp>
      <p:sp>
        <p:nvSpPr>
          <p:cNvPr id="26" name="Rectangle 25">
            <a:extLst>
              <a:ext uri="{FF2B5EF4-FFF2-40B4-BE49-F238E27FC236}">
                <a16:creationId xmlns:a16="http://schemas.microsoft.com/office/drawing/2014/main" id="{60091AD4-1F19-4493-A384-866C84FD1958}"/>
              </a:ext>
            </a:extLst>
          </p:cNvPr>
          <p:cNvSpPr>
            <a:spLocks noGrp="1"/>
          </p:cNvSpPr>
          <p:nvPr/>
        </p:nvSpPr>
        <p:spPr>
          <a:xfrm>
            <a:off x="12553950" y="4503039"/>
            <a:ext cx="4924425" cy="808482"/>
          </a:xfrm>
          <a:prstGeom prst="rect">
            <a:avLst/>
          </a:prstGeom>
          <a:noFill/>
          <a:ln w="0">
            <a:noFill/>
            <a:prstDash val="solid"/>
          </a:ln>
        </p:spPr>
        <p:txBody>
          <a:bodyPr wrap="none" lIns="0" tIns="0" rIns="0" bIns="0" anchor="t">
            <a:noAutofit/>
          </a:bodyPr>
          <a:lstStyle>
            <a:defPPr algn="l">
              <a:defRPr sz="2325" b="0">
                <a:solidFill>
                  <a:srgbClr val="172B3A"/>
                </a:solidFill>
                <a:latin typeface="Nimbus Sans"/>
                <a:ea typeface="Nimbus Sans"/>
                <a:cs typeface="Nimbus Sans"/>
              </a:defRPr>
            </a:defPPr>
          </a:lstStyle>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Temperature-corrected oil-leak</a:t>
            </a:r>
          </a:p>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trends.</a:t>
            </a:r>
          </a:p>
        </p:txBody>
      </p:sp>
      <p:sp>
        <p:nvSpPr>
          <p:cNvPr id="27" name="Rectangle 26">
            <a:extLst>
              <a:ext uri="{FF2B5EF4-FFF2-40B4-BE49-F238E27FC236}">
                <a16:creationId xmlns:a16="http://schemas.microsoft.com/office/drawing/2014/main" id="{F0BDF35E-CDF1-4658-A098-BFC5CE876D2B}"/>
              </a:ext>
            </a:extLst>
          </p:cNvPr>
          <p:cNvSpPr>
            <a:spLocks noGrp="1"/>
          </p:cNvSpPr>
          <p:nvPr/>
        </p:nvSpPr>
        <p:spPr>
          <a:xfrm>
            <a:off x="12192000" y="5625846"/>
            <a:ext cx="285750" cy="442341"/>
          </a:xfrm>
          <a:prstGeom prst="rect">
            <a:avLst/>
          </a:prstGeom>
          <a:noFill/>
          <a:ln w="0">
            <a:noFill/>
            <a:prstDash val="solid"/>
          </a:ln>
        </p:spPr>
        <p:txBody>
          <a:bodyPr wrap="none" lIns="0" tIns="0" rIns="0" bIns="0" anchor="t">
            <a:noAutofit/>
          </a:bodyPr>
          <a:lstStyle>
            <a:defPPr algn="l">
              <a:defRPr sz="2325" b="0">
                <a:solidFill>
                  <a:srgbClr val="087E98"/>
                </a:solidFill>
                <a:latin typeface="Nimbus Sans"/>
                <a:ea typeface="Nimbus Sans"/>
                <a:cs typeface="Nimbus Sans"/>
              </a:defRPr>
            </a:defPPr>
          </a:lstStyle>
          <a:p>
            <a:pPr algn="l">
              <a:defRPr sz="2325" b="0">
                <a:solidFill>
                  <a:srgbClr val="087E98"/>
                </a:solidFill>
                <a:latin typeface="Nimbus Sans"/>
                <a:ea typeface="Nimbus Sans"/>
                <a:cs typeface="Nimbus Sans"/>
              </a:defRPr>
            </a:pPr>
            <a:r>
              <a:rPr sz="2325" b="0">
                <a:solidFill>
                  <a:srgbClr val="087E98"/>
                </a:solidFill>
                <a:latin typeface="Nimbus Sans"/>
                <a:ea typeface="Nimbus Sans"/>
                <a:cs typeface="Nimbus Sans"/>
              </a:rPr>
              <a:t>•</a:t>
            </a:r>
          </a:p>
        </p:txBody>
      </p:sp>
      <p:sp>
        <p:nvSpPr>
          <p:cNvPr id="28" name="Rectangle 27">
            <a:extLst>
              <a:ext uri="{FF2B5EF4-FFF2-40B4-BE49-F238E27FC236}">
                <a16:creationId xmlns:a16="http://schemas.microsoft.com/office/drawing/2014/main" id="{0652140F-0FED-40E2-9478-6F7A39984A2A}"/>
              </a:ext>
            </a:extLst>
          </p:cNvPr>
          <p:cNvSpPr>
            <a:spLocks noGrp="1"/>
          </p:cNvSpPr>
          <p:nvPr/>
        </p:nvSpPr>
        <p:spPr>
          <a:xfrm>
            <a:off x="12553950" y="5625846"/>
            <a:ext cx="4924425" cy="808482"/>
          </a:xfrm>
          <a:prstGeom prst="rect">
            <a:avLst/>
          </a:prstGeom>
          <a:noFill/>
          <a:ln w="0">
            <a:noFill/>
            <a:prstDash val="solid"/>
          </a:ln>
        </p:spPr>
        <p:txBody>
          <a:bodyPr wrap="none" lIns="0" tIns="0" rIns="0" bIns="0" anchor="t">
            <a:noAutofit/>
          </a:bodyPr>
          <a:lstStyle>
            <a:defPPr algn="l">
              <a:defRPr sz="2325" b="0">
                <a:solidFill>
                  <a:srgbClr val="172B3A"/>
                </a:solidFill>
                <a:latin typeface="Nimbus Sans"/>
                <a:ea typeface="Nimbus Sans"/>
                <a:cs typeface="Nimbus Sans"/>
              </a:defRPr>
            </a:defPPr>
          </a:lstStyle>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Thermal, oil and pressure</a:t>
            </a:r>
          </a:p>
          <a:p>
            <a:pPr algn="l">
              <a:defRPr sz="2325" b="0">
                <a:solidFill>
                  <a:srgbClr val="172B3A"/>
                </a:solidFill>
                <a:latin typeface="Nimbus Sans"/>
                <a:ea typeface="Nimbus Sans"/>
                <a:cs typeface="Nimbus Sans"/>
              </a:defRPr>
            </a:pPr>
            <a:r>
              <a:rPr sz="2325" b="0">
                <a:solidFill>
                  <a:srgbClr val="172B3A"/>
                </a:solidFill>
                <a:latin typeface="Nimbus Sans"/>
                <a:ea typeface="Nimbus Sans"/>
                <a:cs typeface="Nimbus Sans"/>
              </a:rPr>
              <a:t>episodes.</a:t>
            </a:r>
          </a:p>
        </p:txBody>
      </p:sp>
      <p:pic>
        <p:nvPicPr>
          <p:cNvPr id="33" name="Picture 32" descr="MQTT protocol | Atreyo">
            <a:extLst>
              <a:ext uri="{FF2B5EF4-FFF2-40B4-BE49-F238E27FC236}">
                <a16:creationId xmlns:a16="http://schemas.microsoft.com/office/drawing/2014/main" id="{62425638-36A6-352F-EECC-FF31B0F056BD}"/>
              </a:ext>
            </a:extLst>
          </p:cNvPr>
          <p:cNvPicPr>
            <a:picLocks noChangeAspect="1"/>
          </p:cNvPicPr>
          <p:nvPr/>
        </p:nvPicPr>
        <p:blipFill>
          <a:blip r:embed="rId3"/>
          <a:stretch>
            <a:fillRect/>
          </a:stretch>
        </p:blipFill>
        <p:spPr>
          <a:xfrm>
            <a:off x="762000" y="6724269"/>
            <a:ext cx="6744929" cy="3304222"/>
          </a:xfrm>
          <a:prstGeom prst="rect">
            <a:avLst/>
          </a:prstGeom>
        </p:spPr>
      </p:pic>
      <p:pic>
        <p:nvPicPr>
          <p:cNvPr id="34" name="Picture 33" descr="Digital Twin with MATLAB &amp; Simulink">
            <a:extLst>
              <a:ext uri="{FF2B5EF4-FFF2-40B4-BE49-F238E27FC236}">
                <a16:creationId xmlns:a16="http://schemas.microsoft.com/office/drawing/2014/main" id="{DC2E1BBF-E542-1163-3B05-0B2BF1744CDE}"/>
              </a:ext>
            </a:extLst>
          </p:cNvPr>
          <p:cNvPicPr>
            <a:picLocks noChangeAspect="1"/>
          </p:cNvPicPr>
          <p:nvPr/>
        </p:nvPicPr>
        <p:blipFill>
          <a:blip r:embed="rId4"/>
          <a:srcRect l="4395" t="10546" r="4759" b="8558"/>
          <a:stretch>
            <a:fillRect/>
          </a:stretch>
        </p:blipFill>
        <p:spPr>
          <a:xfrm>
            <a:off x="9300039" y="6682176"/>
            <a:ext cx="6864193" cy="3438205"/>
          </a:xfrm>
          <a:prstGeom prst="rect">
            <a:avLst/>
          </a:prstGeom>
        </p:spPr>
      </p:pic>
    </p:spTree>
    <p:extLst>
      <p:ext uri="{BB962C8B-B14F-4D97-AF65-F5344CB8AC3E}">
        <p14:creationId xmlns:p14="http://schemas.microsoft.com/office/powerpoint/2010/main" val="1264321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53E1043B-E35B-416E-A736-A1A6E194FEBB}"/>
              </a:ext>
            </a:extLst>
          </p:cNvPr>
          <p:cNvSpPr>
            <a:spLocks noGrp="1"/>
          </p:cNvSpPr>
          <p:nvPr/>
        </p:nvSpPr>
        <p:spPr>
          <a:xfrm>
            <a:off x="762000" y="400050"/>
            <a:ext cx="7620000" cy="336042"/>
          </a:xfrm>
          <a:prstGeom prst="rect">
            <a:avLst/>
          </a:prstGeom>
          <a:noFill/>
          <a:ln w="0">
            <a:noFill/>
            <a:prstDash val="solid"/>
          </a:ln>
        </p:spPr>
        <p:txBody>
          <a:bodyPr wrap="none" lIns="0" tIns="0" rIns="0" bIns="0" anchor="t">
            <a:noAutofit/>
          </a:bodyPr>
          <a:lstStyle>
            <a:defPPr algn="l">
              <a:defRPr sz="1650" b="1">
                <a:solidFill>
                  <a:srgbClr val="087E98"/>
                </a:solidFill>
                <a:latin typeface="Nimbus Sans"/>
                <a:ea typeface="Nimbus Sans"/>
                <a:cs typeface="Nimbus Sans"/>
              </a:defRPr>
            </a:defPPr>
          </a:lstStyle>
          <a:p>
            <a:pPr algn="l">
              <a:defRPr sz="1650" b="1">
                <a:solidFill>
                  <a:srgbClr val="087E98"/>
                </a:solidFill>
                <a:latin typeface="Nimbus Sans"/>
                <a:ea typeface="Nimbus Sans"/>
                <a:cs typeface="Nimbus Sans"/>
              </a:defRPr>
            </a:pPr>
            <a:r>
              <a:rPr sz="1650" b="1">
                <a:solidFill>
                  <a:srgbClr val="087E98"/>
                </a:solidFill>
                <a:latin typeface="Nimbus Sans"/>
                <a:ea typeface="Nimbus Sans"/>
                <a:cs typeface="Nimbus Sans"/>
              </a:rPr>
              <a:t>GRIDPULSE</a:t>
            </a:r>
          </a:p>
        </p:txBody>
      </p:sp>
      <p:sp>
        <p:nvSpPr>
          <p:cNvPr id="2" name="Rectangle 1">
            <a:extLst>
              <a:ext uri="{FF2B5EF4-FFF2-40B4-BE49-F238E27FC236}">
                <a16:creationId xmlns:a16="http://schemas.microsoft.com/office/drawing/2014/main" id="{9E807AAC-E2F5-4B1E-8A79-3131302DF822}"/>
              </a:ext>
            </a:extLst>
          </p:cNvPr>
          <p:cNvSpPr>
            <a:spLocks noGrp="1"/>
          </p:cNvSpPr>
          <p:nvPr/>
        </p:nvSpPr>
        <p:spPr>
          <a:xfrm>
            <a:off x="16573500" y="400050"/>
            <a:ext cx="952500" cy="336042"/>
          </a:xfrm>
          <a:prstGeom prst="rect">
            <a:avLst/>
          </a:prstGeom>
          <a:noFill/>
          <a:ln w="0">
            <a:noFill/>
            <a:prstDash val="solid"/>
          </a:ln>
        </p:spPr>
        <p:txBody>
          <a:bodyPr wrap="none" lIns="0" tIns="0" rIns="0" bIns="0" anchor="t">
            <a:noAutofit/>
          </a:bodyPr>
          <a:lstStyle>
            <a:defPPr algn="l">
              <a:defRPr sz="1650" b="0">
                <a:solidFill>
                  <a:srgbClr val="536675"/>
                </a:solidFill>
                <a:latin typeface="Nimbus Sans"/>
                <a:ea typeface="Nimbus Sans"/>
                <a:cs typeface="Nimbus Sans"/>
              </a:defRPr>
            </a:defPPr>
          </a:lstStyle>
          <a:p>
            <a:pPr algn="l">
              <a:defRPr sz="1650" b="0">
                <a:solidFill>
                  <a:srgbClr val="536675"/>
                </a:solidFill>
                <a:latin typeface="Nimbus Sans"/>
                <a:ea typeface="Nimbus Sans"/>
                <a:cs typeface="Nimbus Sans"/>
              </a:defRPr>
            </a:pPr>
            <a:r>
              <a:rPr sz="1650" b="0">
                <a:solidFill>
                  <a:srgbClr val="536675"/>
                </a:solidFill>
                <a:latin typeface="Nimbus Sans"/>
                <a:ea typeface="Nimbus Sans"/>
                <a:cs typeface="Nimbus Sans"/>
              </a:rPr>
              <a:t>09</a:t>
            </a:r>
          </a:p>
        </p:txBody>
      </p:sp>
      <p:sp>
        <p:nvSpPr>
          <p:cNvPr id="3" name="Rectangle 2">
            <a:extLst>
              <a:ext uri="{FF2B5EF4-FFF2-40B4-BE49-F238E27FC236}">
                <a16:creationId xmlns:a16="http://schemas.microsoft.com/office/drawing/2014/main" id="{A4FCB894-3350-4DCB-8FB8-7AC11B2C60E0}"/>
              </a:ext>
            </a:extLst>
          </p:cNvPr>
          <p:cNvSpPr>
            <a:spLocks noGrp="1"/>
          </p:cNvSpPr>
          <p:nvPr/>
        </p:nvSpPr>
        <p:spPr>
          <a:xfrm>
            <a:off x="762000" y="952500"/>
            <a:ext cx="16573500" cy="808482"/>
          </a:xfrm>
          <a:prstGeom prst="rect">
            <a:avLst/>
          </a:prstGeom>
          <a:noFill/>
          <a:ln w="0">
            <a:noFill/>
            <a:prstDash val="solid"/>
          </a:ln>
        </p:spPr>
        <p:txBody>
          <a:bodyPr wrap="none" lIns="0" tIns="0" rIns="0" bIns="0" anchor="t">
            <a:noAutofit/>
          </a:bodyPr>
          <a:lstStyle>
            <a:defPPr algn="l">
              <a:defRPr sz="4650" b="1">
                <a:solidFill>
                  <a:srgbClr val="172B3A"/>
                </a:solidFill>
                <a:latin typeface="Nimbus Sans"/>
                <a:ea typeface="Nimbus Sans"/>
                <a:cs typeface="Nimbus Sans"/>
              </a:defRPr>
            </a:defPPr>
          </a:lstStyle>
          <a:p>
            <a:pPr algn="l">
              <a:defRPr sz="4650" b="1">
                <a:solidFill>
                  <a:srgbClr val="172B3A"/>
                </a:solidFill>
                <a:latin typeface="Nimbus Sans"/>
                <a:ea typeface="Nimbus Sans"/>
                <a:cs typeface="Nimbus Sans"/>
              </a:defRPr>
            </a:pPr>
            <a:r>
              <a:rPr sz="4650" b="1">
                <a:solidFill>
                  <a:srgbClr val="172B3A"/>
                </a:solidFill>
                <a:latin typeface="Nimbus Sans"/>
                <a:ea typeface="Nimbus Sans"/>
                <a:cs typeface="Nimbus Sans"/>
              </a:rPr>
              <a:t>References and evidence boundaries</a:t>
            </a:r>
          </a:p>
        </p:txBody>
      </p:sp>
      <p:sp>
        <p:nvSpPr>
          <p:cNvPr id="4" name="Rectangle 3">
            <a:extLst>
              <a:ext uri="{FF2B5EF4-FFF2-40B4-BE49-F238E27FC236}">
                <a16:creationId xmlns:a16="http://schemas.microsoft.com/office/drawing/2014/main" id="{7D937C39-7C62-4B1B-9D8C-10DB2F8018B6}"/>
              </a:ext>
            </a:extLst>
          </p:cNvPr>
          <p:cNvSpPr>
            <a:spLocks noGrp="1"/>
          </p:cNvSpPr>
          <p:nvPr/>
        </p:nvSpPr>
        <p:spPr>
          <a:xfrm>
            <a:off x="762000" y="1838325"/>
            <a:ext cx="16764000" cy="9525"/>
          </a:xfrm>
          <a:prstGeom prst="rect">
            <a:avLst/>
          </a:prstGeom>
          <a:noFill/>
          <a:ln w="14288">
            <a:solidFill>
              <a:srgbClr val="D9E2E7"/>
            </a:solidFill>
            <a:prstDash val="solid"/>
          </a:ln>
        </p:spPr>
        <p:txBody>
          <a:bodyPr/>
          <a:lstStyle/>
          <a:p>
            <a:endParaRPr lang="en-US"/>
          </a:p>
        </p:txBody>
      </p:sp>
      <p:sp>
        <p:nvSpPr>
          <p:cNvPr id="6" name="Rectangle 5">
            <a:extLst>
              <a:ext uri="{FF2B5EF4-FFF2-40B4-BE49-F238E27FC236}">
                <a16:creationId xmlns:a16="http://schemas.microsoft.com/office/drawing/2014/main" id="{5690D3DE-3081-40E1-84A0-8603261291B0}"/>
              </a:ext>
            </a:extLst>
          </p:cNvPr>
          <p:cNvSpPr>
            <a:spLocks noGrp="1"/>
          </p:cNvSpPr>
          <p:nvPr/>
        </p:nvSpPr>
        <p:spPr>
          <a:xfrm>
            <a:off x="762000" y="2381250"/>
            <a:ext cx="5286375"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Thermal physics</a:t>
            </a:r>
          </a:p>
        </p:txBody>
      </p:sp>
      <p:sp>
        <p:nvSpPr>
          <p:cNvPr id="7" name="Rectangle 6">
            <a:extLst>
              <a:ext uri="{FF2B5EF4-FFF2-40B4-BE49-F238E27FC236}">
                <a16:creationId xmlns:a16="http://schemas.microsoft.com/office/drawing/2014/main" id="{6F0D1A9E-E492-49B8-85EC-515DF98D740F}"/>
              </a:ext>
            </a:extLst>
          </p:cNvPr>
          <p:cNvSpPr>
            <a:spLocks noGrp="1"/>
          </p:cNvSpPr>
          <p:nvPr/>
        </p:nvSpPr>
        <p:spPr>
          <a:xfrm>
            <a:off x="762000" y="3219450"/>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 IEC 60076-7:2018 loading guide</a:t>
            </a:r>
          </a:p>
        </p:txBody>
      </p:sp>
      <p:sp>
        <p:nvSpPr>
          <p:cNvPr id="8" name="Rectangle 7">
            <a:extLst>
              <a:ext uri="{FF2B5EF4-FFF2-40B4-BE49-F238E27FC236}">
                <a16:creationId xmlns:a16="http://schemas.microsoft.com/office/drawing/2014/main" id="{D0EA742E-1FE6-4A07-A4A2-EAC1B460B1B4}"/>
              </a:ext>
            </a:extLst>
          </p:cNvPr>
          <p:cNvSpPr>
            <a:spLocks noGrp="1"/>
          </p:cNvSpPr>
          <p:nvPr/>
        </p:nvSpPr>
        <p:spPr>
          <a:xfrm>
            <a:off x="762000" y="3766947"/>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[R2] IEEE C57.91-2025 loading guide</a:t>
            </a:r>
          </a:p>
        </p:txBody>
      </p:sp>
      <p:sp>
        <p:nvSpPr>
          <p:cNvPr id="9" name="Rectangle 8">
            <a:extLst>
              <a:ext uri="{FF2B5EF4-FFF2-40B4-BE49-F238E27FC236}">
                <a16:creationId xmlns:a16="http://schemas.microsoft.com/office/drawing/2014/main" id="{151E10CC-F3D1-48D7-87F7-61BC3435A285}"/>
              </a:ext>
            </a:extLst>
          </p:cNvPr>
          <p:cNvSpPr>
            <a:spLocks noGrp="1"/>
          </p:cNvSpPr>
          <p:nvPr/>
        </p:nvSpPr>
        <p:spPr>
          <a:xfrm>
            <a:off x="762000" y="4314444"/>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[R3] Najar et al., thermal estimation, 2017</a:t>
            </a:r>
          </a:p>
        </p:txBody>
      </p:sp>
      <p:sp>
        <p:nvSpPr>
          <p:cNvPr id="10" name="Rectangle 9">
            <a:extLst>
              <a:ext uri="{FF2B5EF4-FFF2-40B4-BE49-F238E27FC236}">
                <a16:creationId xmlns:a16="http://schemas.microsoft.com/office/drawing/2014/main" id="{F4DD7831-8B2A-48C4-80B0-7288EFA9808A}"/>
              </a:ext>
            </a:extLst>
          </p:cNvPr>
          <p:cNvSpPr>
            <a:spLocks noGrp="1"/>
          </p:cNvSpPr>
          <p:nvPr/>
        </p:nvSpPr>
        <p:spPr>
          <a:xfrm>
            <a:off x="762000" y="4861941"/>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[R4] Wang et al., oil time constant, 2020</a:t>
            </a:r>
          </a:p>
        </p:txBody>
      </p:sp>
      <p:sp>
        <p:nvSpPr>
          <p:cNvPr id="11" name="Rectangle 10">
            <a:extLst>
              <a:ext uri="{FF2B5EF4-FFF2-40B4-BE49-F238E27FC236}">
                <a16:creationId xmlns:a16="http://schemas.microsoft.com/office/drawing/2014/main" id="{4FBDEEB8-927A-4499-AFB9-08F841C51E64}"/>
              </a:ext>
            </a:extLst>
          </p:cNvPr>
          <p:cNvSpPr>
            <a:spLocks noGrp="1"/>
          </p:cNvSpPr>
          <p:nvPr/>
        </p:nvSpPr>
        <p:spPr>
          <a:xfrm>
            <a:off x="762000" y="5409438"/>
            <a:ext cx="5286375" cy="713994"/>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[R5] Djamali &amp; Tenbohlen, thermal models,</a:t>
            </a:r>
          </a:p>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2017</a:t>
            </a:r>
          </a:p>
        </p:txBody>
      </p:sp>
      <p:sp>
        <p:nvSpPr>
          <p:cNvPr id="12" name="Rectangle 11">
            <a:extLst>
              <a:ext uri="{FF2B5EF4-FFF2-40B4-BE49-F238E27FC236}">
                <a16:creationId xmlns:a16="http://schemas.microsoft.com/office/drawing/2014/main" id="{5EE337EF-D972-4C33-B14D-01E178110E73}"/>
              </a:ext>
            </a:extLst>
          </p:cNvPr>
          <p:cNvSpPr>
            <a:spLocks noGrp="1"/>
          </p:cNvSpPr>
          <p:nvPr/>
        </p:nvSpPr>
        <p:spPr>
          <a:xfrm>
            <a:off x="762000" y="6275832"/>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[R6] Tembo et al., top-oil estimation, 2025</a:t>
            </a:r>
          </a:p>
        </p:txBody>
      </p:sp>
      <p:sp>
        <p:nvSpPr>
          <p:cNvPr id="13" name="Rectangle 12">
            <a:extLst>
              <a:ext uri="{FF2B5EF4-FFF2-40B4-BE49-F238E27FC236}">
                <a16:creationId xmlns:a16="http://schemas.microsoft.com/office/drawing/2014/main" id="{C15AAA92-49FF-4ACF-A75E-0E9C2AE7FCAB}"/>
              </a:ext>
            </a:extLst>
          </p:cNvPr>
          <p:cNvSpPr>
            <a:spLocks noGrp="1"/>
          </p:cNvSpPr>
          <p:nvPr/>
        </p:nvSpPr>
        <p:spPr>
          <a:xfrm>
            <a:off x="6477000" y="2381250"/>
            <a:ext cx="5286375"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Assessment / statistics</a:t>
            </a:r>
          </a:p>
        </p:txBody>
      </p:sp>
      <p:sp>
        <p:nvSpPr>
          <p:cNvPr id="14" name="Rectangle 13">
            <a:extLst>
              <a:ext uri="{FF2B5EF4-FFF2-40B4-BE49-F238E27FC236}">
                <a16:creationId xmlns:a16="http://schemas.microsoft.com/office/drawing/2014/main" id="{103C7AF8-2FD7-4F69-BFB5-957288141159}"/>
              </a:ext>
            </a:extLst>
          </p:cNvPr>
          <p:cNvSpPr>
            <a:spLocks noGrp="1"/>
          </p:cNvSpPr>
          <p:nvPr/>
        </p:nvSpPr>
        <p:spPr>
          <a:xfrm>
            <a:off x="6477000" y="3219450"/>
            <a:ext cx="5286375" cy="713994"/>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[R7] CIGRE TB 995, transformer twins,</a:t>
            </a:r>
          </a:p>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2026</a:t>
            </a:r>
          </a:p>
        </p:txBody>
      </p:sp>
      <p:sp>
        <p:nvSpPr>
          <p:cNvPr id="15" name="Rectangle 14">
            <a:extLst>
              <a:ext uri="{FF2B5EF4-FFF2-40B4-BE49-F238E27FC236}">
                <a16:creationId xmlns:a16="http://schemas.microsoft.com/office/drawing/2014/main" id="{517336A8-1503-4F8C-9A31-6909728AB8ED}"/>
              </a:ext>
            </a:extLst>
          </p:cNvPr>
          <p:cNvSpPr>
            <a:spLocks noGrp="1"/>
          </p:cNvSpPr>
          <p:nvPr/>
        </p:nvSpPr>
        <p:spPr>
          <a:xfrm>
            <a:off x="6477000" y="4085844"/>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[R8] CIGRE TB 761, condition assessment</a:t>
            </a:r>
          </a:p>
        </p:txBody>
      </p:sp>
      <p:sp>
        <p:nvSpPr>
          <p:cNvPr id="16" name="Rectangle 15">
            <a:extLst>
              <a:ext uri="{FF2B5EF4-FFF2-40B4-BE49-F238E27FC236}">
                <a16:creationId xmlns:a16="http://schemas.microsoft.com/office/drawing/2014/main" id="{7B1083DB-42F2-42B0-B40C-301A85BBC79B}"/>
              </a:ext>
            </a:extLst>
          </p:cNvPr>
          <p:cNvSpPr>
            <a:spLocks noGrp="1"/>
          </p:cNvSpPr>
          <p:nvPr/>
        </p:nvSpPr>
        <p:spPr>
          <a:xfrm>
            <a:off x="6477000" y="4633341"/>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[R9] Zahra et al., health-index review, 2025</a:t>
            </a:r>
          </a:p>
        </p:txBody>
      </p:sp>
      <p:sp>
        <p:nvSpPr>
          <p:cNvPr id="17" name="Rectangle 16">
            <a:extLst>
              <a:ext uri="{FF2B5EF4-FFF2-40B4-BE49-F238E27FC236}">
                <a16:creationId xmlns:a16="http://schemas.microsoft.com/office/drawing/2014/main" id="{30CAD379-9811-4AEE-8722-9BC10DAF0E78}"/>
              </a:ext>
            </a:extLst>
          </p:cNvPr>
          <p:cNvSpPr>
            <a:spLocks noGrp="1"/>
          </p:cNvSpPr>
          <p:nvPr/>
        </p:nvSpPr>
        <p:spPr>
          <a:xfrm>
            <a:off x="6477000" y="5180838"/>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[R10] NIST IR 8356, digital-twin trust</a:t>
            </a:r>
          </a:p>
        </p:txBody>
      </p:sp>
      <p:sp>
        <p:nvSpPr>
          <p:cNvPr id="18" name="Rectangle 17">
            <a:extLst>
              <a:ext uri="{FF2B5EF4-FFF2-40B4-BE49-F238E27FC236}">
                <a16:creationId xmlns:a16="http://schemas.microsoft.com/office/drawing/2014/main" id="{5EA5B670-E168-4ADD-BD78-0F17174E7DDA}"/>
              </a:ext>
            </a:extLst>
          </p:cNvPr>
          <p:cNvSpPr>
            <a:spLocks noGrp="1"/>
          </p:cNvSpPr>
          <p:nvPr/>
        </p:nvSpPr>
        <p:spPr>
          <a:xfrm>
            <a:off x="6477000" y="5728335"/>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[R11] NIST, CUSUM control charts</a:t>
            </a:r>
          </a:p>
        </p:txBody>
      </p:sp>
      <p:sp>
        <p:nvSpPr>
          <p:cNvPr id="19" name="Rectangle 18">
            <a:extLst>
              <a:ext uri="{FF2B5EF4-FFF2-40B4-BE49-F238E27FC236}">
                <a16:creationId xmlns:a16="http://schemas.microsoft.com/office/drawing/2014/main" id="{0DC5841A-B438-4E20-9A66-8C6A990CF623}"/>
              </a:ext>
            </a:extLst>
          </p:cNvPr>
          <p:cNvSpPr>
            <a:spLocks noGrp="1"/>
          </p:cNvSpPr>
          <p:nvPr/>
        </p:nvSpPr>
        <p:spPr>
          <a:xfrm>
            <a:off x="6477000" y="6275832"/>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[R12] Page, continuous inspection, 1954</a:t>
            </a:r>
          </a:p>
        </p:txBody>
      </p:sp>
      <p:sp>
        <p:nvSpPr>
          <p:cNvPr id="20" name="Rectangle 19">
            <a:extLst>
              <a:ext uri="{FF2B5EF4-FFF2-40B4-BE49-F238E27FC236}">
                <a16:creationId xmlns:a16="http://schemas.microsoft.com/office/drawing/2014/main" id="{A214E79A-B74C-493E-B773-8B6B2CA124E6}"/>
              </a:ext>
            </a:extLst>
          </p:cNvPr>
          <p:cNvSpPr>
            <a:spLocks noGrp="1"/>
          </p:cNvSpPr>
          <p:nvPr/>
        </p:nvSpPr>
        <p:spPr>
          <a:xfrm>
            <a:off x="6477000" y="6823329"/>
            <a:ext cx="5286375" cy="713994"/>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[R13] Chernozhukov et al., conformal</a:t>
            </a:r>
          </a:p>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inference</a:t>
            </a:r>
          </a:p>
        </p:txBody>
      </p:sp>
      <p:sp>
        <p:nvSpPr>
          <p:cNvPr id="21" name="Rectangle 20">
            <a:extLst>
              <a:ext uri="{FF2B5EF4-FFF2-40B4-BE49-F238E27FC236}">
                <a16:creationId xmlns:a16="http://schemas.microsoft.com/office/drawing/2014/main" id="{A6E1BDBE-5AD5-46D4-BFF3-996FE6A6B10D}"/>
              </a:ext>
            </a:extLst>
          </p:cNvPr>
          <p:cNvSpPr>
            <a:spLocks noGrp="1"/>
          </p:cNvSpPr>
          <p:nvPr/>
        </p:nvSpPr>
        <p:spPr>
          <a:xfrm>
            <a:off x="6477000" y="7689723"/>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[R14] Vovk et al., algorithmic learning</a:t>
            </a:r>
          </a:p>
        </p:txBody>
      </p:sp>
      <p:sp>
        <p:nvSpPr>
          <p:cNvPr id="22" name="Rectangle 21">
            <a:extLst>
              <a:ext uri="{FF2B5EF4-FFF2-40B4-BE49-F238E27FC236}">
                <a16:creationId xmlns:a16="http://schemas.microsoft.com/office/drawing/2014/main" id="{D1AAB36E-10AB-44DA-AE10-849425C0544F}"/>
              </a:ext>
            </a:extLst>
          </p:cNvPr>
          <p:cNvSpPr>
            <a:spLocks noGrp="1"/>
          </p:cNvSpPr>
          <p:nvPr/>
        </p:nvSpPr>
        <p:spPr>
          <a:xfrm>
            <a:off x="6477000" y="8237220"/>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[R15] ISO 13381-1:2025 prognostics</a:t>
            </a:r>
          </a:p>
        </p:txBody>
      </p:sp>
      <p:sp>
        <p:nvSpPr>
          <p:cNvPr id="23" name="Rectangle 22">
            <a:extLst>
              <a:ext uri="{FF2B5EF4-FFF2-40B4-BE49-F238E27FC236}">
                <a16:creationId xmlns:a16="http://schemas.microsoft.com/office/drawing/2014/main" id="{79F45B0E-C8A0-40D3-8238-BD44E6FC7DB9}"/>
              </a:ext>
            </a:extLst>
          </p:cNvPr>
          <p:cNvSpPr>
            <a:spLocks noGrp="1"/>
          </p:cNvSpPr>
          <p:nvPr/>
        </p:nvSpPr>
        <p:spPr>
          <a:xfrm>
            <a:off x="12192000" y="2381250"/>
            <a:ext cx="5286375" cy="489585"/>
          </a:xfrm>
          <a:prstGeom prst="rect">
            <a:avLst/>
          </a:prstGeom>
          <a:noFill/>
          <a:ln w="0">
            <a:noFill/>
            <a:prstDash val="solid"/>
          </a:ln>
        </p:spPr>
        <p:txBody>
          <a:bodyPr wrap="none" lIns="0" tIns="0" rIns="0" bIns="0" anchor="t">
            <a:noAutofit/>
          </a:bodyPr>
          <a:lstStyle>
            <a:defPPr algn="l">
              <a:defRPr sz="2625" b="1">
                <a:solidFill>
                  <a:srgbClr val="172B3A"/>
                </a:solidFill>
                <a:latin typeface="Nimbus Sans"/>
                <a:ea typeface="Nimbus Sans"/>
                <a:cs typeface="Nimbus Sans"/>
              </a:defRPr>
            </a:defPPr>
          </a:lstStyle>
          <a:p>
            <a:pPr algn="l">
              <a:defRPr sz="2625" b="1">
                <a:solidFill>
                  <a:srgbClr val="172B3A"/>
                </a:solidFill>
                <a:latin typeface="Nimbus Sans"/>
                <a:ea typeface="Nimbus Sans"/>
                <a:cs typeface="Nimbus Sans"/>
              </a:defRPr>
            </a:pPr>
            <a:r>
              <a:rPr sz="2625" b="1">
                <a:solidFill>
                  <a:srgbClr val="172B3A"/>
                </a:solidFill>
                <a:latin typeface="Nimbus Sans"/>
                <a:ea typeface="Nimbus Sans"/>
                <a:cs typeface="Nimbus Sans"/>
              </a:rPr>
              <a:t>Integration / context</a:t>
            </a:r>
          </a:p>
        </p:txBody>
      </p:sp>
      <p:sp>
        <p:nvSpPr>
          <p:cNvPr id="24" name="Rectangle 23">
            <a:extLst>
              <a:ext uri="{FF2B5EF4-FFF2-40B4-BE49-F238E27FC236}">
                <a16:creationId xmlns:a16="http://schemas.microsoft.com/office/drawing/2014/main" id="{08CBE14D-1BED-4701-985D-26C19F461980}"/>
              </a:ext>
            </a:extLst>
          </p:cNvPr>
          <p:cNvSpPr>
            <a:spLocks noGrp="1"/>
          </p:cNvSpPr>
          <p:nvPr/>
        </p:nvSpPr>
        <p:spPr>
          <a:xfrm>
            <a:off x="12192000" y="3219450"/>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[R16] Ramesh et al., transformer load ML</a:t>
            </a:r>
          </a:p>
        </p:txBody>
      </p:sp>
      <p:sp>
        <p:nvSpPr>
          <p:cNvPr id="25" name="Rectangle 24">
            <a:extLst>
              <a:ext uri="{FF2B5EF4-FFF2-40B4-BE49-F238E27FC236}">
                <a16:creationId xmlns:a16="http://schemas.microsoft.com/office/drawing/2014/main" id="{7A8BE3E8-AE49-4800-BB15-77E9DE72BB06}"/>
              </a:ext>
            </a:extLst>
          </p:cNvPr>
          <p:cNvSpPr>
            <a:spLocks noGrp="1"/>
          </p:cNvSpPr>
          <p:nvPr/>
        </p:nvSpPr>
        <p:spPr>
          <a:xfrm>
            <a:off x="12192000" y="3766947"/>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[R17] Castillo et al., monitoring controller</a:t>
            </a:r>
          </a:p>
        </p:txBody>
      </p:sp>
      <p:sp>
        <p:nvSpPr>
          <p:cNvPr id="26" name="Rectangle 25">
            <a:extLst>
              <a:ext uri="{FF2B5EF4-FFF2-40B4-BE49-F238E27FC236}">
                <a16:creationId xmlns:a16="http://schemas.microsoft.com/office/drawing/2014/main" id="{3B363C2F-4A87-4CBC-9B13-63455DBD589B}"/>
              </a:ext>
            </a:extLst>
          </p:cNvPr>
          <p:cNvSpPr>
            <a:spLocks noGrp="1"/>
          </p:cNvSpPr>
          <p:nvPr/>
        </p:nvSpPr>
        <p:spPr>
          <a:xfrm>
            <a:off x="12192000" y="4314444"/>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[R18] OPC Foundation, OPC UA</a:t>
            </a:r>
          </a:p>
        </p:txBody>
      </p:sp>
      <p:sp>
        <p:nvSpPr>
          <p:cNvPr id="27" name="Rectangle 26">
            <a:extLst>
              <a:ext uri="{FF2B5EF4-FFF2-40B4-BE49-F238E27FC236}">
                <a16:creationId xmlns:a16="http://schemas.microsoft.com/office/drawing/2014/main" id="{5113DEF0-6300-482E-9F7E-C3173B11394E}"/>
              </a:ext>
            </a:extLst>
          </p:cNvPr>
          <p:cNvSpPr>
            <a:spLocks noGrp="1"/>
          </p:cNvSpPr>
          <p:nvPr/>
        </p:nvSpPr>
        <p:spPr>
          <a:xfrm>
            <a:off x="12192000" y="4861941"/>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[R19] OASIS, MQTT Version 5.0</a:t>
            </a:r>
          </a:p>
        </p:txBody>
      </p:sp>
      <p:sp>
        <p:nvSpPr>
          <p:cNvPr id="28" name="Rectangle 27">
            <a:extLst>
              <a:ext uri="{FF2B5EF4-FFF2-40B4-BE49-F238E27FC236}">
                <a16:creationId xmlns:a16="http://schemas.microsoft.com/office/drawing/2014/main" id="{69B7FB71-FF06-440A-9A0D-1CB18BB0FF48}"/>
              </a:ext>
            </a:extLst>
          </p:cNvPr>
          <p:cNvSpPr>
            <a:spLocks noGrp="1"/>
          </p:cNvSpPr>
          <p:nvPr/>
        </p:nvSpPr>
        <p:spPr>
          <a:xfrm>
            <a:off x="12192000" y="5409438"/>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[R20] Modbus Organization, specifications</a:t>
            </a:r>
          </a:p>
        </p:txBody>
      </p:sp>
      <p:sp>
        <p:nvSpPr>
          <p:cNvPr id="29" name="Rectangle 28">
            <a:extLst>
              <a:ext uri="{FF2B5EF4-FFF2-40B4-BE49-F238E27FC236}">
                <a16:creationId xmlns:a16="http://schemas.microsoft.com/office/drawing/2014/main" id="{AE367772-2DB4-4F33-A76B-A3D66A9EAA24}"/>
              </a:ext>
            </a:extLst>
          </p:cNvPr>
          <p:cNvSpPr>
            <a:spLocks noGrp="1"/>
          </p:cNvSpPr>
          <p:nvPr/>
        </p:nvSpPr>
        <p:spPr>
          <a:xfrm>
            <a:off x="12192000" y="5956935"/>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[R21] UCUM, units of measure</a:t>
            </a:r>
          </a:p>
        </p:txBody>
      </p:sp>
      <p:sp>
        <p:nvSpPr>
          <p:cNvPr id="30" name="Rectangle 29">
            <a:extLst>
              <a:ext uri="{FF2B5EF4-FFF2-40B4-BE49-F238E27FC236}">
                <a16:creationId xmlns:a16="http://schemas.microsoft.com/office/drawing/2014/main" id="{3D2B9CFD-302D-472A-BE72-0138A8CCA43F}"/>
              </a:ext>
            </a:extLst>
          </p:cNvPr>
          <p:cNvSpPr>
            <a:spLocks noGrp="1"/>
          </p:cNvSpPr>
          <p:nvPr/>
        </p:nvSpPr>
        <p:spPr>
          <a:xfrm>
            <a:off x="12192000" y="6504432"/>
            <a:ext cx="5286375" cy="713994"/>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[R22] KSEB, distribution-transformer</a:t>
            </a:r>
          </a:p>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specification</a:t>
            </a:r>
          </a:p>
        </p:txBody>
      </p:sp>
      <p:sp>
        <p:nvSpPr>
          <p:cNvPr id="31" name="Rectangle 30">
            <a:extLst>
              <a:ext uri="{FF2B5EF4-FFF2-40B4-BE49-F238E27FC236}">
                <a16:creationId xmlns:a16="http://schemas.microsoft.com/office/drawing/2014/main" id="{BF3DD9AF-9C0D-459D-99EB-83E207A6B907}"/>
              </a:ext>
            </a:extLst>
          </p:cNvPr>
          <p:cNvSpPr>
            <a:spLocks noGrp="1"/>
          </p:cNvSpPr>
          <p:nvPr/>
        </p:nvSpPr>
        <p:spPr>
          <a:xfrm>
            <a:off x="12192000" y="7370826"/>
            <a:ext cx="5286375" cy="395097"/>
          </a:xfrm>
          <a:prstGeom prst="rect">
            <a:avLst/>
          </a:prstGeom>
          <a:noFill/>
          <a:ln w="0">
            <a:noFill/>
            <a:prstDash val="solid"/>
          </a:ln>
        </p:spPr>
        <p:txBody>
          <a:bodyPr wrap="none" lIns="0" tIns="0" rIns="0" bIns="0" anchor="t">
            <a:noAutofit/>
          </a:bodyPr>
          <a:lstStyle>
            <a:defPPr algn="l">
              <a:defRPr sz="2025" b="0">
                <a:solidFill>
                  <a:srgbClr val="172B3A"/>
                </a:solidFill>
                <a:latin typeface="Nimbus Sans"/>
                <a:ea typeface="Nimbus Sans"/>
                <a:cs typeface="Nimbus Sans"/>
              </a:defRPr>
            </a:defPPr>
          </a:lstStyle>
          <a:p>
            <a:pPr algn="l">
              <a:defRPr sz="2025" b="0">
                <a:solidFill>
                  <a:srgbClr val="172B3A"/>
                </a:solidFill>
                <a:latin typeface="Nimbus Sans"/>
                <a:ea typeface="Nimbus Sans"/>
                <a:cs typeface="Nimbus Sans"/>
              </a:defRPr>
            </a:pPr>
            <a:r>
              <a:rPr sz="2025" b="0">
                <a:solidFill>
                  <a:srgbClr val="172B3A"/>
                </a:solidFill>
                <a:latin typeface="Nimbus Sans"/>
                <a:ea typeface="Nimbus Sans"/>
                <a:cs typeface="Nimbus Sans"/>
              </a:rPr>
              <a:t>[R23] CPRI, POWERNext-AI 2026</a:t>
            </a:r>
          </a:p>
        </p:txBody>
      </p:sp>
      <p:sp>
        <p:nvSpPr>
          <p:cNvPr id="32" name="Rectangle 31">
            <a:extLst>
              <a:ext uri="{FF2B5EF4-FFF2-40B4-BE49-F238E27FC236}">
                <a16:creationId xmlns:a16="http://schemas.microsoft.com/office/drawing/2014/main" id="{A2350BA6-1C2D-47A3-BDAD-F61D680AF100}"/>
              </a:ext>
            </a:extLst>
          </p:cNvPr>
          <p:cNvSpPr>
            <a:spLocks noGrp="1"/>
          </p:cNvSpPr>
          <p:nvPr/>
        </p:nvSpPr>
        <p:spPr>
          <a:xfrm>
            <a:off x="762000" y="8591550"/>
            <a:ext cx="16764000" cy="465963"/>
          </a:xfrm>
          <a:prstGeom prst="rect">
            <a:avLst/>
          </a:prstGeom>
          <a:noFill/>
          <a:ln w="0">
            <a:noFill/>
            <a:prstDash val="solid"/>
          </a:ln>
        </p:spPr>
        <p:txBody>
          <a:bodyPr wrap="none" lIns="0" tIns="0" rIns="0" bIns="0" anchor="t">
            <a:noAutofit/>
          </a:bodyPr>
          <a:lstStyle>
            <a:defPPr algn="l">
              <a:defRPr sz="2475" b="1">
                <a:solidFill>
                  <a:srgbClr val="172B3A"/>
                </a:solidFill>
                <a:latin typeface="Nimbus Sans"/>
                <a:ea typeface="Nimbus Sans"/>
                <a:cs typeface="Nimbus Sans"/>
              </a:defRPr>
            </a:defPPr>
          </a:lstStyle>
          <a:p>
            <a:pPr algn="l">
              <a:defRPr sz="2475" b="1">
                <a:solidFill>
                  <a:srgbClr val="172B3A"/>
                </a:solidFill>
                <a:latin typeface="Nimbus Sans"/>
                <a:ea typeface="Nimbus Sans"/>
                <a:cs typeface="Nimbus Sans"/>
              </a:defRPr>
            </a:pPr>
            <a:r>
              <a:rPr sz="2475" b="1">
                <a:solidFill>
                  <a:srgbClr val="172B3A"/>
                </a:solidFill>
                <a:latin typeface="Nimbus Sans"/>
                <a:ea typeface="Nimbus Sans"/>
                <a:cs typeface="Nimbus Sans"/>
              </a:rPr>
              <a:t>Evidence boundaries</a:t>
            </a:r>
          </a:p>
        </p:txBody>
      </p:sp>
      <p:sp>
        <p:nvSpPr>
          <p:cNvPr id="33" name="Rectangle 32">
            <a:extLst>
              <a:ext uri="{FF2B5EF4-FFF2-40B4-BE49-F238E27FC236}">
                <a16:creationId xmlns:a16="http://schemas.microsoft.com/office/drawing/2014/main" id="{EFEE3544-5D2B-4CB9-84EE-E8F7B31C8860}"/>
              </a:ext>
            </a:extLst>
          </p:cNvPr>
          <p:cNvSpPr>
            <a:spLocks noGrp="1"/>
          </p:cNvSpPr>
          <p:nvPr/>
        </p:nvSpPr>
        <p:spPr>
          <a:xfrm>
            <a:off x="762000" y="9134475"/>
            <a:ext cx="16764000" cy="737616"/>
          </a:xfrm>
          <a:prstGeom prst="rect">
            <a:avLst/>
          </a:prstGeom>
          <a:noFill/>
          <a:ln w="0">
            <a:noFill/>
            <a:prstDash val="solid"/>
          </a:ln>
        </p:spPr>
        <p:txBody>
          <a:bodyPr wrap="none" lIns="0" tIns="0" rIns="0" bIns="0" anchor="t">
            <a:noAutofit/>
          </a:bodyPr>
          <a:lstStyle>
            <a:defPPr algn="l">
              <a:defRPr sz="2100" b="0">
                <a:solidFill>
                  <a:srgbClr val="536675"/>
                </a:solidFill>
                <a:latin typeface="Nimbus Sans"/>
                <a:ea typeface="Nimbus Sans"/>
                <a:cs typeface="Nimbus Sans"/>
              </a:defRPr>
            </a:defPPr>
          </a:lstStyle>
          <a:p>
            <a:pPr algn="l">
              <a:defRPr sz="2100" b="0">
                <a:solidFill>
                  <a:srgbClr val="536675"/>
                </a:solidFill>
                <a:latin typeface="Nimbus Sans"/>
                <a:ea typeface="Nimbus Sans"/>
                <a:cs typeface="Nimbus Sans"/>
              </a:defRPr>
            </a:pPr>
            <a:r>
              <a:rPr sz="2100" b="0" dirty="0">
                <a:solidFill>
                  <a:srgbClr val="536675"/>
                </a:solidFill>
                <a:latin typeface="Nimbus Sans"/>
                <a:ea typeface="Nimbus Sans"/>
                <a:cs typeface="Nimbus Sans"/>
              </a:rPr>
              <a:t>Citations provide engineering context. They do not imply compliance or certification.</a:t>
            </a:r>
          </a:p>
        </p:txBody>
      </p:sp>
    </p:spTree>
    <p:extLst>
      <p:ext uri="{BB962C8B-B14F-4D97-AF65-F5344CB8AC3E}">
        <p14:creationId xmlns:p14="http://schemas.microsoft.com/office/powerpoint/2010/main" val="90220279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7885</Words>
  <Application>Microsoft Office PowerPoint</Application>
  <DocSecurity>0</DocSecurity>
  <PresentationFormat>Custom</PresentationFormat>
  <Paragraphs>899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Nimbus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SURYANSH SINGH - 245816214 - MITBLR</cp:lastModifiedBy>
  <cp:revision>1</cp:revision>
  <dcterms:created xsi:type="dcterms:W3CDTF">2026-10-11T04:48:54Z</dcterms:created>
  <dcterms:modified xsi:type="dcterms:W3CDTF">2026-10-11T06:26:27Z</dcterms:modified>
</cp:coreProperties>
</file>